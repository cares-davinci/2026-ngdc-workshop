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434" r:id="rId3"/>
    <p:sldId id="456" r:id="rId4"/>
    <p:sldId id="435" r:id="rId5"/>
    <p:sldId id="460" r:id="rId6"/>
    <p:sldId id="438" r:id="rId7"/>
    <p:sldId id="440" r:id="rId8"/>
    <p:sldId id="452" r:id="rId9"/>
    <p:sldId id="463" r:id="rId10"/>
    <p:sldId id="461" r:id="rId11"/>
    <p:sldId id="458" r:id="rId12"/>
    <p:sldId id="443" r:id="rId13"/>
    <p:sldId id="444" r:id="rId14"/>
    <p:sldId id="445" r:id="rId15"/>
    <p:sldId id="446" r:id="rId16"/>
    <p:sldId id="462" r:id="rId17"/>
    <p:sldId id="447" r:id="rId18"/>
    <p:sldId id="448" r:id="rId19"/>
    <p:sldId id="450" r:id="rId20"/>
    <p:sldId id="455" r:id="rId21"/>
    <p:sldId id="454" r:id="rId22"/>
  </p:sldIdLst>
  <p:sldSz cx="12192000" cy="6858000"/>
  <p:notesSz cx="6797675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7EB8"/>
    <a:srgbClr val="252525"/>
    <a:srgbClr val="D9D9D9"/>
    <a:srgbClr val="FBE3D6"/>
    <a:srgbClr val="1D1D1D"/>
    <a:srgbClr val="CAEEFB"/>
    <a:srgbClr val="FFC000"/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7" autoAdjust="0"/>
    <p:restoredTop sz="71555" autoAdjust="0"/>
  </p:normalViewPr>
  <p:slideViewPr>
    <p:cSldViewPr snapToGrid="0">
      <p:cViewPr varScale="1">
        <p:scale>
          <a:sx n="61" d="100"/>
          <a:sy n="61" d="100"/>
        </p:scale>
        <p:origin x="1589" y="43"/>
      </p:cViewPr>
      <p:guideLst/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2">
                <a:lumMod val="10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</c:v>
                </c:pt>
                <c:pt idx="1">
                  <c:v>41</c:v>
                </c:pt>
                <c:pt idx="2">
                  <c:v>64</c:v>
                </c:pt>
                <c:pt idx="3">
                  <c:v>79</c:v>
                </c:pt>
                <c:pt idx="4">
                  <c:v>97</c:v>
                </c:pt>
                <c:pt idx="5">
                  <c:v>120</c:v>
                </c:pt>
                <c:pt idx="6">
                  <c:v>147</c:v>
                </c:pt>
                <c:pt idx="7">
                  <c:v>181</c:v>
                </c:pt>
                <c:pt idx="8">
                  <c:v>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86-47B5-8201-1EE73F67AE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-9"/>
        <c:axId val="2144141408"/>
        <c:axId val="2144142848"/>
      </c:barChart>
      <c:catAx>
        <c:axId val="2144141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ko-KR"/>
          </a:p>
        </c:txPr>
        <c:crossAx val="2144142848"/>
        <c:crosses val="autoZero"/>
        <c:auto val="1"/>
        <c:lblAlgn val="ctr"/>
        <c:lblOffset val="100"/>
        <c:noMultiLvlLbl val="0"/>
      </c:catAx>
      <c:valAx>
        <c:axId val="2144142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ko-KR"/>
          </a:p>
        </c:txPr>
        <c:crossAx val="2144141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520458558159894E-2"/>
          <c:y val="0.13482958482958485"/>
          <c:w val="0.91853159696558362"/>
          <c:h val="0.66150341775341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case-no-spillover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F0-4605-9B23-E31604F318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case-spillover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F0-4605-9B23-E31604F318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65200"/>
        <c:axId val="1562704"/>
      </c:barChart>
      <c:catAx>
        <c:axId val="15652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62704"/>
        <c:crosses val="autoZero"/>
        <c:auto val="1"/>
        <c:lblAlgn val="ctr"/>
        <c:lblOffset val="100"/>
        <c:noMultiLvlLbl val="0"/>
      </c:catAx>
      <c:valAx>
        <c:axId val="156270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65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4401409149883088E-2"/>
          <c:y val="5.0006300006300002E-3"/>
          <c:w val="0.94608237075268431"/>
          <c:h val="0.108842452592452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678542408414211"/>
          <c:y val="0.12696523105980209"/>
          <c:w val="0.69797892668134687"/>
          <c:h val="0.4746784726644088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page_descript</c:v>
                </c:pt>
              </c:strCache>
            </c:strRef>
          </c:tx>
          <c:spPr>
            <a:pattFill prst="zigZag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DDR120G</c:v>
                </c:pt>
                <c:pt idx="1">
                  <c:v>DDR24G_CXL96G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76-4BC7-8FC2-3C8C4AB675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xarray_mgmt</c:v>
                </c:pt>
              </c:strCache>
            </c:strRef>
          </c:tx>
          <c:spPr>
            <a:pattFill prst="solidDmnd">
              <a:fgClr>
                <a:schemeClr val="accent5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DDR120G</c:v>
                </c:pt>
                <c:pt idx="1">
                  <c:v>DDR24G_CXL96G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23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76-4BC7-8FC2-3C8C4AB675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accent3"/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DDR120G</c:v>
                </c:pt>
                <c:pt idx="1">
                  <c:v>DDR24G_CXL96G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24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76-4BC7-8FC2-3C8C4AB675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  <c:axId val="1704218144"/>
        <c:axId val="72486880"/>
      </c:barChart>
      <c:catAx>
        <c:axId val="17042181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2486880"/>
        <c:crosses val="autoZero"/>
        <c:auto val="1"/>
        <c:lblAlgn val="ctr"/>
        <c:lblOffset val="100"/>
        <c:noMultiLvlLbl val="0"/>
      </c:catAx>
      <c:valAx>
        <c:axId val="72486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ko-KR"/>
          </a:p>
        </c:txPr>
        <c:crossAx val="1704218144"/>
        <c:crosses val="autoZero"/>
        <c:crossBetween val="between"/>
        <c:majorUnit val="10"/>
      </c:valAx>
      <c:spPr>
        <a:noFill/>
        <a:ln w="15875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"/>
          <c:y val="4.8832781176846958E-3"/>
          <c:w val="1"/>
          <c:h val="0.140624951936239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143099625710225"/>
          <c:y val="0.12696523105980209"/>
          <c:w val="0.72678717248683788"/>
          <c:h val="0.4746784726644088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FS</c:v>
                </c:pt>
              </c:strCache>
            </c:strRef>
          </c:tx>
          <c:spPr>
            <a:pattFill prst="pct10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DDR120G</c:v>
                </c:pt>
                <c:pt idx="1">
                  <c:v>DDR24G_CXL96G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F4-4EF2-8F1C-9A75F26281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metadata_mgmt</c:v>
                </c:pt>
              </c:strCache>
            </c:strRef>
          </c:tx>
          <c:spPr>
            <a:pattFill prst="zigZag">
              <a:fgClr>
                <a:schemeClr val="accent5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DDR120G</c:v>
                </c:pt>
                <c:pt idx="1">
                  <c:v>DDR24G_CXL96G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872</c:v>
                </c:pt>
                <c:pt idx="1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F4-4EF2-8F1C-9A75F26281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BLK+DRIVER</c:v>
                </c:pt>
              </c:strCache>
            </c:strRef>
          </c:tx>
          <c:spPr>
            <a:pattFill prst="solidDmnd">
              <a:fgClr>
                <a:schemeClr val="accent5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DDR120G</c:v>
                </c:pt>
                <c:pt idx="1">
                  <c:v>DDR24G_CXL96G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F4-4EF2-8F1C-9A75F262816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DISK I/O</c:v>
                </c:pt>
              </c:strCache>
            </c:strRef>
          </c:tx>
          <c:spPr>
            <a:pattFill prst="wdDnDiag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DDR120G</c:v>
                </c:pt>
                <c:pt idx="1">
                  <c:v>DDR24G_CXL96G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F4-4EF2-8F1C-9A75F262816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scheduling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DDR120G</c:v>
                </c:pt>
                <c:pt idx="1">
                  <c:v>DDR24G_CXL96G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2000</c:v>
                </c:pt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F4-4EF2-8F1C-9A75F26281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  <c:axId val="1704218144"/>
        <c:axId val="72486880"/>
      </c:barChart>
      <c:catAx>
        <c:axId val="17042181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2486880"/>
        <c:crosses val="autoZero"/>
        <c:auto val="1"/>
        <c:lblAlgn val="ctr"/>
        <c:lblOffset val="100"/>
        <c:noMultiLvlLbl val="0"/>
      </c:catAx>
      <c:valAx>
        <c:axId val="72486880"/>
        <c:scaling>
          <c:orientation val="minMax"/>
          <c:max val="30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ko-KR"/>
          </a:p>
        </c:txPr>
        <c:crossAx val="1704218144"/>
        <c:crosses val="autoZero"/>
        <c:crossBetween val="between"/>
        <c:majorUnit val="200"/>
      </c:valAx>
      <c:spPr>
        <a:noFill/>
        <a:ln w="15875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480834931047062"/>
          <c:y val="4.8832781176846958E-3"/>
          <c:w val="0.77212017199057814"/>
          <c:h val="0.111919735826189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350633953955748E-2"/>
          <c:y val="0.19010778796710098"/>
          <c:w val="0.8492987320920885"/>
          <c:h val="0.423924881873018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Reclamation speed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2-40B5-B5B6-D18F03512E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Reclamation speed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42-40B5-B5B6-D18F0351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2899743"/>
        <c:axId val="1916463279"/>
      </c:barChart>
      <c:catAx>
        <c:axId val="140289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16463279"/>
        <c:crosses val="autoZero"/>
        <c:auto val="1"/>
        <c:lblAlgn val="ctr"/>
        <c:lblOffset val="100"/>
        <c:noMultiLvlLbl val="0"/>
      </c:catAx>
      <c:valAx>
        <c:axId val="1916463279"/>
        <c:scaling>
          <c:orientation val="minMax"/>
          <c:max val="10"/>
        </c:scaling>
        <c:delete val="1"/>
        <c:axPos val="l"/>
        <c:numFmt formatCode="General" sourceLinked="1"/>
        <c:majorTickMark val="none"/>
        <c:minorTickMark val="none"/>
        <c:tickLblPos val="nextTo"/>
        <c:crossAx val="1402899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3.133036222166475E-2"/>
          <c:w val="0.67721126063174797"/>
          <c:h val="0.142684076266103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350633953955748E-2"/>
          <c:y val="0.19010778796710098"/>
          <c:w val="0.8492987320920885"/>
          <c:h val="0.423924881873018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p99.99 Tail latency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2-40B5-B5B6-D18F03512E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p99.99 Tail latency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42-40B5-B5B6-D18F0351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2899743"/>
        <c:axId val="1916463279"/>
      </c:barChart>
      <c:catAx>
        <c:axId val="140289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16463279"/>
        <c:crosses val="autoZero"/>
        <c:auto val="1"/>
        <c:lblAlgn val="ctr"/>
        <c:lblOffset val="100"/>
        <c:noMultiLvlLbl val="0"/>
      </c:catAx>
      <c:valAx>
        <c:axId val="1916463279"/>
        <c:scaling>
          <c:orientation val="minMax"/>
          <c:max val="10"/>
        </c:scaling>
        <c:delete val="1"/>
        <c:axPos val="l"/>
        <c:numFmt formatCode="General" sourceLinked="1"/>
        <c:majorTickMark val="none"/>
        <c:minorTickMark val="none"/>
        <c:tickLblPos val="nextTo"/>
        <c:crossAx val="1402899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3.133036222166475E-2"/>
          <c:w val="0.67721126063174797"/>
          <c:h val="0.142684076266103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678542408414211"/>
          <c:y val="0.12696523105980209"/>
          <c:w val="0.69797892668134687"/>
          <c:h val="0.240281123015543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FS</c:v>
                </c:pt>
              </c:strCache>
            </c:strRef>
          </c:tx>
          <c:spPr>
            <a:pattFill prst="zigZag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DDR120G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F7-48A6-966D-76925F2D58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BLK+DRIVER</c:v>
                </c:pt>
              </c:strCache>
            </c:strRef>
          </c:tx>
          <c:spPr>
            <a:pattFill prst="solidDmnd">
              <a:fgClr>
                <a:schemeClr val="accent5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DDR120G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F7-48A6-966D-76925F2D58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DISK I/O</c:v>
                </c:pt>
              </c:strCache>
            </c:strRef>
          </c:tx>
          <c:spPr>
            <a:solidFill>
              <a:schemeClr val="accent3"/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DDR120G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F7-48A6-966D-76925F2D58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clwb</c:v>
                </c:pt>
              </c:strCache>
            </c:strRef>
          </c:tx>
          <c:spPr>
            <a:solidFill>
              <a:schemeClr val="tx1"/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DDR120G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F7-48A6-966D-76925F2D5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  <c:axId val="1704218144"/>
        <c:axId val="72486880"/>
      </c:barChart>
      <c:catAx>
        <c:axId val="17042181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2486880"/>
        <c:crosses val="autoZero"/>
        <c:auto val="1"/>
        <c:lblAlgn val="ctr"/>
        <c:lblOffset val="100"/>
        <c:noMultiLvlLbl val="0"/>
      </c:catAx>
      <c:valAx>
        <c:axId val="72486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ko-KR"/>
          </a:p>
        </c:txPr>
        <c:crossAx val="1704218144"/>
        <c:crosses val="autoZero"/>
        <c:crossBetween val="between"/>
        <c:majorUnit val="10"/>
      </c:valAx>
      <c:spPr>
        <a:noFill/>
        <a:ln w="15875">
          <a:solidFill>
            <a:schemeClr val="tx1"/>
          </a:solidFill>
        </a:ln>
        <a:effectLst/>
      </c:spPr>
    </c:plotArea>
    <c:legend>
      <c:legendPos val="b"/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ko-KR"/>
          </a:p>
        </c:txPr>
      </c:legendEntry>
      <c:layout>
        <c:manualLayout>
          <c:xMode val="edge"/>
          <c:yMode val="edge"/>
          <c:x val="0"/>
          <c:y val="4.8834427464647112E-3"/>
          <c:w val="0.89999983326311861"/>
          <c:h val="0.109214641848346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149027201454839"/>
          <c:y val="0.18891362816345034"/>
          <c:w val="0.80451745489058624"/>
          <c:h val="0.340351382747845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others</c:v>
                </c:pt>
              </c:strCache>
            </c:strRef>
          </c:tx>
          <c:spPr>
            <a:pattFill prst="zigZag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MAC-P</c:v>
                </c:pt>
                <c:pt idx="1">
                  <c:v>Baseline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8C-4203-AC3B-B56DCD4047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xarray_walk</c:v>
                </c:pt>
              </c:strCache>
            </c:strRef>
          </c:tx>
          <c:spPr>
            <a:pattFill prst="solidDmnd">
              <a:fgClr>
                <a:schemeClr val="accent5">
                  <a:lumMod val="5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MAC-P</c:v>
                </c:pt>
                <c:pt idx="1">
                  <c:v>Baseline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8C-4203-AC3B-B56DCD4047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page_test</c:v>
                </c:pt>
              </c:strCache>
            </c:strRef>
          </c:tx>
          <c:spPr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MAC-P</c:v>
                </c:pt>
                <c:pt idx="1">
                  <c:v>Baseline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5.01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8C-4203-AC3B-B56DCD40472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comm.</c:v>
                </c:pt>
              </c:strCache>
            </c:strRef>
          </c:tx>
          <c:spPr>
            <a:solidFill>
              <a:schemeClr val="tx1"/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MAC-P</c:v>
                </c:pt>
                <c:pt idx="1">
                  <c:v>Baseline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8C-4203-AC3B-B56DCD40472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sync.</c:v>
                </c:pt>
              </c:strCache>
            </c:strRef>
          </c:tx>
          <c:spPr>
            <a:pattFill prst="narHorz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MAC-P</c:v>
                </c:pt>
                <c:pt idx="1">
                  <c:v>Baseline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2.8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8C-4203-AC3B-B56DCD404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overlap val="10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  <c:axId val="1704218144"/>
        <c:axId val="72486880"/>
      </c:barChart>
      <c:catAx>
        <c:axId val="170421814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2486880"/>
        <c:crosses val="autoZero"/>
        <c:auto val="1"/>
        <c:lblAlgn val="ctr"/>
        <c:lblOffset val="100"/>
        <c:noMultiLvlLbl val="0"/>
      </c:catAx>
      <c:valAx>
        <c:axId val="72486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ko-KR"/>
          </a:p>
        </c:txPr>
        <c:crossAx val="1704218144"/>
        <c:crosses val="autoZero"/>
        <c:crossBetween val="between"/>
        <c:majorUnit val="5"/>
      </c:valAx>
      <c:spPr>
        <a:noFill/>
        <a:ln w="15875"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13170655497304906"/>
          <c:y val="5.2417745038887437E-2"/>
          <c:w val="0.81205921371475687"/>
          <c:h val="0.109214641848346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9T09:14:31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51 10258 0 0,'-6'-11'538'0'0,"4"-23"2614"0"0,5 29 2510 0 0,3 10-4310 0 0,35 29 1147 0 0,25 30-1914 0 0,48 25 469 0 0,-1-4-758 0 0,507 301 1524 0 0,-205-109 40 0 0,-243-155-783 0 0,-129-88-351 0 0,21 2-996 0 0,-63-36 284 0 0,-1 0-9 0 0,0 0-34 0 0,11 1 454 0 0,-11-1-444 0 0,0 0 30 0 0,23 24 174 0 0,87 118 269 0 0,-57-57-393 0 0,21 25 15 0 0,-4 2 0 0 0,31 75-76 0 0,30 55 94 0 0,-12-35-492 0 0,69 111 769 0 0,-101-187-283 0 0,61 81 5 0 0,108 199-509 0 0,-113-176 888 0 0,3 10-309 0 0,-52-128-112 0 0,-34-48 10 0 0,-30-32-50 0 0,11 13-38 0 0,11 10 139 0 0,-6 0-133 0 0,-10-20 5 0 0,3 2-243 0 0,11 40 267 0 0,-51-67 243 0 0,1-15-265 0 0,0 0-4 0 0,-31-12-145 0 0,-94-28 91 0 0,-118-55 360 0 0,172 64-320 0 0,107 42-205 0 0,238 43 85 0 0,-273-53 154 0 0,-1-1 1 0 0,1 0 0 0 0,-1 1-1 0 0,1-1 1 0 0,-1 0 0 0 0,1 1 0 0 0,-1-1-1 0 0,1 0 1 0 0,-1 0 0 0 0,1 1-1 0 0,0-1 1 0 0,-1 0 0 0 0,1 0 0 0 0,-1 0-1 0 0,1 0 1 0 0,-1 0 0 0 0,1 0-1 0 0,0 0 1 0 0,-1 0 0 0 0,1 0 0 0 0,-1 0-1 0 0,1 0 1 0 0,0-1 0 0 0,-1 1-1 0 0,1 0 1 0 0,-1 0 0 0 0,1 0 0 0 0,-1-1-1 0 0,1 1 1 0 0,-1 0 0 0 0,1-1 0 0 0,-1 1-1 0 0,1 0 1 0 0,-1-1 0 0 0,1 1-1 0 0,-1-1 1 0 0,0 1 0 0 0,1-1 0 0 0,-1 1-1 0 0,0-1 1 0 0,1 1 0 0 0,-1-1-1 0 0,0 1 1 0 0,0-1 0 0 0,1 1 0 0 0,-1-1-1 0 0,0 0 1 0 0,0 1 0 0 0,0-1-1 0 0,0 1 1 0 0,0-1 0 0 0,0 1 0 0 0,0-1-1 0 0,0 0 1 0 0,0 1 0 0 0,0-1-1 0 0,0 1 1 0 0,0-1-3 0 0,5-22 75 0 0,42-144 55 0 0,25 13-199 0 0,-30 42 16 0 0,-40 111-402 0 0,-2 1 168 0 0,-1-1-3090 0 0,-5-3-11236 0 0,5 2 12591 0 0,-1-1-4857 0 0</inkml:trace>
  <inkml:trace contextRef="#ctx0" brushRef="#br0" timeOffset="9824.472">920 1287 6473 0 0,'-3'4'1273'0'0,"0"-3"-1217"0"0,-1 3-40 0 0,1-3 0 0 0,0 1-16 0 0,1-1-8 0 0,-1 1 0 0 0,0-2-32 0 0,1 2-8 0 0,-1-2-24 0 0,-1 1-4409 0 0</inkml:trace>
  <inkml:trace contextRef="#ctx0" brushRef="#br0" timeOffset="10182.319">860 1326 7866 0 0,'-5'0'907'0'0,"5"1"-619"0"0,-1-1-1 0 0,0 1 1 0 0,0-1 0 0 0,0 0-1 0 0,0 0 1 0 0,0 1 0 0 0,0-1 0 0 0,0 0-1 0 0,0 0 1 0 0,0 0 0 0 0,0 0-1 0 0,0 0 1 0 0,0 0 0 0 0,0-1 0 0 0,0 1-1 0 0,0 0 1 0 0,0 0 0 0 0,0-1-1 0 0,0 1 1 0 0,0-1 0 0 0,0 1-1 0 0,0-1 1 0 0,0 1 0 0 0,0-1 0 0 0,0 1-1 0 0,1-1 1 0 0,-1 0 0 0 0,0 0-1 0 0,1 1 1 0 0,-1-1 0 0 0,0 0 0 0 0,1 0-1 0 0,-1 0 1 0 0,1 1 0 0 0,-1-1-1 0 0,1 0 1 0 0,-1 0 0 0 0,1 0 0 0 0,0 0-1 0 0,-1 0 1 0 0,1 0 0 0 0,0 0-1 0 0,0 0 1 0 0,0 0 0 0 0,0 0-1 0 0,0 0 1 0 0,0 0 0 0 0,0 0 0 0 0,0 0-1 0 0,0 0-287 0 0,0 0 192 0 0,25 8 2093 0 0,257-43 645 0 0,-243 30-3029 0 0,-31-2-3732 0 0,-8 8-830 0 0,0 3-4789 0 0,1-2 3263 0 0</inkml:trace>
  <inkml:trace contextRef="#ctx0" brushRef="#br0" timeOffset="10588.091">1031 1743 8482 0 0,'32'-20'9660'0'0,"5"-4"-4405"0"0,-23 8-4720 0 0,-2 0 0 0 0,0-1 0 0 0,0-1 0 0 0,-2 0 0 0 0,0 0 0 0 0,-2-1 0 0 0,5-14-535 0 0,16-30 417 0 0,-17 53-1100 0 0,-14 22-4423 0 0,8 9-7389 0 0,-6-16 7093 0 0</inkml:trace>
  <inkml:trace contextRef="#ctx0" brushRef="#br0" timeOffset="11041.145">1423 2113 8426 0 0,'11'-42'10719'0'0,"-10"35"-10354"0"0,20-180 6395 0 0,-10 79-5587 0 0,-12-28-277 0 0,-1 131-2869 0 0,0 0-5498 0 0,0 0-1026 0 0,1 2 2348 0 0</inkml:trace>
  <inkml:trace contextRef="#ctx0" brushRef="#br0" timeOffset="31391.858">3786 3811 5273 0 0,'-1'1'43'0'0,"1"-1"0"0"0,-1 0-1 0 0,0 0 1 0 0,0 0 0 0 0,1 0-1 0 0,-1-1 1 0 0,0 1 0 0 0,0 0-1 0 0,1 0 1 0 0,-1 0 0 0 0,0 0 0 0 0,1-1-1 0 0,-1 1 1 0 0,0 0 0 0 0,1-1-1 0 0,-1 1 1 0 0,0-1 0 0 0,1 1-1 0 0,-1 0 1 0 0,0-1 0 0 0,1 1 0 0 0,-1-1-1 0 0,1 0 1 0 0,-1 1 0 0 0,1-1-1 0 0,0 1 1 0 0,-1-1 0 0 0,1 0-1 0 0,0 1 1 0 0,-1-1 0 0 0,1 0 0 0 0,0 1-1 0 0,0-1 1 0 0,-1 0 0 0 0,1 0-1 0 0,0 1 1 0 0,0-1 0 0 0,0 0-1 0 0,0 0 1 0 0,0 1 0 0 0,0-1 0 0 0,0 0-1 0 0,0 0 1 0 0,0 1 0 0 0,1-1-1 0 0,-1 0 1 0 0,0 0 0 0 0,0 1 0 0 0,1-1-1 0 0,-1 0 1 0 0,0 1-43 0 0,10-9 12848 0 0,-8 11-9703 0 0,-4 29 1796 0 0,-5 16-3450 0 0,4 41-467 0 0,3 2-833 0 0,0-6-233 0 0,2 73-4 0 0,0-93 79 0 0,0-13 4 0 0,-3-38-315 0 0,-1-21-4837 0 0,-8-10-8301 0 0,6 10 5873 0 0</inkml:trace>
  <inkml:trace contextRef="#ctx0" brushRef="#br0" timeOffset="32873.496">3328 4219 2248 0 0,'-2'2'3795'0'0,"-7"2"-1104"0"0,7 14 11623 0 0,2-18-13926 0 0,17 3 3537 0 0,90 52-1724 0 0,-46-42-1626 0 0,37 48 87 0 0,-19-11-481 0 0,-40-38-158 0 0,1-1-578 0 0,-39-11 443 0 0,-3-1 159 0 0,-2-1-3769 0 0,-8-6-15843 0 0,10 8 14557 0 0</inkml:trace>
  <inkml:trace contextRef="#ctx0" brushRef="#br0" timeOffset="35850.719">3680 4271 6673 0 0,'-1'4'12460'0'0,"5"-5"-8363"0"0,-4 1-3851 0 0,-1-28 1401 0 0,9-79-1557 0 0,-13 56-711 0 0,18 120-1544 0 0,-27 54 2332 0 0,-3-59-73 0 0,16-79 1306 0 0,-4-30-1216 0 0,-3 14-147 0 0,14-5-273 0 0,-11 12-93 0 0,-22 160-398 0 0,-6-82 1366 0 0,41-65-779 0 0,7-77 919 0 0,-8 57-850 0 0,-5 9 156 0 0,5 102-1670 0 0,-9-21 1954 0 0,4-48 1234 0 0,-15-15 292 0 0,-46-27-1438 0 0,16 3-522 0 0,-17-3 644 0 0,14 18 661 0 0,-10-15-764 0 0,4 10 116 0 0,18 7 45 0 0,34 11-603 0 0,-28-10 172 0 0,23 10 843 0 0,1-2-4579 0 0,7-9-13819 0 0,2 5 10609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066DD-9776-4801-837C-7D1255805691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DC518-CDB1-475E-AF30-F1E22C9DF6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70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359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6634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97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176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932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952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773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14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393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191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130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749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630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263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73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823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7892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351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042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81296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DC518-CDB1-475E-AF30-F1E22C9DF692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748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DE5CE-47EB-BFDE-C60C-620BB2D6D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9E3505-17C9-0BC6-4F4E-7425070D9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023050-D6F0-D0FA-B92C-4E8F88B53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DBBE-7E64-4F37-AAAE-0908397A1E0A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22F317-BDFA-BFF6-BFDB-F337234E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F94A86-D86C-263B-4206-5E53C96D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15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9D80B-DFA5-F594-A8DE-C7DE335F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4B0666-8C34-18F0-44DF-6D1B3FFB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C1D431-9216-7B43-388A-4A3364A2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2CC0-9F9B-4937-A288-67D2A90E190F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AF457C-DB23-9E3D-EDAF-6437A88B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52D0D4-98B7-A850-5DC0-7EBD4DD6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04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5954B-3DFB-2857-CFBC-61FACCAA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1F9C12-5EAC-43F4-3272-ABF8C44A4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CC0A8-7E61-7BF2-8060-FE12AB79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E953-21F7-434E-864C-65A2ADD68189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D4A51-7B85-9DA9-64E1-D988D1AB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B0F233-99CE-2067-3900-7ABB5DF2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5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C6195-4090-4BFE-B019-4DC9DFB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DE499-95B2-2F01-CC3D-D9475B392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75B53D-D98E-8D7B-1818-5F90F4AE7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7059CF-8189-8872-D2BB-789A8443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39CA-46AB-43C8-BEBF-3F6D28AF2FCC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8B9FE9-E1BC-8629-EE45-E3D98335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09CFA3-3B4A-1AA3-90C7-85C55194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27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FA3FF-F95D-E77C-CB02-C5D76FEB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C3E8A5-180A-7D94-7C4A-28D47E819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9C808B-07FE-A11F-635F-EEFA86906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EAB3E7C-04D6-D95C-CBC0-C5C76ECFC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26912A-0287-D595-BF02-71BD4588E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E46918-D38A-C6AA-3525-2C28EB2B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FE97B-064C-4A2C-A9B9-79434C8C2F35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203486B-C0D4-5A78-866D-6A5B5E72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A142BD-7367-E90E-67A9-D3A2DDFA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686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255DC-A91A-9039-0EB8-73B8B734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19BBC2-BEA3-D81B-A562-671B7FDF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BFAAA-4A7B-4D20-8754-4AC7E59E7E36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F20946-52E8-7005-1767-F1A1064A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90E183-7190-C5AA-4FCA-DBD57499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04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7F1F3B-C576-665E-06AA-8A20EDB5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D2939-E893-4845-AA0F-A4B5DE6BC2E2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0DF6A8-7C99-3EDC-B484-BAB30BC8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661C0C-C35B-B3FA-8BF4-E8C21105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02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64FF10-0AFD-52DA-3BAF-70152898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EE07E-D002-1EB8-CDCC-4B017CA79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9A948C-E4D6-6959-3ED4-E021FC864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AE4D9C-85FE-708D-8126-B9F1282A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547C9-82E8-4DF0-8997-6886F084354E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E1077E-D8C7-41FF-6651-F2069DF0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D4F7BB-FC1A-A9BA-0E85-1CAC03FA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05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5DC1C-F335-9DAB-45FA-6B0F48D2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473231-C006-B4FB-8FDC-68BAD5B2C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BC6C5A-41D8-D69A-8F62-AECD5676E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74FE46-F040-AA5D-ABB0-753A9607C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1968-1696-41F0-B821-074ECE19D8A7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6614C4-3BB1-B588-4D98-BC56EFC0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E962F3-2AE1-B2AB-978A-718F69D7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5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40729-6832-7731-4684-F119597B1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A42E2C-8E04-1032-A2F6-D0F00DE92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00EE1C-C6A3-EC0F-FF08-CF65267D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9FA4E-A4B7-4F0B-81A9-C7E99644D955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90B3E-98FB-7ABD-A1B0-120F018D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D4651-A886-7043-52CA-F45B7EAD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64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377B1C-F515-0FE6-B3ED-75797FDC1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832FB3-11AB-81A9-E3C2-B2D165467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36DFC6-C89C-7E1A-8F1A-60D0B3B6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08B15-079B-41EF-8AC2-53BA5E9F08B9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ED5FDE-8DFB-DBC5-9067-8BD706BD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26135-8962-A7A4-737A-7CDE0A26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865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4998A5-254B-D201-C2C1-1F3042AC0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4FC557-19B8-84E0-2DC6-C54242E3A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EE4C9D-965C-AA27-73B0-EA97FD51B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70D6E-72DC-4FA5-8980-F7E41C264A61}" type="datetime1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9F18A-43B4-1692-2FEA-9EFCEE3D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6BDD21-E127-5997-A14D-93F1AF659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E6893-5C94-4720-879D-7D7C2FD2CD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8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hart" Target="../charts/chart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hart" Target="../charts/chart2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hart" Target="../charts/chart4.xml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chart" Target="../charts/chart6.xml"/><Relationship Id="rId3" Type="http://schemas.openxmlformats.org/officeDocument/2006/relationships/image" Target="../media/image23.png"/><Relationship Id="rId7" Type="http://schemas.openxmlformats.org/officeDocument/2006/relationships/image" Target="../media/image260.png"/><Relationship Id="rId12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29.png"/><Relationship Id="rId5" Type="http://schemas.openxmlformats.org/officeDocument/2006/relationships/image" Target="../media/image240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3.png"/><Relationship Id="rId18" Type="http://schemas.openxmlformats.org/officeDocument/2006/relationships/image" Target="../media/image109.png"/><Relationship Id="rId3" Type="http://schemas.openxmlformats.org/officeDocument/2006/relationships/image" Target="../media/image100.png"/><Relationship Id="rId7" Type="http://schemas.openxmlformats.org/officeDocument/2006/relationships/image" Target="../media/image30.png"/><Relationship Id="rId12" Type="http://schemas.openxmlformats.org/officeDocument/2006/relationships/image" Target="../media/image104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32.svg"/><Relationship Id="rId5" Type="http://schemas.openxmlformats.org/officeDocument/2006/relationships/image" Target="../media/image23.png"/><Relationship Id="rId15" Type="http://schemas.openxmlformats.org/officeDocument/2006/relationships/image" Target="../media/image35.png"/><Relationship Id="rId10" Type="http://schemas.openxmlformats.org/officeDocument/2006/relationships/image" Target="../media/image31.png"/><Relationship Id="rId4" Type="http://schemas.openxmlformats.org/officeDocument/2006/relationships/image" Target="../media/image103.png"/><Relationship Id="rId9" Type="http://schemas.openxmlformats.org/officeDocument/2006/relationships/image" Target="../media/image97.png"/><Relationship Id="rId14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image" Target="../media/image23.png"/><Relationship Id="rId4" Type="http://schemas.openxmlformats.org/officeDocument/2006/relationships/image" Target="../media/image10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image" Target="../media/image31.png"/><Relationship Id="rId3" Type="http://schemas.openxmlformats.org/officeDocument/2006/relationships/image" Target="../media/image100.png"/><Relationship Id="rId12" Type="http://schemas.openxmlformats.org/officeDocument/2006/relationships/image" Target="../media/image1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0.png"/><Relationship Id="rId5" Type="http://schemas.openxmlformats.org/officeDocument/2006/relationships/image" Target="../media/image23.png"/><Relationship Id="rId10" Type="http://schemas.openxmlformats.org/officeDocument/2006/relationships/image" Target="../media/image117.png"/><Relationship Id="rId4" Type="http://schemas.openxmlformats.org/officeDocument/2006/relationships/image" Target="../media/image114.png"/><Relationship Id="rId9" Type="http://schemas.openxmlformats.org/officeDocument/2006/relationships/image" Target="../media/image102.png"/><Relationship Id="rId14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.xml"/><Relationship Id="rId5" Type="http://schemas.openxmlformats.org/officeDocument/2006/relationships/image" Target="../media/image23.png"/><Relationship Id="rId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07A96C-4B46-9BEC-31CF-C85D4486ED90}"/>
              </a:ext>
            </a:extLst>
          </p:cNvPr>
          <p:cNvSpPr txBox="1"/>
          <p:nvPr/>
        </p:nvSpPr>
        <p:spPr>
          <a:xfrm>
            <a:off x="874547" y="1944890"/>
            <a:ext cx="109342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MAC: Metadata Acceleration for Sustainable Performance in Big-Data Systems with CXL DRAM</a:t>
            </a:r>
            <a:endParaRPr lang="ko-KR" altLang="en-US" sz="32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FD223-491B-5D28-82F3-6687B433B674}"/>
              </a:ext>
            </a:extLst>
          </p:cNvPr>
          <p:cNvSpPr txBox="1"/>
          <p:nvPr/>
        </p:nvSpPr>
        <p:spPr>
          <a:xfrm flipH="1">
            <a:off x="2019564" y="3970958"/>
            <a:ext cx="8644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Dusol Lee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†Yan Sun, †Houxiang Ji, †Vinit Gupta, †Austin Antony Cruz, Inhyuk Choi, †Nam Sung Kim, and Jihong Kim</a:t>
            </a:r>
          </a:p>
          <a:p>
            <a:pPr algn="ctr"/>
            <a:r>
              <a:rPr lang="en-US" altLang="ko-KR" sz="2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Seoul National University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†</a:t>
            </a:r>
            <a:r>
              <a:rPr lang="en-US" altLang="ko-KR" sz="2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of Illinois Urbana-Champaign</a:t>
            </a:r>
            <a:endParaRPr lang="ko-KR" altLang="en-US" sz="2000" i="1" dirty="0">
              <a:latin typeface="+mj-ea"/>
              <a:ea typeface="+mj-ea"/>
              <a:cs typeface="Calibri" panose="020F050202020403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3BC9E0F-A3D9-D98E-44F3-646C35973D39}"/>
              </a:ext>
            </a:extLst>
          </p:cNvPr>
          <p:cNvCxnSpPr>
            <a:cxnSpLocks/>
          </p:cNvCxnSpPr>
          <p:nvPr/>
        </p:nvCxnSpPr>
        <p:spPr>
          <a:xfrm>
            <a:off x="261733" y="3429000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9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04CB347-8056-4367-B513-5E8D0D8A9A89}"/>
              </a:ext>
            </a:extLst>
          </p:cNvPr>
          <p:cNvGrpSpPr/>
          <p:nvPr/>
        </p:nvGrpSpPr>
        <p:grpSpPr>
          <a:xfrm>
            <a:off x="10041880" y="4349926"/>
            <a:ext cx="847876" cy="758835"/>
            <a:chOff x="11038269" y="2790190"/>
            <a:chExt cx="849063" cy="827904"/>
          </a:xfrm>
        </p:grpSpPr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D96092D7-3896-4DC4-83A7-10D8583A1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11048849" y="2779610"/>
              <a:ext cx="827904" cy="849063"/>
            </a:xfrm>
            <a:prstGeom prst="rect">
              <a:avLst/>
            </a:prstGeom>
          </p:spPr>
        </p:pic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0E95A9E1-D295-4924-B117-8D9C91CD6804}"/>
                </a:ext>
              </a:extLst>
            </p:cNvPr>
            <p:cNvSpPr/>
            <p:nvPr/>
          </p:nvSpPr>
          <p:spPr>
            <a:xfrm>
              <a:off x="11181149" y="3194613"/>
              <a:ext cx="128674" cy="295879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7" y="190954"/>
            <a:ext cx="10515600" cy="636361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Rising Memory Demands and Memory-Expansion Challenges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936EB-6C58-CC20-CCDC-37F47DFD1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136"/>
            <a:ext cx="5257800" cy="1990311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 (e.g., SQL, No-SQL, ..)</a:t>
            </a:r>
          </a:p>
          <a:p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 engines</a:t>
            </a: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8DB67C-21DF-D101-B62B-C422F05B6B95}"/>
              </a:ext>
            </a:extLst>
          </p:cNvPr>
          <p:cNvSpPr txBox="1"/>
          <p:nvPr/>
        </p:nvSpPr>
        <p:spPr>
          <a:xfrm>
            <a:off x="1944400" y="6544081"/>
            <a:ext cx="3926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Big Data Statistics [1]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2DFC6-7A93-23B7-677A-70864EF8D4DE}"/>
              </a:ext>
            </a:extLst>
          </p:cNvPr>
          <p:cNvSpPr txBox="1"/>
          <p:nvPr/>
        </p:nvSpPr>
        <p:spPr>
          <a:xfrm rot="16200000">
            <a:off x="-131034" y="4208345"/>
            <a:ext cx="2556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created/consumed (zettabytes)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F9C6CD-8B95-6F73-BC6C-34CC5D1BBFCB}"/>
              </a:ext>
            </a:extLst>
          </p:cNvPr>
          <p:cNvSpPr txBox="1"/>
          <p:nvPr/>
        </p:nvSpPr>
        <p:spPr>
          <a:xfrm>
            <a:off x="3482519" y="6236304"/>
            <a:ext cx="850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Year</a:t>
            </a:r>
            <a:endParaRPr lang="ko-KR" altLang="en-US" sz="1400" b="1" dirty="0"/>
          </a:p>
        </p:txBody>
      </p:sp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F5943812-10CB-5608-83F4-F92EA3F41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8441285"/>
              </p:ext>
            </p:extLst>
          </p:nvPr>
        </p:nvGraphicFramePr>
        <p:xfrm>
          <a:off x="1591662" y="2904102"/>
          <a:ext cx="4323004" cy="3370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0E88F6F-60DB-CA98-1732-2E7409BDFD34}"/>
              </a:ext>
            </a:extLst>
          </p:cNvPr>
          <p:cNvSpPr txBox="1"/>
          <p:nvPr/>
        </p:nvSpPr>
        <p:spPr>
          <a:xfrm>
            <a:off x="9119082" y="6551271"/>
            <a:ext cx="3474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[1] </a:t>
            </a:r>
            <a:r>
              <a:rPr lang="en-US" altLang="ko-KR" sz="12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Big Data Statistics 2026,</a:t>
            </a:r>
            <a:r>
              <a:rPr lang="ko-KR" altLang="en-US" sz="12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-apple-system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-apple-system"/>
              </a:rPr>
              <a:t>Demandsage</a:t>
            </a:r>
            <a:endParaRPr lang="en-US" altLang="ko-KR" sz="12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-apple-system"/>
            </a:endParaRPr>
          </a:p>
        </p:txBody>
      </p:sp>
      <p:pic>
        <p:nvPicPr>
          <p:cNvPr id="6" name="그림 5" descr="그래픽, 그래픽 디자인, 카민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07F1F85-7EF7-518B-FC72-0B0E3049F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499" y="3531328"/>
            <a:ext cx="1543135" cy="1543135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7CA297-0A3B-6F4E-DB17-B8556F81ED60}"/>
              </a:ext>
            </a:extLst>
          </p:cNvPr>
          <p:cNvCxnSpPr>
            <a:cxnSpLocks/>
          </p:cNvCxnSpPr>
          <p:nvPr/>
        </p:nvCxnSpPr>
        <p:spPr>
          <a:xfrm>
            <a:off x="231494" y="827315"/>
            <a:ext cx="11611101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830520" y="6386811"/>
            <a:ext cx="2739364" cy="334664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5F7FE3C0-73BD-4231-B1A4-3B186D9DBF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910" y="3105211"/>
            <a:ext cx="773055" cy="773055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1FDA329F-88D3-492A-A1FE-B676077EF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11" b="90132" l="2167" r="96167">
                        <a14:foregroundMark x1="12333" y1="9868" x2="2500" y2="10526"/>
                        <a14:foregroundMark x1="2500" y1="10526" x2="3436" y2="36932"/>
                        <a14:foregroundMark x1="3244" y1="49738" x2="2384" y2="62586"/>
                        <a14:foregroundMark x1="2941" y1="81462" x2="9000" y2="93421"/>
                        <a14:foregroundMark x1="9000" y1="93421" x2="14167" y2="42105"/>
                        <a14:foregroundMark x1="14167" y1="42105" x2="12167" y2="10526"/>
                        <a14:foregroundMark x1="1843" y1="47634" x2="1667" y2="49342"/>
                        <a14:foregroundMark x1="5333" y1="13816" x2="2783" y2="38532"/>
                        <a14:foregroundMark x1="2811" y1="81519" x2="3000" y2="86842"/>
                        <a14:foregroundMark x1="1667" y1="49342" x2="2135" y2="62487"/>
                        <a14:foregroundMark x1="3000" y1="86842" x2="6333" y2="89474"/>
                        <a14:foregroundMark x1="9167" y1="92105" x2="97667" y2="84868"/>
                        <a14:foregroundMark x1="96675" y1="42462" x2="96667" y2="42105"/>
                        <a14:foregroundMark x1="97084" y1="59942" x2="96789" y2="47309"/>
                        <a14:foregroundMark x1="97201" y1="64932" x2="97192" y2="64527"/>
                        <a14:foregroundMark x1="97667" y1="84868" x2="97293" y2="68861"/>
                        <a14:foregroundMark x1="94375" y1="64479" x2="93500" y2="73026"/>
                        <a14:foregroundMark x1="94876" y1="59588" x2="94712" y2="61194"/>
                        <a14:foregroundMark x1="96051" y1="48119" x2="95243" y2="56013"/>
                        <a14:foregroundMark x1="96667" y1="42105" x2="96625" y2="42517"/>
                        <a14:foregroundMark x1="93500" y1="73026" x2="90167" y2="86842"/>
                        <a14:foregroundMark x1="86167" y1="90789" x2="94500" y2="88816"/>
                        <a14:foregroundMark x1="96000" y1="31579" x2="96167" y2="17763"/>
                        <a14:backgroundMark x1="2667" y1="65789" x2="2667" y2="65789"/>
                        <a14:backgroundMark x1="2167" y1="62500" x2="2000" y2="69079"/>
                        <a14:backgroundMark x1="1500" y1="65789" x2="1500" y2="77632"/>
                        <a14:backgroundMark x1="1000" y1="76316" x2="1167" y2="82237"/>
                        <a14:backgroundMark x1="2333" y1="40789" x2="1667" y2="47368"/>
                        <a14:backgroundMark x1="2667" y1="38816" x2="3500" y2="43421"/>
                        <a14:backgroundMark x1="97333" y1="65132" x2="97000" y2="68421"/>
                        <a14:backgroundMark x1="97667" y1="61184" x2="97167" y2="64474"/>
                        <a14:backgroundMark x1="97000" y1="42105" x2="97333" y2="4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417943" y="3344887"/>
            <a:ext cx="1111669" cy="281623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58D104E5-63CC-4584-A3B1-5D20AB2C38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11" b="90132" l="2167" r="96167">
                        <a14:foregroundMark x1="12333" y1="9868" x2="2500" y2="10526"/>
                        <a14:foregroundMark x1="2500" y1="10526" x2="3436" y2="36932"/>
                        <a14:foregroundMark x1="3244" y1="49738" x2="2384" y2="62586"/>
                        <a14:foregroundMark x1="2941" y1="81462" x2="9000" y2="93421"/>
                        <a14:foregroundMark x1="9000" y1="93421" x2="14167" y2="42105"/>
                        <a14:foregroundMark x1="14167" y1="42105" x2="12167" y2="10526"/>
                        <a14:foregroundMark x1="1843" y1="47634" x2="1667" y2="49342"/>
                        <a14:foregroundMark x1="5333" y1="13816" x2="2783" y2="38532"/>
                        <a14:foregroundMark x1="2811" y1="81519" x2="3000" y2="86842"/>
                        <a14:foregroundMark x1="1667" y1="49342" x2="2135" y2="62487"/>
                        <a14:foregroundMark x1="3000" y1="86842" x2="6333" y2="89474"/>
                        <a14:foregroundMark x1="9167" y1="92105" x2="97667" y2="84868"/>
                        <a14:foregroundMark x1="96675" y1="42462" x2="96667" y2="42105"/>
                        <a14:foregroundMark x1="97084" y1="59942" x2="96789" y2="47309"/>
                        <a14:foregroundMark x1="97201" y1="64932" x2="97192" y2="64527"/>
                        <a14:foregroundMark x1="97667" y1="84868" x2="97293" y2="68861"/>
                        <a14:foregroundMark x1="94375" y1="64479" x2="93500" y2="73026"/>
                        <a14:foregroundMark x1="94876" y1="59588" x2="94712" y2="61194"/>
                        <a14:foregroundMark x1="96051" y1="48119" x2="95243" y2="56013"/>
                        <a14:foregroundMark x1="96667" y1="42105" x2="96625" y2="42517"/>
                        <a14:foregroundMark x1="93500" y1="73026" x2="90167" y2="86842"/>
                        <a14:foregroundMark x1="86167" y1="90789" x2="94500" y2="88816"/>
                        <a14:foregroundMark x1="96000" y1="31579" x2="96167" y2="17763"/>
                        <a14:backgroundMark x1="2667" y1="65789" x2="2667" y2="65789"/>
                        <a14:backgroundMark x1="2167" y1="62500" x2="2000" y2="69079"/>
                        <a14:backgroundMark x1="1500" y1="65789" x2="1500" y2="77632"/>
                        <a14:backgroundMark x1="1000" y1="76316" x2="1167" y2="82237"/>
                        <a14:backgroundMark x1="2333" y1="40789" x2="1667" y2="47368"/>
                        <a14:backgroundMark x1="2667" y1="38816" x2="3500" y2="43421"/>
                        <a14:backgroundMark x1="97333" y1="65132" x2="97000" y2="68421"/>
                        <a14:backgroundMark x1="97667" y1="61184" x2="97167" y2="64474"/>
                        <a14:backgroundMark x1="97000" y1="42105" x2="97333" y2="4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417945" y="3344887"/>
            <a:ext cx="1111669" cy="281623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21CB21E0-F2AF-4593-B910-ABB273079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11" b="90132" l="2167" r="96167">
                        <a14:foregroundMark x1="12333" y1="9868" x2="2500" y2="10526"/>
                        <a14:foregroundMark x1="2500" y1="10526" x2="3436" y2="36932"/>
                        <a14:foregroundMark x1="3244" y1="49738" x2="2384" y2="62586"/>
                        <a14:foregroundMark x1="2941" y1="81462" x2="9000" y2="93421"/>
                        <a14:foregroundMark x1="9000" y1="93421" x2="14167" y2="42105"/>
                        <a14:foregroundMark x1="14167" y1="42105" x2="12167" y2="10526"/>
                        <a14:foregroundMark x1="1843" y1="47634" x2="1667" y2="49342"/>
                        <a14:foregroundMark x1="5333" y1="13816" x2="2783" y2="38532"/>
                        <a14:foregroundMark x1="2811" y1="81519" x2="3000" y2="86842"/>
                        <a14:foregroundMark x1="1667" y1="49342" x2="2135" y2="62487"/>
                        <a14:foregroundMark x1="3000" y1="86842" x2="6333" y2="89474"/>
                        <a14:foregroundMark x1="9167" y1="92105" x2="97667" y2="84868"/>
                        <a14:foregroundMark x1="96675" y1="42462" x2="96667" y2="42105"/>
                        <a14:foregroundMark x1="97084" y1="59942" x2="96789" y2="47309"/>
                        <a14:foregroundMark x1="97201" y1="64932" x2="97192" y2="64527"/>
                        <a14:foregroundMark x1="97667" y1="84868" x2="97293" y2="68861"/>
                        <a14:foregroundMark x1="94375" y1="64479" x2="93500" y2="73026"/>
                        <a14:foregroundMark x1="94876" y1="59588" x2="94712" y2="61194"/>
                        <a14:foregroundMark x1="96051" y1="48119" x2="95243" y2="56013"/>
                        <a14:foregroundMark x1="96667" y1="42105" x2="96625" y2="42517"/>
                        <a14:foregroundMark x1="93500" y1="73026" x2="90167" y2="86842"/>
                        <a14:foregroundMark x1="86167" y1="90789" x2="94500" y2="88816"/>
                        <a14:foregroundMark x1="96000" y1="31579" x2="96167" y2="17763"/>
                        <a14:backgroundMark x1="2667" y1="65789" x2="2667" y2="65789"/>
                        <a14:backgroundMark x1="2167" y1="62500" x2="2000" y2="69079"/>
                        <a14:backgroundMark x1="1500" y1="65789" x2="1500" y2="77632"/>
                        <a14:backgroundMark x1="1000" y1="76316" x2="1167" y2="82237"/>
                        <a14:backgroundMark x1="2333" y1="40789" x2="1667" y2="47368"/>
                        <a14:backgroundMark x1="2667" y1="38816" x2="3500" y2="43421"/>
                        <a14:backgroundMark x1="97333" y1="65132" x2="97000" y2="68421"/>
                        <a14:backgroundMark x1="97667" y1="61184" x2="97167" y2="64474"/>
                        <a14:backgroundMark x1="97000" y1="42105" x2="97333" y2="4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732389" y="3346813"/>
            <a:ext cx="1111669" cy="281623"/>
          </a:xfrm>
          <a:prstGeom prst="rect">
            <a:avLst/>
          </a:prstGeom>
        </p:spPr>
      </p:pic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FE89D6BA-B3E7-492C-9B1B-BC89F9BAE57C}"/>
              </a:ext>
            </a:extLst>
          </p:cNvPr>
          <p:cNvCxnSpPr>
            <a:cxnSpLocks/>
            <a:stCxn id="34" idx="3"/>
            <a:endCxn id="86" idx="0"/>
          </p:cNvCxnSpPr>
          <p:nvPr/>
        </p:nvCxnSpPr>
        <p:spPr>
          <a:xfrm flipV="1">
            <a:off x="7494965" y="3485698"/>
            <a:ext cx="338003" cy="60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83CAF1D-21CA-43BD-9821-471EDA4D4ECC}"/>
              </a:ext>
            </a:extLst>
          </p:cNvPr>
          <p:cNvSpPr txBox="1"/>
          <p:nvPr/>
        </p:nvSpPr>
        <p:spPr>
          <a:xfrm>
            <a:off x="8438024" y="3136956"/>
            <a:ext cx="860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/>
              <a:t>...</a:t>
            </a:r>
            <a:endParaRPr lang="ko-KR" altLang="en-US" sz="2400" b="1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0BDBF62-AB81-4B3C-980B-7C3641CDCBDA}"/>
              </a:ext>
            </a:extLst>
          </p:cNvPr>
          <p:cNvSpPr txBox="1"/>
          <p:nvPr/>
        </p:nvSpPr>
        <p:spPr>
          <a:xfrm>
            <a:off x="8876721" y="2873611"/>
            <a:ext cx="273936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More DDR5 DRAMs?</a:t>
            </a:r>
            <a:endParaRPr lang="en-US" altLang="ko-KR"/>
          </a:p>
          <a:p>
            <a:r>
              <a:rPr lang="en-US" altLang="ko-KR"/>
              <a:t>1. limited DIMM slots</a:t>
            </a:r>
          </a:p>
          <a:p>
            <a:r>
              <a:rPr lang="en-US" altLang="ko-KR"/>
              <a:t>2. cost</a:t>
            </a:r>
            <a:r>
              <a:rPr lang="ko-KR" altLang="en-US"/>
              <a:t> ↑</a:t>
            </a:r>
          </a:p>
        </p:txBody>
      </p: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B2308019-7535-4E56-92A1-C81D769166DE}"/>
              </a:ext>
            </a:extLst>
          </p:cNvPr>
          <p:cNvCxnSpPr>
            <a:cxnSpLocks/>
          </p:cNvCxnSpPr>
          <p:nvPr/>
        </p:nvCxnSpPr>
        <p:spPr>
          <a:xfrm>
            <a:off x="7110911" y="3801547"/>
            <a:ext cx="3641006" cy="559453"/>
          </a:xfrm>
          <a:prstGeom prst="bentConnector3">
            <a:avLst>
              <a:gd name="adj1" fmla="val 40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DA986803-7F66-4086-BFD0-AF50A01C712C}"/>
              </a:ext>
            </a:extLst>
          </p:cNvPr>
          <p:cNvSpPr txBox="1"/>
          <p:nvPr/>
        </p:nvSpPr>
        <p:spPr>
          <a:xfrm>
            <a:off x="8991944" y="3988638"/>
            <a:ext cx="1332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PCIe lanes</a:t>
            </a:r>
            <a:endParaRPr lang="ko-KR" alt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D72A644-868B-45BF-9367-1D4C3788B914}"/>
              </a:ext>
            </a:extLst>
          </p:cNvPr>
          <p:cNvSpPr txBox="1"/>
          <p:nvPr/>
        </p:nvSpPr>
        <p:spPr>
          <a:xfrm>
            <a:off x="10203369" y="4770253"/>
            <a:ext cx="54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SSD</a:t>
            </a:r>
            <a:endParaRPr lang="ko-KR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AF6E515D-EE70-47D9-A4C3-E3ECE7536F9F}"/>
              </a:ext>
            </a:extLst>
          </p:cNvPr>
          <p:cNvCxnSpPr/>
          <p:nvPr/>
        </p:nvCxnSpPr>
        <p:spPr>
          <a:xfrm>
            <a:off x="6412375" y="827315"/>
            <a:ext cx="0" cy="603068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내용 개체 틀 2">
            <a:extLst>
              <a:ext uri="{FF2B5EF4-FFF2-40B4-BE49-F238E27FC236}">
                <a16:creationId xmlns:a16="http://schemas.microsoft.com/office/drawing/2014/main" id="{E0782F3A-004E-43BF-94C9-A9E0A7A511DE}"/>
              </a:ext>
            </a:extLst>
          </p:cNvPr>
          <p:cNvSpPr txBox="1">
            <a:spLocks/>
          </p:cNvSpPr>
          <p:nvPr/>
        </p:nvSpPr>
        <p:spPr>
          <a:xfrm>
            <a:off x="6506779" y="1065136"/>
            <a:ext cx="5257800" cy="5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if we add more DDR5 DRAM? </a:t>
            </a: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F4AEB6-2A00-451E-899A-B756383DB5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754" y="1982914"/>
            <a:ext cx="955722" cy="95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9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8" grpId="0" animBg="1"/>
      <p:bldP spid="101" grpId="0"/>
      <p:bldP spid="108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7" y="190954"/>
            <a:ext cx="10515600" cy="636361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Alternative: Memory Expansion with CXL DRAM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A7CA297-0A3B-6F4E-DB17-B8556F81ED60}"/>
              </a:ext>
            </a:extLst>
          </p:cNvPr>
          <p:cNvCxnSpPr>
            <a:cxnSpLocks/>
          </p:cNvCxnSpPr>
          <p:nvPr/>
        </p:nvCxnSpPr>
        <p:spPr>
          <a:xfrm>
            <a:off x="231494" y="827315"/>
            <a:ext cx="11611101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830520" y="6386811"/>
            <a:ext cx="2739364" cy="334664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C78BD9BE-390D-4599-BE91-30DA2BF07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80" y="2606202"/>
            <a:ext cx="773055" cy="77305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46260CD-4EDE-40F7-978D-1D96F970F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11" b="90132" l="2167" r="96167">
                        <a14:foregroundMark x1="12333" y1="9868" x2="2500" y2="10526"/>
                        <a14:foregroundMark x1="2500" y1="10526" x2="3436" y2="36932"/>
                        <a14:foregroundMark x1="3244" y1="49738" x2="2384" y2="62586"/>
                        <a14:foregroundMark x1="2941" y1="81462" x2="9000" y2="93421"/>
                        <a14:foregroundMark x1="9000" y1="93421" x2="14167" y2="42105"/>
                        <a14:foregroundMark x1="14167" y1="42105" x2="12167" y2="10526"/>
                        <a14:foregroundMark x1="1843" y1="47634" x2="1667" y2="49342"/>
                        <a14:foregroundMark x1="5333" y1="13816" x2="2783" y2="38532"/>
                        <a14:foregroundMark x1="2811" y1="81519" x2="3000" y2="86842"/>
                        <a14:foregroundMark x1="1667" y1="49342" x2="2135" y2="62487"/>
                        <a14:foregroundMark x1="3000" y1="86842" x2="6333" y2="89474"/>
                        <a14:foregroundMark x1="9167" y1="92105" x2="97667" y2="84868"/>
                        <a14:foregroundMark x1="96675" y1="42462" x2="96667" y2="42105"/>
                        <a14:foregroundMark x1="97084" y1="59942" x2="96789" y2="47309"/>
                        <a14:foregroundMark x1="97201" y1="64932" x2="97192" y2="64527"/>
                        <a14:foregroundMark x1="97667" y1="84868" x2="97293" y2="68861"/>
                        <a14:foregroundMark x1="94375" y1="64479" x2="93500" y2="73026"/>
                        <a14:foregroundMark x1="94876" y1="59588" x2="94712" y2="61194"/>
                        <a14:foregroundMark x1="96051" y1="48119" x2="95243" y2="56013"/>
                        <a14:foregroundMark x1="96667" y1="42105" x2="96625" y2="42517"/>
                        <a14:foregroundMark x1="93500" y1="73026" x2="90167" y2="86842"/>
                        <a14:foregroundMark x1="86167" y1="90789" x2="94500" y2="88816"/>
                        <a14:foregroundMark x1="96000" y1="31579" x2="96167" y2="17763"/>
                        <a14:backgroundMark x1="2667" y1="65789" x2="2667" y2="65789"/>
                        <a14:backgroundMark x1="2167" y1="62500" x2="2000" y2="69079"/>
                        <a14:backgroundMark x1="1500" y1="65789" x2="1500" y2="77632"/>
                        <a14:backgroundMark x1="1000" y1="76316" x2="1167" y2="82237"/>
                        <a14:backgroundMark x1="2333" y1="40789" x2="1667" y2="47368"/>
                        <a14:backgroundMark x1="2667" y1="38816" x2="3500" y2="43421"/>
                        <a14:backgroundMark x1="97333" y1="65132" x2="97000" y2="68421"/>
                        <a14:backgroundMark x1="97667" y1="61184" x2="97167" y2="64474"/>
                        <a14:backgroundMark x1="97000" y1="42105" x2="97333" y2="4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987382" y="2856368"/>
            <a:ext cx="1111669" cy="281623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A5D9602-90F3-4A89-A2A8-1F80CF71D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11" b="90132" l="2167" r="96167">
                        <a14:foregroundMark x1="12333" y1="9868" x2="2500" y2="10526"/>
                        <a14:foregroundMark x1="2500" y1="10526" x2="3436" y2="36932"/>
                        <a14:foregroundMark x1="3244" y1="49738" x2="2384" y2="62586"/>
                        <a14:foregroundMark x1="2941" y1="81462" x2="9000" y2="93421"/>
                        <a14:foregroundMark x1="9000" y1="93421" x2="14167" y2="42105"/>
                        <a14:foregroundMark x1="14167" y1="42105" x2="12167" y2="10526"/>
                        <a14:foregroundMark x1="1843" y1="47634" x2="1667" y2="49342"/>
                        <a14:foregroundMark x1="5333" y1="13816" x2="2783" y2="38532"/>
                        <a14:foregroundMark x1="2811" y1="81519" x2="3000" y2="86842"/>
                        <a14:foregroundMark x1="1667" y1="49342" x2="2135" y2="62487"/>
                        <a14:foregroundMark x1="3000" y1="86842" x2="6333" y2="89474"/>
                        <a14:foregroundMark x1="9167" y1="92105" x2="97667" y2="84868"/>
                        <a14:foregroundMark x1="96675" y1="42462" x2="96667" y2="42105"/>
                        <a14:foregroundMark x1="97084" y1="59942" x2="96789" y2="47309"/>
                        <a14:foregroundMark x1="97201" y1="64932" x2="97192" y2="64527"/>
                        <a14:foregroundMark x1="97667" y1="84868" x2="97293" y2="68861"/>
                        <a14:foregroundMark x1="94375" y1="64479" x2="93500" y2="73026"/>
                        <a14:foregroundMark x1="94876" y1="59588" x2="94712" y2="61194"/>
                        <a14:foregroundMark x1="96051" y1="48119" x2="95243" y2="56013"/>
                        <a14:foregroundMark x1="96667" y1="42105" x2="96625" y2="42517"/>
                        <a14:foregroundMark x1="93500" y1="73026" x2="90167" y2="86842"/>
                        <a14:foregroundMark x1="86167" y1="90789" x2="94500" y2="88816"/>
                        <a14:foregroundMark x1="96000" y1="31579" x2="96167" y2="17763"/>
                        <a14:backgroundMark x1="2667" y1="65789" x2="2667" y2="65789"/>
                        <a14:backgroundMark x1="2167" y1="62500" x2="2000" y2="69079"/>
                        <a14:backgroundMark x1="1500" y1="65789" x2="1500" y2="77632"/>
                        <a14:backgroundMark x1="1000" y1="76316" x2="1167" y2="82237"/>
                        <a14:backgroundMark x1="2333" y1="40789" x2="1667" y2="47368"/>
                        <a14:backgroundMark x1="2667" y1="38816" x2="3500" y2="43421"/>
                        <a14:backgroundMark x1="97333" y1="65132" x2="97000" y2="68421"/>
                        <a14:backgroundMark x1="97667" y1="61184" x2="97167" y2="64474"/>
                        <a14:backgroundMark x1="97000" y1="42105" x2="97333" y2="4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987384" y="2856368"/>
            <a:ext cx="1111669" cy="281623"/>
          </a:xfrm>
          <a:prstGeom prst="rect">
            <a:avLst/>
          </a:prstGeom>
        </p:spPr>
      </p:pic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013519AF-0819-4715-95FC-B352D415C91D}"/>
              </a:ext>
            </a:extLst>
          </p:cNvPr>
          <p:cNvCxnSpPr>
            <a:cxnSpLocks/>
          </p:cNvCxnSpPr>
          <p:nvPr/>
        </p:nvCxnSpPr>
        <p:spPr>
          <a:xfrm>
            <a:off x="680351" y="3379258"/>
            <a:ext cx="2922710" cy="941909"/>
          </a:xfrm>
          <a:prstGeom prst="bentConnector3">
            <a:avLst>
              <a:gd name="adj1" fmla="val 37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F37F366-CA3E-4259-84FD-E082F8372FBF}"/>
              </a:ext>
            </a:extLst>
          </p:cNvPr>
          <p:cNvSpPr txBox="1"/>
          <p:nvPr/>
        </p:nvSpPr>
        <p:spPr>
          <a:xfrm>
            <a:off x="756604" y="3955680"/>
            <a:ext cx="1332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PCIe lanes</a:t>
            </a:r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DC02293-4C46-433A-86A5-9E132C8F726A}"/>
              </a:ext>
            </a:extLst>
          </p:cNvPr>
          <p:cNvCxnSpPr>
            <a:cxnSpLocks/>
            <a:stCxn id="59" idx="3"/>
            <a:endCxn id="61" idx="0"/>
          </p:cNvCxnSpPr>
          <p:nvPr/>
        </p:nvCxnSpPr>
        <p:spPr>
          <a:xfrm>
            <a:off x="1066335" y="2992730"/>
            <a:ext cx="336072" cy="44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280B2AB-7D1B-4F3C-B238-9D9AE9872002}"/>
              </a:ext>
            </a:extLst>
          </p:cNvPr>
          <p:cNvSpPr txBox="1"/>
          <p:nvPr/>
        </p:nvSpPr>
        <p:spPr>
          <a:xfrm rot="16200000">
            <a:off x="797651" y="2345087"/>
            <a:ext cx="860580" cy="368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DIMM</a:t>
            </a:r>
            <a:endParaRPr lang="ko-KR" altLang="en-US"/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AF6E515D-EE70-47D9-A4C3-E3ECE7536F9F}"/>
              </a:ext>
            </a:extLst>
          </p:cNvPr>
          <p:cNvCxnSpPr/>
          <p:nvPr/>
        </p:nvCxnSpPr>
        <p:spPr>
          <a:xfrm>
            <a:off x="6412375" y="827315"/>
            <a:ext cx="0" cy="603068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4" name="TextBox 243">
            <a:extLst>
              <a:ext uri="{FF2B5EF4-FFF2-40B4-BE49-F238E27FC236}">
                <a16:creationId xmlns:a16="http://schemas.microsoft.com/office/drawing/2014/main" id="{0BD1A81E-447A-411C-AFC8-CE610DBD994D}"/>
              </a:ext>
            </a:extLst>
          </p:cNvPr>
          <p:cNvSpPr txBox="1"/>
          <p:nvPr/>
        </p:nvSpPr>
        <p:spPr>
          <a:xfrm>
            <a:off x="1959685" y="2564311"/>
            <a:ext cx="438536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2. Reuse legacy DDR DRAM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CXL</a:t>
            </a:r>
            <a:r>
              <a:rPr lang="en-US" altLang="ko-KR" b="1"/>
              <a:t> decouple</a:t>
            </a:r>
            <a:r>
              <a:rPr lang="en-US" altLang="ko-KR"/>
              <a:t> memory expansion from the </a:t>
            </a:r>
            <a:r>
              <a:rPr lang="en-US" altLang="ko-KR" b="1"/>
              <a:t>DDR interface generation</a:t>
            </a:r>
          </a:p>
        </p:txBody>
      </p:sp>
      <p:sp>
        <p:nvSpPr>
          <p:cNvPr id="53" name="내용 개체 틀 2">
            <a:extLst>
              <a:ext uri="{FF2B5EF4-FFF2-40B4-BE49-F238E27FC236}">
                <a16:creationId xmlns:a16="http://schemas.microsoft.com/office/drawing/2014/main" id="{F15C93F9-BC11-4FF8-B7FC-213CD437885D}"/>
              </a:ext>
            </a:extLst>
          </p:cNvPr>
          <p:cNvSpPr txBox="1">
            <a:spLocks/>
          </p:cNvSpPr>
          <p:nvPr/>
        </p:nvSpPr>
        <p:spPr>
          <a:xfrm>
            <a:off x="168563" y="993606"/>
            <a:ext cx="6095363" cy="6468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Enables 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2x - 4x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memory 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expansion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27086C7-0EE5-4172-8D5C-7CBCA649BF65}"/>
              </a:ext>
            </a:extLst>
          </p:cNvPr>
          <p:cNvSpPr/>
          <p:nvPr/>
        </p:nvSpPr>
        <p:spPr>
          <a:xfrm>
            <a:off x="8213355" y="2167065"/>
            <a:ext cx="1951142" cy="16205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BEA72481-B7D3-4F60-935E-9ED6359572FB}"/>
              </a:ext>
            </a:extLst>
          </p:cNvPr>
          <p:cNvSpPr/>
          <p:nvPr/>
        </p:nvSpPr>
        <p:spPr>
          <a:xfrm>
            <a:off x="8197003" y="4451506"/>
            <a:ext cx="2778043" cy="18135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43A8C079-BFE3-4084-AB1B-10CDCEA49E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899" y="2566781"/>
            <a:ext cx="773055" cy="773055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7DC9D288-F467-451C-9B72-4FF692AAD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11" b="90132" l="2167" r="96167">
                        <a14:foregroundMark x1="12333" y1="9868" x2="2500" y2="10526"/>
                        <a14:foregroundMark x1="2500" y1="10526" x2="3436" y2="36932"/>
                        <a14:foregroundMark x1="3244" y1="49738" x2="2384" y2="62586"/>
                        <a14:foregroundMark x1="2941" y1="81462" x2="9000" y2="93421"/>
                        <a14:foregroundMark x1="9000" y1="93421" x2="14167" y2="42105"/>
                        <a14:foregroundMark x1="14167" y1="42105" x2="12167" y2="10526"/>
                        <a14:foregroundMark x1="1843" y1="47634" x2="1667" y2="49342"/>
                        <a14:foregroundMark x1="5333" y1="13816" x2="2783" y2="38532"/>
                        <a14:foregroundMark x1="2811" y1="81519" x2="3000" y2="86842"/>
                        <a14:foregroundMark x1="1667" y1="49342" x2="2135" y2="62487"/>
                        <a14:foregroundMark x1="3000" y1="86842" x2="6333" y2="89474"/>
                        <a14:foregroundMark x1="9167" y1="92105" x2="97667" y2="84868"/>
                        <a14:foregroundMark x1="96675" y1="42462" x2="96667" y2="42105"/>
                        <a14:foregroundMark x1="97084" y1="59942" x2="96789" y2="47309"/>
                        <a14:foregroundMark x1="97201" y1="64932" x2="97192" y2="64527"/>
                        <a14:foregroundMark x1="97667" y1="84868" x2="97293" y2="68861"/>
                        <a14:foregroundMark x1="94375" y1="64479" x2="93500" y2="73026"/>
                        <a14:foregroundMark x1="94876" y1="59588" x2="94712" y2="61194"/>
                        <a14:foregroundMark x1="96051" y1="48119" x2="95243" y2="56013"/>
                        <a14:foregroundMark x1="96667" y1="42105" x2="96625" y2="42517"/>
                        <a14:foregroundMark x1="93500" y1="73026" x2="90167" y2="86842"/>
                        <a14:foregroundMark x1="86167" y1="90789" x2="94500" y2="88816"/>
                        <a14:foregroundMark x1="96000" y1="31579" x2="96167" y2="17763"/>
                        <a14:backgroundMark x1="2667" y1="65789" x2="2667" y2="65789"/>
                        <a14:backgroundMark x1="2167" y1="62500" x2="2000" y2="69079"/>
                        <a14:backgroundMark x1="1500" y1="65789" x2="1500" y2="77632"/>
                        <a14:backgroundMark x1="1000" y1="76316" x2="1167" y2="82237"/>
                        <a14:backgroundMark x1="2333" y1="40789" x2="1667" y2="47368"/>
                        <a14:backgroundMark x1="2667" y1="38816" x2="3500" y2="43421"/>
                        <a14:backgroundMark x1="97333" y1="65132" x2="97000" y2="68421"/>
                        <a14:backgroundMark x1="97667" y1="61184" x2="97167" y2="64474"/>
                        <a14:backgroundMark x1="97000" y1="42105" x2="97333" y2="4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520001" y="2816947"/>
            <a:ext cx="1111669" cy="28162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1F1F6CF3-5560-4434-93A5-B0F4F3111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11" b="90132" l="2167" r="96167">
                        <a14:foregroundMark x1="12333" y1="9868" x2="2500" y2="10526"/>
                        <a14:foregroundMark x1="2500" y1="10526" x2="3436" y2="36932"/>
                        <a14:foregroundMark x1="3244" y1="49738" x2="2384" y2="62586"/>
                        <a14:foregroundMark x1="2941" y1="81462" x2="9000" y2="93421"/>
                        <a14:foregroundMark x1="9000" y1="93421" x2="14167" y2="42105"/>
                        <a14:foregroundMark x1="14167" y1="42105" x2="12167" y2="10526"/>
                        <a14:foregroundMark x1="1843" y1="47634" x2="1667" y2="49342"/>
                        <a14:foregroundMark x1="5333" y1="13816" x2="2783" y2="38532"/>
                        <a14:foregroundMark x1="2811" y1="81519" x2="3000" y2="86842"/>
                        <a14:foregroundMark x1="1667" y1="49342" x2="2135" y2="62487"/>
                        <a14:foregroundMark x1="3000" y1="86842" x2="6333" y2="89474"/>
                        <a14:foregroundMark x1="9167" y1="92105" x2="97667" y2="84868"/>
                        <a14:foregroundMark x1="96675" y1="42462" x2="96667" y2="42105"/>
                        <a14:foregroundMark x1="97084" y1="59942" x2="96789" y2="47309"/>
                        <a14:foregroundMark x1="97201" y1="64932" x2="97192" y2="64527"/>
                        <a14:foregroundMark x1="97667" y1="84868" x2="97293" y2="68861"/>
                        <a14:foregroundMark x1="94375" y1="64479" x2="93500" y2="73026"/>
                        <a14:foregroundMark x1="94876" y1="59588" x2="94712" y2="61194"/>
                        <a14:foregroundMark x1="96051" y1="48119" x2="95243" y2="56013"/>
                        <a14:foregroundMark x1="96667" y1="42105" x2="96625" y2="42517"/>
                        <a14:foregroundMark x1="93500" y1="73026" x2="90167" y2="86842"/>
                        <a14:foregroundMark x1="86167" y1="90789" x2="94500" y2="88816"/>
                        <a14:foregroundMark x1="96000" y1="31579" x2="96167" y2="17763"/>
                        <a14:backgroundMark x1="2667" y1="65789" x2="2667" y2="65789"/>
                        <a14:backgroundMark x1="2167" y1="62500" x2="2000" y2="69079"/>
                        <a14:backgroundMark x1="1500" y1="65789" x2="1500" y2="77632"/>
                        <a14:backgroundMark x1="1000" y1="76316" x2="1167" y2="82237"/>
                        <a14:backgroundMark x1="2333" y1="40789" x2="1667" y2="47368"/>
                        <a14:backgroundMark x1="2667" y1="38816" x2="3500" y2="43421"/>
                        <a14:backgroundMark x1="97333" y1="65132" x2="97000" y2="68421"/>
                        <a14:backgroundMark x1="97667" y1="61184" x2="97167" y2="64474"/>
                        <a14:backgroundMark x1="97000" y1="42105" x2="97333" y2="467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520003" y="2816947"/>
            <a:ext cx="1111669" cy="281623"/>
          </a:xfrm>
          <a:prstGeom prst="rect">
            <a:avLst/>
          </a:prstGeom>
        </p:spPr>
      </p:pic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2BDAE46F-EE13-4118-9014-05318D766A43}"/>
              </a:ext>
            </a:extLst>
          </p:cNvPr>
          <p:cNvCxnSpPr>
            <a:cxnSpLocks/>
          </p:cNvCxnSpPr>
          <p:nvPr/>
        </p:nvCxnSpPr>
        <p:spPr>
          <a:xfrm>
            <a:off x="7212970" y="3339837"/>
            <a:ext cx="2778051" cy="1050427"/>
          </a:xfrm>
          <a:prstGeom prst="bentConnector3">
            <a:avLst>
              <a:gd name="adj1" fmla="val -41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0A3586B-C864-418B-BFA7-3A17E81B2B4A}"/>
              </a:ext>
            </a:extLst>
          </p:cNvPr>
          <p:cNvGrpSpPr/>
          <p:nvPr/>
        </p:nvGrpSpPr>
        <p:grpSpPr>
          <a:xfrm>
            <a:off x="7252973" y="4352876"/>
            <a:ext cx="1033614" cy="1222015"/>
            <a:chOff x="6112585" y="4087889"/>
            <a:chExt cx="562094" cy="825747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B200EB77-2E97-48C7-B0EF-E8F7F082C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772" b="89577" l="5322" r="89800">
                          <a14:foregroundMark x1="11308" y1="11726" x2="12417" y2="25407"/>
                          <a14:foregroundMark x1="5543" y1="30945" x2="5987" y2="40391"/>
                          <a14:foregroundMark x1="5987" y1="53094" x2="5543" y2="56678"/>
                          <a14:foregroundMark x1="87361" y1="12052" x2="89800" y2="1628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5980758" y="4219716"/>
              <a:ext cx="825747" cy="562094"/>
            </a:xfrm>
            <a:prstGeom prst="rect">
              <a:avLst/>
            </a:prstGeom>
          </p:spPr>
        </p:pic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02D97E6-2B6F-4503-B0A4-ECD6D3DA2A1D}"/>
                </a:ext>
              </a:extLst>
            </p:cNvPr>
            <p:cNvSpPr/>
            <p:nvPr/>
          </p:nvSpPr>
          <p:spPr>
            <a:xfrm rot="5400000">
              <a:off x="6124755" y="4363599"/>
              <a:ext cx="555853" cy="189534"/>
            </a:xfrm>
            <a:prstGeom prst="rect">
              <a:avLst/>
            </a:prstGeom>
            <a:solidFill>
              <a:srgbClr val="2B2B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CXL</a:t>
              </a:r>
              <a:endParaRPr lang="ko-KR" altLang="en-US" sz="105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8" name="내용 개체 틀 2">
            <a:extLst>
              <a:ext uri="{FF2B5EF4-FFF2-40B4-BE49-F238E27FC236}">
                <a16:creationId xmlns:a16="http://schemas.microsoft.com/office/drawing/2014/main" id="{2305625D-4B84-4FEF-8FE3-2F68168775B5}"/>
              </a:ext>
            </a:extLst>
          </p:cNvPr>
          <p:cNvSpPr txBox="1">
            <a:spLocks/>
          </p:cNvSpPr>
          <p:nvPr/>
        </p:nvSpPr>
        <p:spPr>
          <a:xfrm>
            <a:off x="6555475" y="4583156"/>
            <a:ext cx="1001990" cy="5224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ko-KR" sz="3200"/>
              <a:t>..</a:t>
            </a:r>
            <a:endParaRPr lang="en-US" altLang="ko-KR" sz="32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8A04DD1-6FCB-443B-AA28-C01CC50CED5F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7598954" y="2953309"/>
            <a:ext cx="336072" cy="44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내용 개체 틀 2">
            <a:extLst>
              <a:ext uri="{FF2B5EF4-FFF2-40B4-BE49-F238E27FC236}">
                <a16:creationId xmlns:a16="http://schemas.microsoft.com/office/drawing/2014/main" id="{20D3AD83-FA2F-4189-A325-9260F084F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8920" y="6291746"/>
            <a:ext cx="2502026" cy="375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CXL DRAM (512GiB)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내용 개체 틀 2">
            <a:extLst>
              <a:ext uri="{FF2B5EF4-FFF2-40B4-BE49-F238E27FC236}">
                <a16:creationId xmlns:a16="http://schemas.microsoft.com/office/drawing/2014/main" id="{042436D8-BCE2-4EE5-8E39-EC160B56A96E}"/>
              </a:ext>
            </a:extLst>
          </p:cNvPr>
          <p:cNvSpPr txBox="1">
            <a:spLocks/>
          </p:cNvSpPr>
          <p:nvPr/>
        </p:nvSpPr>
        <p:spPr>
          <a:xfrm>
            <a:off x="8208259" y="3754898"/>
            <a:ext cx="2367685" cy="409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DRAM (64GiB)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내용 개체 틀 2">
            <a:extLst>
              <a:ext uri="{FF2B5EF4-FFF2-40B4-BE49-F238E27FC236}">
                <a16:creationId xmlns:a16="http://schemas.microsoft.com/office/drawing/2014/main" id="{049BABD1-3429-4112-96CB-F184BC5058B3}"/>
              </a:ext>
            </a:extLst>
          </p:cNvPr>
          <p:cNvSpPr txBox="1">
            <a:spLocks/>
          </p:cNvSpPr>
          <p:nvPr/>
        </p:nvSpPr>
        <p:spPr>
          <a:xfrm>
            <a:off x="6452723" y="1003085"/>
            <a:ext cx="5739277" cy="923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system data (e.g., metadata for memory mgmt.) can 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fallback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CXL DRAM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18EE503-CE66-4E2A-8649-EC7C261202CC}"/>
              </a:ext>
            </a:extLst>
          </p:cNvPr>
          <p:cNvSpPr/>
          <p:nvPr/>
        </p:nvSpPr>
        <p:spPr>
          <a:xfrm>
            <a:off x="8210504" y="2167065"/>
            <a:ext cx="1189429" cy="15983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내용 개체 틀 2">
            <a:extLst>
              <a:ext uri="{FF2B5EF4-FFF2-40B4-BE49-F238E27FC236}">
                <a16:creationId xmlns:a16="http://schemas.microsoft.com/office/drawing/2014/main" id="{7A7746C2-E9F8-4A58-84B1-349DE59E533F}"/>
              </a:ext>
            </a:extLst>
          </p:cNvPr>
          <p:cNvSpPr txBox="1">
            <a:spLocks/>
          </p:cNvSpPr>
          <p:nvPr/>
        </p:nvSpPr>
        <p:spPr>
          <a:xfrm>
            <a:off x="8197004" y="2651220"/>
            <a:ext cx="1253837" cy="1049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2BCD1BCC-81FD-40F0-9ED0-0CA6A218738D}"/>
              </a:ext>
            </a:extLst>
          </p:cNvPr>
          <p:cNvSpPr/>
          <p:nvPr/>
        </p:nvSpPr>
        <p:spPr>
          <a:xfrm>
            <a:off x="9409389" y="2167065"/>
            <a:ext cx="745651" cy="15983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내용 개체 틀 2">
            <a:extLst>
              <a:ext uri="{FF2B5EF4-FFF2-40B4-BE49-F238E27FC236}">
                <a16:creationId xmlns:a16="http://schemas.microsoft.com/office/drawing/2014/main" id="{727A801B-32E1-4B2C-834B-02A2701EAFCE}"/>
              </a:ext>
            </a:extLst>
          </p:cNvPr>
          <p:cNvSpPr txBox="1">
            <a:spLocks/>
          </p:cNvSpPr>
          <p:nvPr/>
        </p:nvSpPr>
        <p:spPr>
          <a:xfrm>
            <a:off x="9393992" y="2651220"/>
            <a:ext cx="771463" cy="1049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(9G)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6C03988-150C-4B0A-9A23-CE0DD485F7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3850">
            <a:off x="10119786" y="1674775"/>
            <a:ext cx="628778" cy="628778"/>
          </a:xfrm>
          <a:prstGeom prst="rect">
            <a:avLst/>
          </a:prstGeom>
        </p:spPr>
      </p:pic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75B9B010-E6DD-4AD2-A24A-DC3DA5D4C9C0}"/>
              </a:ext>
            </a:extLst>
          </p:cNvPr>
          <p:cNvGrpSpPr/>
          <p:nvPr/>
        </p:nvGrpSpPr>
        <p:grpSpPr>
          <a:xfrm>
            <a:off x="946949" y="4286581"/>
            <a:ext cx="1033614" cy="1222015"/>
            <a:chOff x="6112585" y="4087889"/>
            <a:chExt cx="562094" cy="825747"/>
          </a:xfrm>
        </p:grpSpPr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EB51C2CA-7A67-4892-94F5-AC95530FC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772" b="89577" l="5322" r="89800">
                          <a14:foregroundMark x1="11308" y1="11726" x2="12417" y2="25407"/>
                          <a14:foregroundMark x1="5543" y1="30945" x2="5987" y2="40391"/>
                          <a14:foregroundMark x1="5987" y1="53094" x2="5543" y2="56678"/>
                          <a14:foregroundMark x1="87361" y1="12052" x2="89800" y2="1628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5400000">
              <a:off x="5980758" y="4219716"/>
              <a:ext cx="825747" cy="562094"/>
            </a:xfrm>
            <a:prstGeom prst="rect">
              <a:avLst/>
            </a:prstGeom>
          </p:spPr>
        </p:pic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AAA0CADF-76E5-4DF0-B0D7-26B19240373F}"/>
                </a:ext>
              </a:extLst>
            </p:cNvPr>
            <p:cNvSpPr/>
            <p:nvPr/>
          </p:nvSpPr>
          <p:spPr>
            <a:xfrm rot="5400000">
              <a:off x="6124755" y="4363599"/>
              <a:ext cx="555853" cy="189534"/>
            </a:xfrm>
            <a:prstGeom prst="rect">
              <a:avLst/>
            </a:prstGeom>
            <a:solidFill>
              <a:srgbClr val="2B2B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CXL</a:t>
              </a:r>
              <a:endParaRPr lang="ko-KR" altLang="en-US" sz="105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4" name="내용 개체 틀 2">
            <a:extLst>
              <a:ext uri="{FF2B5EF4-FFF2-40B4-BE49-F238E27FC236}">
                <a16:creationId xmlns:a16="http://schemas.microsoft.com/office/drawing/2014/main" id="{09A7E95F-C349-440A-A371-B71EAB91E656}"/>
              </a:ext>
            </a:extLst>
          </p:cNvPr>
          <p:cNvSpPr txBox="1">
            <a:spLocks/>
          </p:cNvSpPr>
          <p:nvPr/>
        </p:nvSpPr>
        <p:spPr>
          <a:xfrm>
            <a:off x="249451" y="4516861"/>
            <a:ext cx="1001990" cy="5224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ko-KR" sz="3200"/>
              <a:t>..</a:t>
            </a:r>
            <a:endParaRPr lang="en-US" altLang="ko-KR" sz="32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451036F-5B31-40B5-90C1-83E83EFE7F91}"/>
              </a:ext>
            </a:extLst>
          </p:cNvPr>
          <p:cNvGrpSpPr/>
          <p:nvPr/>
        </p:nvGrpSpPr>
        <p:grpSpPr>
          <a:xfrm>
            <a:off x="6806268" y="3018695"/>
            <a:ext cx="2474809" cy="2812136"/>
            <a:chOff x="6806268" y="3018695"/>
            <a:chExt cx="2474809" cy="2812136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0CB32D74-61C4-47A0-85E3-D9B8171C733C}"/>
                </a:ext>
              </a:extLst>
            </p:cNvPr>
            <p:cNvSpPr/>
            <p:nvPr/>
          </p:nvSpPr>
          <p:spPr>
            <a:xfrm>
              <a:off x="8460063" y="4623584"/>
              <a:ext cx="745651" cy="10785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내용 개체 틀 2">
              <a:extLst>
                <a:ext uri="{FF2B5EF4-FFF2-40B4-BE49-F238E27FC236}">
                  <a16:creationId xmlns:a16="http://schemas.microsoft.com/office/drawing/2014/main" id="{8F583B99-3AFD-4EF6-9FA4-A88246E1ACDF}"/>
                </a:ext>
              </a:extLst>
            </p:cNvPr>
            <p:cNvSpPr txBox="1">
              <a:spLocks/>
            </p:cNvSpPr>
            <p:nvPr/>
          </p:nvSpPr>
          <p:spPr>
            <a:xfrm>
              <a:off x="8509614" y="4781101"/>
              <a:ext cx="771463" cy="104973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ko-KR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Metadata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ko-KR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(10G)</a:t>
              </a:r>
              <a:endPara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94D5E200-1C7F-4BB0-90BF-8ECEBF5E2474}"/>
                    </a:ext>
                  </a:extLst>
                </p14:cNvPr>
                <p14:cNvContentPartPr/>
                <p14:nvPr/>
              </p14:nvContentPartPr>
              <p14:xfrm>
                <a:off x="7470248" y="3018695"/>
                <a:ext cx="1366920" cy="160164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94D5E200-1C7F-4BB0-90BF-8ECEBF5E24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61248" y="3009693"/>
                  <a:ext cx="1384560" cy="1619284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4" name="생각 풍선: 구름 모양 43">
              <a:extLst>
                <a:ext uri="{FF2B5EF4-FFF2-40B4-BE49-F238E27FC236}">
                  <a16:creationId xmlns:a16="http://schemas.microsoft.com/office/drawing/2014/main" id="{8A59DEEC-68A3-4141-855D-D6BBC6A8AAD9}"/>
                </a:ext>
              </a:extLst>
            </p:cNvPr>
            <p:cNvSpPr/>
            <p:nvPr/>
          </p:nvSpPr>
          <p:spPr>
            <a:xfrm rot="20936272" flipH="1">
              <a:off x="6806268" y="3388461"/>
              <a:ext cx="1001989" cy="615838"/>
            </a:xfrm>
            <a:prstGeom prst="cloudCallout">
              <a:avLst>
                <a:gd name="adj1" fmla="val -64211"/>
                <a:gd name="adj2" fmla="val -2520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내용 개체 틀 2">
              <a:extLst>
                <a:ext uri="{FF2B5EF4-FFF2-40B4-BE49-F238E27FC236}">
                  <a16:creationId xmlns:a16="http://schemas.microsoft.com/office/drawing/2014/main" id="{F8517739-6C36-4C85-9607-0EA831D56300}"/>
                </a:ext>
              </a:extLst>
            </p:cNvPr>
            <p:cNvSpPr txBox="1">
              <a:spLocks/>
            </p:cNvSpPr>
            <p:nvPr/>
          </p:nvSpPr>
          <p:spPr>
            <a:xfrm>
              <a:off x="7062287" y="3527474"/>
              <a:ext cx="771463" cy="104973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ko-KR" sz="1800" b="1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full!</a:t>
              </a:r>
              <a:endParaRPr lang="en-US" altLang="ko-KR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71B2664E-72D8-45A2-A9D7-80944E02C577}"/>
              </a:ext>
            </a:extLst>
          </p:cNvPr>
          <p:cNvSpPr txBox="1"/>
          <p:nvPr/>
        </p:nvSpPr>
        <p:spPr>
          <a:xfrm>
            <a:off x="2038346" y="4497464"/>
            <a:ext cx="307674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1. abundant</a:t>
            </a:r>
            <a:r>
              <a:rPr lang="en-US" altLang="ko-KR"/>
              <a:t> PCIe lanes</a:t>
            </a:r>
          </a:p>
        </p:txBody>
      </p:sp>
      <p:sp>
        <p:nvSpPr>
          <p:cNvPr id="45" name="내용 개체 틀 2">
            <a:extLst>
              <a:ext uri="{FF2B5EF4-FFF2-40B4-BE49-F238E27FC236}">
                <a16:creationId xmlns:a16="http://schemas.microsoft.com/office/drawing/2014/main" id="{BA6FC3C8-273B-4849-B518-3A3D9534C7D9}"/>
              </a:ext>
            </a:extLst>
          </p:cNvPr>
          <p:cNvSpPr txBox="1">
            <a:spLocks/>
          </p:cNvSpPr>
          <p:nvPr/>
        </p:nvSpPr>
        <p:spPr>
          <a:xfrm>
            <a:off x="168563" y="1481376"/>
            <a:ext cx="6095363" cy="5529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</a:t>
            </a:r>
            <a:r>
              <a:rPr lang="ko-KR" altLang="en-US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 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DDR DRAM : CXL DRAM = 1:4</a:t>
            </a:r>
          </a:p>
        </p:txBody>
      </p:sp>
    </p:spTree>
    <p:extLst>
      <p:ext uri="{BB962C8B-B14F-4D97-AF65-F5344CB8AC3E}">
        <p14:creationId xmlns:p14="http://schemas.microsoft.com/office/powerpoint/2010/main" val="328514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 animBg="1"/>
      <p:bldP spid="53" grpId="0"/>
      <p:bldP spid="54" grpId="0" animBg="1"/>
      <p:bldP spid="55" grpId="0" animBg="1"/>
      <p:bldP spid="78" grpId="0"/>
      <p:bldP spid="80" grpId="0" build="p"/>
      <p:bldP spid="82" grpId="0"/>
      <p:bldP spid="111" grpId="0"/>
      <p:bldP spid="12" grpId="0" animBg="1"/>
      <p:bldP spid="112" grpId="0"/>
      <p:bldP spid="113" grpId="0" animBg="1"/>
      <p:bldP spid="114" grpId="0"/>
      <p:bldP spid="124" grpId="0"/>
      <p:bldP spid="131" grpId="0" animBg="1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2" y="205038"/>
            <a:ext cx="11141529" cy="559666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Observations: Excessive Metadata and Latency Spikes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EC0CB-C1A3-FC91-299C-6D732CEBAC8A}"/>
              </a:ext>
            </a:extLst>
          </p:cNvPr>
          <p:cNvSpPr txBox="1"/>
          <p:nvPr/>
        </p:nvSpPr>
        <p:spPr>
          <a:xfrm>
            <a:off x="24057" y="845603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 is 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 </a:t>
            </a:r>
            <a:r>
              <a:rPr lang="en-US" altLang="ko-K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fit entirely 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DDR-DRAM</a:t>
            </a: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CXL DRAM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size </a:t>
            </a:r>
            <a:r>
              <a:rPr lang="ko-KR" alt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 </a:t>
            </a:r>
            <a:r>
              <a:rPr lang="ko-KR" altLang="en-US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↑</a:t>
            </a:r>
            <a:endParaRPr lang="en-US" altLang="ko-K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00" lvl="2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 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20-30%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DDR DRAM 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(DDR:CXL = 1:4 or 1:8)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33CBB64-11EA-1455-01A5-5E395D48B474}"/>
              </a:ext>
            </a:extLst>
          </p:cNvPr>
          <p:cNvSpPr txBox="1"/>
          <p:nvPr/>
        </p:nvSpPr>
        <p:spPr>
          <a:xfrm>
            <a:off x="24057" y="2478252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access during memory reclamation </a:t>
            </a:r>
            <a:r>
              <a:rPr lang="ko-KR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Latency spikes!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B80C6C8-3F6B-2AFB-58DB-8F273A008330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48" name="차트 47">
            <a:extLst>
              <a:ext uri="{FF2B5EF4-FFF2-40B4-BE49-F238E27FC236}">
                <a16:creationId xmlns:a16="http://schemas.microsoft.com/office/drawing/2014/main" id="{3ECE0AF1-E209-4793-546F-72BC9DE7EC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5984160"/>
              </p:ext>
            </p:extLst>
          </p:nvPr>
        </p:nvGraphicFramePr>
        <p:xfrm>
          <a:off x="8054203" y="3696943"/>
          <a:ext cx="3057493" cy="253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997D557F-A483-5B44-13AF-88906C4B384F}"/>
              </a:ext>
            </a:extLst>
          </p:cNvPr>
          <p:cNvSpPr txBox="1"/>
          <p:nvPr/>
        </p:nvSpPr>
        <p:spPr>
          <a:xfrm rot="16200000">
            <a:off x="6878188" y="4707243"/>
            <a:ext cx="1951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latin typeface="Calibri" panose="020F0502020204030204" pitchFamily="34" charset="0"/>
                <a:cs typeface="Calibri" panose="020F0502020204030204" pitchFamily="34" charset="0"/>
              </a:rPr>
              <a:t>99.9 tail latency (ms)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C66F14-7C86-92CC-4C22-48506C3F45A4}"/>
              </a:ext>
            </a:extLst>
          </p:cNvPr>
          <p:cNvSpPr txBox="1"/>
          <p:nvPr/>
        </p:nvSpPr>
        <p:spPr>
          <a:xfrm>
            <a:off x="7570608" y="5779980"/>
            <a:ext cx="4130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latin typeface="Calibri" panose="020F0502020204030204" pitchFamily="34" charset="0"/>
                <a:cs typeface="Calibri" panose="020F0502020204030204" pitchFamily="34" charset="0"/>
              </a:rPr>
              <a:t>App’s tail latency (LMDB with GET benchmark)</a:t>
            </a:r>
            <a:endParaRPr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1" name="그래픽 253" descr="우는 얼굴(윤곽선) 단색으로 채워진">
            <a:extLst>
              <a:ext uri="{FF2B5EF4-FFF2-40B4-BE49-F238E27FC236}">
                <a16:creationId xmlns:a16="http://schemas.microsoft.com/office/drawing/2014/main" id="{31298D27-FE14-3B0D-6A7A-6F688A287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6327" y="4062382"/>
            <a:ext cx="342461" cy="342461"/>
          </a:xfrm>
          <a:prstGeom prst="rect">
            <a:avLst/>
          </a:prstGeom>
        </p:spPr>
      </p:pic>
      <p:sp>
        <p:nvSpPr>
          <p:cNvPr id="52" name="화살표: 위쪽 257">
            <a:extLst>
              <a:ext uri="{FF2B5EF4-FFF2-40B4-BE49-F238E27FC236}">
                <a16:creationId xmlns:a16="http://schemas.microsoft.com/office/drawing/2014/main" id="{A6225DCD-4BED-6A52-43F0-DCE24B224B1E}"/>
              </a:ext>
            </a:extLst>
          </p:cNvPr>
          <p:cNvSpPr/>
          <p:nvPr/>
        </p:nvSpPr>
        <p:spPr>
          <a:xfrm>
            <a:off x="9255149" y="4454577"/>
            <a:ext cx="133617" cy="541736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4021BC-BEB4-F2DE-66DF-47E49DF47582}"/>
              </a:ext>
            </a:extLst>
          </p:cNvPr>
          <p:cNvSpPr txBox="1"/>
          <p:nvPr/>
        </p:nvSpPr>
        <p:spPr>
          <a:xfrm>
            <a:off x="9255532" y="4095112"/>
            <a:ext cx="489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70%</a:t>
            </a:r>
            <a:r>
              <a:rPr lang="ko-KR" altLang="en-US" sz="12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ko-KR" altLang="en-US" sz="12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사각형: 둥근 모서리 95">
            <a:extLst>
              <a:ext uri="{FF2B5EF4-FFF2-40B4-BE49-F238E27FC236}">
                <a16:creationId xmlns:a16="http://schemas.microsoft.com/office/drawing/2014/main" id="{511A34A3-BB5C-42AB-B4A3-C774488176AC}"/>
              </a:ext>
            </a:extLst>
          </p:cNvPr>
          <p:cNvSpPr/>
          <p:nvPr/>
        </p:nvSpPr>
        <p:spPr>
          <a:xfrm>
            <a:off x="681660" y="3500253"/>
            <a:ext cx="5291481" cy="60047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App</a:t>
            </a:r>
            <a:endParaRPr lang="ko-KR" altLang="en-US" sz="1400" b="1" dirty="0">
              <a:solidFill>
                <a:schemeClr val="tx1"/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119" name="사각형: 둥근 모서리 138">
            <a:extLst>
              <a:ext uri="{FF2B5EF4-FFF2-40B4-BE49-F238E27FC236}">
                <a16:creationId xmlns:a16="http://schemas.microsoft.com/office/drawing/2014/main" id="{626F1C41-DA26-48B4-9923-0E5AA4B8AA84}"/>
              </a:ext>
            </a:extLst>
          </p:cNvPr>
          <p:cNvSpPr/>
          <p:nvPr/>
        </p:nvSpPr>
        <p:spPr>
          <a:xfrm>
            <a:off x="3684724" y="4260870"/>
            <a:ext cx="2257155" cy="17410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  <a:p>
            <a:pPr algn="ctr"/>
            <a:endParaRPr lang="en-US" altLang="ko-KR" sz="1400"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  <a:p>
            <a:pPr algn="ctr"/>
            <a:endParaRPr lang="en-US" altLang="ko-KR" sz="1400"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6F7D98D3-C46B-4B5E-B405-978A9351FAD5}"/>
              </a:ext>
            </a:extLst>
          </p:cNvPr>
          <p:cNvSpPr/>
          <p:nvPr/>
        </p:nvSpPr>
        <p:spPr>
          <a:xfrm>
            <a:off x="2405379" y="4407511"/>
            <a:ext cx="1272741" cy="421213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Local DRAM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94F2C0A2-77FE-4D80-AC10-251996D88EFC}"/>
              </a:ext>
            </a:extLst>
          </p:cNvPr>
          <p:cNvSpPr/>
          <p:nvPr/>
        </p:nvSpPr>
        <p:spPr>
          <a:xfrm>
            <a:off x="4230360" y="4388233"/>
            <a:ext cx="1292284" cy="421213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CXL DRAM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099D71D7-3D34-4640-936F-D29A3AA76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161" y="3553440"/>
            <a:ext cx="556370" cy="519629"/>
          </a:xfrm>
          <a:prstGeom prst="rect">
            <a:avLst/>
          </a:prstGeom>
        </p:spPr>
      </p:pic>
      <p:pic>
        <p:nvPicPr>
          <p:cNvPr id="134" name="그림 133">
            <a:extLst>
              <a:ext uri="{FF2B5EF4-FFF2-40B4-BE49-F238E27FC236}">
                <a16:creationId xmlns:a16="http://schemas.microsoft.com/office/drawing/2014/main" id="{02694F27-2EF1-431E-B858-C1816FC96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6233" y="3653231"/>
            <a:ext cx="1236244" cy="325645"/>
          </a:xfrm>
          <a:prstGeom prst="rect">
            <a:avLst/>
          </a:prstGeom>
        </p:spPr>
      </p:pic>
      <p:pic>
        <p:nvPicPr>
          <p:cNvPr id="135" name="그림 134">
            <a:extLst>
              <a:ext uri="{FF2B5EF4-FFF2-40B4-BE49-F238E27FC236}">
                <a16:creationId xmlns:a16="http://schemas.microsoft.com/office/drawing/2014/main" id="{A74B1F83-246D-40D9-8C06-D0E59ABFCC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182" y="4322722"/>
            <a:ext cx="543190" cy="543190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5BE27A53-2208-4D55-9899-C9232567671C}"/>
              </a:ext>
            </a:extLst>
          </p:cNvPr>
          <p:cNvCxnSpPr>
            <a:cxnSpLocks/>
            <a:stCxn id="135" idx="3"/>
          </p:cNvCxnSpPr>
          <p:nvPr/>
        </p:nvCxnSpPr>
        <p:spPr>
          <a:xfrm>
            <a:off x="2092372" y="4594317"/>
            <a:ext cx="3392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1BB6A1C5-D25B-4882-96E8-8718608C91A5}"/>
              </a:ext>
            </a:extLst>
          </p:cNvPr>
          <p:cNvSpPr txBox="1"/>
          <p:nvPr/>
        </p:nvSpPr>
        <p:spPr>
          <a:xfrm>
            <a:off x="4865639" y="6086343"/>
            <a:ext cx="230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Metadata spill over!</a:t>
            </a:r>
            <a:endParaRPr lang="en-US" altLang="ko-KR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6C4814EF-17E5-4601-8043-AB25F6CD3D91}"/>
              </a:ext>
            </a:extLst>
          </p:cNvPr>
          <p:cNvSpPr/>
          <p:nvPr/>
        </p:nvSpPr>
        <p:spPr>
          <a:xfrm>
            <a:off x="4669700" y="5418650"/>
            <a:ext cx="1225720" cy="498654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kern="0">
                <a:solidFill>
                  <a:srgbClr val="0070C0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kernel medata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D993467C-F8C2-47B4-A92D-3D6309503B23}"/>
              </a:ext>
            </a:extLst>
          </p:cNvPr>
          <p:cNvGrpSpPr/>
          <p:nvPr/>
        </p:nvGrpSpPr>
        <p:grpSpPr>
          <a:xfrm>
            <a:off x="1365132" y="4747758"/>
            <a:ext cx="3500507" cy="1523251"/>
            <a:chOff x="2699572" y="4427292"/>
            <a:chExt cx="3500507" cy="1523251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1F396158-330F-4A2A-8764-FEB7144B70A2}"/>
                </a:ext>
              </a:extLst>
            </p:cNvPr>
            <p:cNvGrpSpPr/>
            <p:nvPr/>
          </p:nvGrpSpPr>
          <p:grpSpPr>
            <a:xfrm>
              <a:off x="3330606" y="5055608"/>
              <a:ext cx="899095" cy="840709"/>
              <a:chOff x="1451045" y="5036880"/>
              <a:chExt cx="899095" cy="840709"/>
            </a:xfrm>
          </p:grpSpPr>
          <p:pic>
            <p:nvPicPr>
              <p:cNvPr id="178" name="그림 177">
                <a:extLst>
                  <a:ext uri="{FF2B5EF4-FFF2-40B4-BE49-F238E27FC236}">
                    <a16:creationId xmlns:a16="http://schemas.microsoft.com/office/drawing/2014/main" id="{A8C3FA46-E661-4669-ACDA-59D30B49A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51045" y="5036880"/>
                <a:ext cx="840709" cy="840709"/>
              </a:xfrm>
              <a:prstGeom prst="rect">
                <a:avLst/>
              </a:prstGeom>
            </p:spPr>
          </p:pic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24BBD8D3-974C-456B-827C-5A7277D65B7A}"/>
                  </a:ext>
                </a:extLst>
              </p:cNvPr>
              <p:cNvSpPr/>
              <p:nvPr/>
            </p:nvSpPr>
            <p:spPr>
              <a:xfrm>
                <a:off x="1938097" y="5479507"/>
                <a:ext cx="412043" cy="1654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9CACE1E6-A78A-467C-9EBA-BB122DBE1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1862" flipH="1">
              <a:off x="3258107" y="4427292"/>
              <a:ext cx="1015970" cy="1196218"/>
            </a:xfrm>
            <a:prstGeom prst="rect">
              <a:avLst/>
            </a:prstGeom>
          </p:spPr>
        </p:pic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E9E59C0F-AC9B-4288-82B5-C14A92623F54}"/>
                </a:ext>
              </a:extLst>
            </p:cNvPr>
            <p:cNvSpPr/>
            <p:nvPr/>
          </p:nvSpPr>
          <p:spPr>
            <a:xfrm>
              <a:off x="3856469" y="4825614"/>
              <a:ext cx="416569" cy="4223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2" name="연결선: 꺾임 171">
              <a:extLst>
                <a:ext uri="{FF2B5EF4-FFF2-40B4-BE49-F238E27FC236}">
                  <a16:creationId xmlns:a16="http://schemas.microsoft.com/office/drawing/2014/main" id="{7DA80E5F-68E0-4049-B0E2-AA927E66D5EC}"/>
                </a:ext>
              </a:extLst>
            </p:cNvPr>
            <p:cNvCxnSpPr>
              <a:cxnSpLocks/>
              <a:stCxn id="189" idx="2"/>
              <a:endCxn id="154" idx="1"/>
            </p:cNvCxnSpPr>
            <p:nvPr/>
          </p:nvCxnSpPr>
          <p:spPr>
            <a:xfrm rot="16200000" flipH="1">
              <a:off x="5790997" y="5541461"/>
              <a:ext cx="282712" cy="535452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6AD29820-4C96-44F7-8751-5C584587DA36}"/>
                </a:ext>
              </a:extLst>
            </p:cNvPr>
            <p:cNvCxnSpPr/>
            <p:nvPr/>
          </p:nvCxnSpPr>
          <p:spPr>
            <a:xfrm>
              <a:off x="3786075" y="5040153"/>
              <a:ext cx="1558162" cy="468722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5271EEAF-0BCB-4386-800F-F32C00EA3E9B}"/>
                </a:ext>
              </a:extLst>
            </p:cNvPr>
            <p:cNvCxnSpPr/>
            <p:nvPr/>
          </p:nvCxnSpPr>
          <p:spPr>
            <a:xfrm>
              <a:off x="3810197" y="5562388"/>
              <a:ext cx="691133" cy="30961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29B49C61-C14A-4800-8074-5002454DE555}"/>
                </a:ext>
              </a:extLst>
            </p:cNvPr>
            <p:cNvSpPr/>
            <p:nvPr/>
          </p:nvSpPr>
          <p:spPr>
            <a:xfrm rot="16200000">
              <a:off x="2342486" y="4848714"/>
              <a:ext cx="1189844" cy="475672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1" kern="0">
                  <a:solidFill>
                    <a:prstClr val="black"/>
                  </a:solidFill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memory</a:t>
              </a:r>
              <a:r>
                <a:rPr kumimoji="0" lang="en-US" altLang="ko-KR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 </a:t>
              </a:r>
              <a:endParaRPr lang="en-US" altLang="ko-KR" sz="1600" b="1" kern="0">
                <a:solidFill>
                  <a:prstClr val="black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reclaimer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D1DA3E29-77B2-44A2-8FA5-B39F3F179A26}"/>
                </a:ext>
              </a:extLst>
            </p:cNvPr>
            <p:cNvSpPr/>
            <p:nvPr/>
          </p:nvSpPr>
          <p:spPr>
            <a:xfrm rot="821247">
              <a:off x="3706365" y="5349894"/>
              <a:ext cx="784572" cy="262283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100</a:t>
              </a:r>
              <a:r>
                <a:rPr lang="en-US" altLang="ko-KR" sz="1200" i="1" kern="0" dirty="0">
                  <a:solidFill>
                    <a:prstClr val="black"/>
                  </a:solidFill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ns</a:t>
              </a:r>
              <a:endParaRPr kumimoji="0" lang="en-US" altLang="ko-KR" sz="120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4E3F040C-49C3-4160-B2D5-35EE3F93ED3D}"/>
                </a:ext>
              </a:extLst>
            </p:cNvPr>
            <p:cNvSpPr/>
            <p:nvPr/>
          </p:nvSpPr>
          <p:spPr>
            <a:xfrm rot="821247">
              <a:off x="3825075" y="4868907"/>
              <a:ext cx="784572" cy="262283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250</a:t>
              </a:r>
              <a:r>
                <a:rPr lang="en-US" altLang="ko-KR" sz="1600" b="1" i="1" kern="0">
                  <a:solidFill>
                    <a:prstClr val="black"/>
                  </a:solidFill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ns</a:t>
              </a:r>
              <a:endParaRPr kumimoji="0" lang="en-US" altLang="ko-KR" sz="12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endParaRPr>
            </a:p>
          </p:txBody>
        </p:sp>
      </p:grpSp>
      <p:sp>
        <p:nvSpPr>
          <p:cNvPr id="180" name="사각형: 둥근 모서리 95">
            <a:extLst>
              <a:ext uri="{FF2B5EF4-FFF2-40B4-BE49-F238E27FC236}">
                <a16:creationId xmlns:a16="http://schemas.microsoft.com/office/drawing/2014/main" id="{E82A0590-1587-4EF3-987B-5A5D1B0CF661}"/>
              </a:ext>
            </a:extLst>
          </p:cNvPr>
          <p:cNvSpPr/>
          <p:nvPr/>
        </p:nvSpPr>
        <p:spPr>
          <a:xfrm>
            <a:off x="699154" y="4187916"/>
            <a:ext cx="5291481" cy="187390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>
                <a:solidFill>
                  <a:schemeClr val="tx1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Kernel</a:t>
            </a:r>
            <a:endParaRPr lang="ko-KR" altLang="en-US" sz="1400" b="1" dirty="0">
              <a:solidFill>
                <a:schemeClr val="tx1"/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C774EB5B-535D-4965-A811-A7C7C1DCF123}"/>
              </a:ext>
            </a:extLst>
          </p:cNvPr>
          <p:cNvSpPr/>
          <p:nvPr/>
        </p:nvSpPr>
        <p:spPr>
          <a:xfrm>
            <a:off x="2451636" y="4260870"/>
            <a:ext cx="1129607" cy="1741068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  <a:p>
            <a:pPr algn="ctr"/>
            <a:endParaRPr lang="en-US" altLang="ko-KR" sz="1400"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  <a:p>
            <a:pPr algn="ctr"/>
            <a:endParaRPr lang="en-US" altLang="ko-KR" sz="1400"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F41F5E7E-77D2-4C4B-8E4F-4F26961D8776}"/>
              </a:ext>
            </a:extLst>
          </p:cNvPr>
          <p:cNvGrpSpPr/>
          <p:nvPr/>
        </p:nvGrpSpPr>
        <p:grpSpPr>
          <a:xfrm>
            <a:off x="3049295" y="5133719"/>
            <a:ext cx="1603540" cy="858685"/>
            <a:chOff x="4383735" y="4813253"/>
            <a:chExt cx="1603540" cy="858685"/>
          </a:xfrm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729A4B66-4F6A-489F-8676-2EF58C276F9A}"/>
                </a:ext>
              </a:extLst>
            </p:cNvPr>
            <p:cNvSpPr/>
            <p:nvPr/>
          </p:nvSpPr>
          <p:spPr>
            <a:xfrm>
              <a:off x="5794560" y="5254553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2B0E2A95-0E21-4EAC-8984-EC8751E98E58}"/>
                </a:ext>
              </a:extLst>
            </p:cNvPr>
            <p:cNvSpPr/>
            <p:nvPr/>
          </p:nvSpPr>
          <p:spPr>
            <a:xfrm>
              <a:off x="4610746" y="5551629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62BFDF8A-E1A4-4953-A0BA-09EEDE66A9C9}"/>
                </a:ext>
              </a:extLst>
            </p:cNvPr>
            <p:cNvSpPr/>
            <p:nvPr/>
          </p:nvSpPr>
          <p:spPr>
            <a:xfrm>
              <a:off x="4610746" y="5408410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811C16F5-7F83-44BC-862A-F4B0E9C8E60F}"/>
                </a:ext>
              </a:extLst>
            </p:cNvPr>
            <p:cNvSpPr/>
            <p:nvPr/>
          </p:nvSpPr>
          <p:spPr>
            <a:xfrm rot="1931645">
              <a:off x="5444342" y="5005209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D46FB851-0F51-411B-BF8C-8B80C5F0C06A}"/>
                </a:ext>
              </a:extLst>
            </p:cNvPr>
            <p:cNvSpPr/>
            <p:nvPr/>
          </p:nvSpPr>
          <p:spPr>
            <a:xfrm>
              <a:off x="5570544" y="5551629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871B8043-2F37-4DE7-BD3E-08A46080E052}"/>
                </a:ext>
              </a:extLst>
            </p:cNvPr>
            <p:cNvSpPr/>
            <p:nvPr/>
          </p:nvSpPr>
          <p:spPr>
            <a:xfrm>
              <a:off x="5570544" y="5408410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06776FB6-5172-47A7-AAEE-F6DFA755CEB4}"/>
                </a:ext>
              </a:extLst>
            </p:cNvPr>
            <p:cNvSpPr/>
            <p:nvPr/>
          </p:nvSpPr>
          <p:spPr>
            <a:xfrm>
              <a:off x="5799110" y="5552983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956B94D7-50C2-43D8-9B47-DBB594806FA5}"/>
                </a:ext>
              </a:extLst>
            </p:cNvPr>
            <p:cNvSpPr/>
            <p:nvPr/>
          </p:nvSpPr>
          <p:spPr>
            <a:xfrm>
              <a:off x="5797696" y="5407558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8F0FDE62-7C9A-466C-9037-67A2808FC7A0}"/>
                </a:ext>
              </a:extLst>
            </p:cNvPr>
            <p:cNvSpPr/>
            <p:nvPr/>
          </p:nvSpPr>
          <p:spPr>
            <a:xfrm>
              <a:off x="4383735" y="5555736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323DD34A-F724-4250-9AF4-7E94CC5C2FAD}"/>
                </a:ext>
              </a:extLst>
            </p:cNvPr>
            <p:cNvSpPr/>
            <p:nvPr/>
          </p:nvSpPr>
          <p:spPr>
            <a:xfrm rot="19939612">
              <a:off x="5282833" y="5497332"/>
              <a:ext cx="188165" cy="11620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화살표: 오른쪽 201">
              <a:extLst>
                <a:ext uri="{FF2B5EF4-FFF2-40B4-BE49-F238E27FC236}">
                  <a16:creationId xmlns:a16="http://schemas.microsoft.com/office/drawing/2014/main" id="{4FCD9B02-4DE5-422E-8269-C93C0D2A3429}"/>
                </a:ext>
              </a:extLst>
            </p:cNvPr>
            <p:cNvSpPr/>
            <p:nvPr/>
          </p:nvSpPr>
          <p:spPr>
            <a:xfrm>
              <a:off x="5080387" y="5033014"/>
              <a:ext cx="287815" cy="65123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6ACC7CFF-8EBF-4BE8-80FD-BD62E75A80CB}"/>
                </a:ext>
              </a:extLst>
            </p:cNvPr>
            <p:cNvSpPr/>
            <p:nvPr/>
          </p:nvSpPr>
          <p:spPr>
            <a:xfrm rot="1947713">
              <a:off x="4711923" y="4813253"/>
              <a:ext cx="512766" cy="35654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spill over!</a:t>
              </a: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8ECE98-4728-496D-87B4-398ECA623C4D}"/>
              </a:ext>
            </a:extLst>
          </p:cNvPr>
          <p:cNvSpPr/>
          <p:nvPr/>
        </p:nvSpPr>
        <p:spPr>
          <a:xfrm>
            <a:off x="8853444" y="3325665"/>
            <a:ext cx="1625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Latency spikes!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2FF256-9AFB-485E-9022-B12F58CF2075}"/>
              </a:ext>
            </a:extLst>
          </p:cNvPr>
          <p:cNvSpPr txBox="1"/>
          <p:nvPr/>
        </p:nvSpPr>
        <p:spPr>
          <a:xfrm>
            <a:off x="24057" y="188010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400" b="1" u="sng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Spill over 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CXL DRAM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2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/>
      <p:bldGraphic spid="48" grpId="0">
        <p:bldAsOne/>
      </p:bldGraphic>
      <p:bldP spid="49" grpId="0"/>
      <p:bldP spid="50" grpId="0"/>
      <p:bldP spid="52" grpId="0" animBg="1"/>
      <p:bldP spid="53" grpId="0"/>
      <p:bldP spid="118" grpId="0" animBg="1"/>
      <p:bldP spid="119" grpId="0" animBg="1"/>
      <p:bldP spid="130" grpId="0"/>
      <p:bldP spid="131" grpId="0"/>
      <p:bldP spid="154" grpId="0"/>
      <p:bldP spid="155" grpId="0"/>
      <p:bldP spid="180" grpId="0" animBg="1"/>
      <p:bldP spid="181" grpId="0" animBg="1"/>
      <p:bldP spid="6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350AF-E271-4D55-94C8-8A53D8D8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66" y="87094"/>
            <a:ext cx="3124200" cy="662164"/>
          </a:xfrm>
        </p:spPr>
        <p:txBody>
          <a:bodyPr>
            <a:normAutofit fontScale="90000"/>
          </a:bodyPr>
          <a:lstStyle/>
          <a:p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41440C-E2F2-4033-B3D2-9026F063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151"/>
            <a:ext cx="10515600" cy="4351338"/>
          </a:xfrm>
        </p:spPr>
        <p:txBody>
          <a:bodyPr/>
          <a:lstStyle/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lvl="1"/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Rise of CXL DRAM Systems and Their Challenges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Motivation: </a:t>
            </a:r>
          </a:p>
          <a:p>
            <a:pPr lvl="1"/>
            <a:r>
              <a:rPr lang="en-US" altLang="ko-KR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reclamation slowdown and latency spikes in CXL DRAM systems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 Design &amp; Challenges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Experimental Evaluations</a:t>
            </a:r>
            <a:endParaRPr lang="ko-KR" altLang="en-US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960BD8-1667-451C-84BF-5EDD3FEB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5</a:t>
            </a:fld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99EA01C-FE7F-49F3-9596-941DA764AAC5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19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5AFF1B8-1E7E-36E7-9E18-E85E3841E605}"/>
              </a:ext>
            </a:extLst>
          </p:cNvPr>
          <p:cNvSpPr/>
          <p:nvPr/>
        </p:nvSpPr>
        <p:spPr>
          <a:xfrm>
            <a:off x="5840255" y="3593415"/>
            <a:ext cx="2209045" cy="1884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505DB107-71C7-8143-CBD9-F17978090EE3}"/>
              </a:ext>
            </a:extLst>
          </p:cNvPr>
          <p:cNvSpPr/>
          <p:nvPr/>
        </p:nvSpPr>
        <p:spPr>
          <a:xfrm>
            <a:off x="3249117" y="3597048"/>
            <a:ext cx="2450061" cy="18677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2" y="205038"/>
            <a:ext cx="12192000" cy="559666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Latency Spikes Occur Under Memory Pressure?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EC0CB-C1A3-FC91-299C-6D732CEBAC8A}"/>
              </a:ext>
            </a:extLst>
          </p:cNvPr>
          <p:cNvSpPr txBox="1"/>
          <p:nvPr/>
        </p:nvSpPr>
        <p:spPr>
          <a:xfrm>
            <a:off x="24057" y="961351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reclaimer (</a:t>
            </a:r>
            <a:r>
              <a:rPr lang="en-US" altLang="ko-K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Kswapd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accesses metadata iteratively</a:t>
            </a: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</a:t>
            </a: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descriptor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invalidate </a:t>
            </a:r>
            <a:r>
              <a:rPr lang="en-US" altLang="ko-K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indexing</a:t>
            </a:r>
          </a:p>
        </p:txBody>
      </p:sp>
      <p:sp>
        <p:nvSpPr>
          <p:cNvPr id="38" name="모서리가 둥근 직사각형 51">
            <a:extLst>
              <a:ext uri="{FF2B5EF4-FFF2-40B4-BE49-F238E27FC236}">
                <a16:creationId xmlns:a16="http://schemas.microsoft.com/office/drawing/2014/main" id="{476E9B16-661B-7EC1-0247-38774F5523A0}"/>
              </a:ext>
            </a:extLst>
          </p:cNvPr>
          <p:cNvSpPr/>
          <p:nvPr/>
        </p:nvSpPr>
        <p:spPr>
          <a:xfrm>
            <a:off x="1410403" y="2437913"/>
            <a:ext cx="6771640" cy="38907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02A2DC-4523-6181-70C5-A7ABEF12BAF6}"/>
              </a:ext>
            </a:extLst>
          </p:cNvPr>
          <p:cNvSpPr txBox="1"/>
          <p:nvPr/>
        </p:nvSpPr>
        <p:spPr>
          <a:xfrm>
            <a:off x="215757" y="4852359"/>
            <a:ext cx="132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10FE736-55D4-5210-6D9E-6D7F302B77DF}"/>
              </a:ext>
            </a:extLst>
          </p:cNvPr>
          <p:cNvCxnSpPr>
            <a:cxnSpLocks/>
            <a:endCxn id="120" idx="1"/>
          </p:cNvCxnSpPr>
          <p:nvPr/>
        </p:nvCxnSpPr>
        <p:spPr>
          <a:xfrm flipV="1">
            <a:off x="1859309" y="3239543"/>
            <a:ext cx="5377279" cy="102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C8B465-80C9-1E2C-F595-49701AC67291}"/>
              </a:ext>
            </a:extLst>
          </p:cNvPr>
          <p:cNvSpPr/>
          <p:nvPr/>
        </p:nvSpPr>
        <p:spPr>
          <a:xfrm>
            <a:off x="5127104" y="3111929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58B506-AD07-1B73-58ED-66431F84FA9F}"/>
              </a:ext>
            </a:extLst>
          </p:cNvPr>
          <p:cNvSpPr/>
          <p:nvPr/>
        </p:nvSpPr>
        <p:spPr>
          <a:xfrm>
            <a:off x="5564535" y="3111929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6C143A-D76C-48DF-FEE8-BA7EEB6FAF15}"/>
              </a:ext>
            </a:extLst>
          </p:cNvPr>
          <p:cNvSpPr/>
          <p:nvPr/>
        </p:nvSpPr>
        <p:spPr>
          <a:xfrm>
            <a:off x="6001966" y="3111929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CA05D0-1308-4E76-3D26-554539FF7265}"/>
              </a:ext>
            </a:extLst>
          </p:cNvPr>
          <p:cNvSpPr/>
          <p:nvPr/>
        </p:nvSpPr>
        <p:spPr>
          <a:xfrm>
            <a:off x="6423117" y="3111929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79B9A2-B4DA-F494-36C5-B3A1ADAA6769}"/>
              </a:ext>
            </a:extLst>
          </p:cNvPr>
          <p:cNvSpPr/>
          <p:nvPr/>
        </p:nvSpPr>
        <p:spPr>
          <a:xfrm>
            <a:off x="3249115" y="3116834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53867B-34C2-ACDF-C030-DAEFDE4A7D17}"/>
              </a:ext>
            </a:extLst>
          </p:cNvPr>
          <p:cNvSpPr/>
          <p:nvPr/>
        </p:nvSpPr>
        <p:spPr>
          <a:xfrm>
            <a:off x="3686546" y="3116834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EDD803-2DEE-4432-8872-A5169D8EEB7C}"/>
              </a:ext>
            </a:extLst>
          </p:cNvPr>
          <p:cNvSpPr/>
          <p:nvPr/>
        </p:nvSpPr>
        <p:spPr>
          <a:xfrm>
            <a:off x="4123977" y="3116834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7EE563-7800-9DF3-F9C2-590180BC5551}"/>
              </a:ext>
            </a:extLst>
          </p:cNvPr>
          <p:cNvSpPr/>
          <p:nvPr/>
        </p:nvSpPr>
        <p:spPr>
          <a:xfrm>
            <a:off x="4545128" y="3116834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46FEF62-4171-C890-9C0F-5F138C38C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960" y="4546547"/>
            <a:ext cx="298769" cy="16424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A17E79F-2687-BDB7-8FDB-A685B1C4A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605" y="4542529"/>
            <a:ext cx="298769" cy="1642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9D44F52-36F2-959C-9A22-60B513B96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394" y="4813968"/>
            <a:ext cx="298769" cy="164240"/>
          </a:xfrm>
          <a:prstGeom prst="rect">
            <a:avLst/>
          </a:prstGeom>
        </p:spPr>
      </p:pic>
      <p:cxnSp>
        <p:nvCxnSpPr>
          <p:cNvPr id="16" name="구부러진 연결선 274">
            <a:extLst>
              <a:ext uri="{FF2B5EF4-FFF2-40B4-BE49-F238E27FC236}">
                <a16:creationId xmlns:a16="http://schemas.microsoft.com/office/drawing/2014/main" id="{64F226E6-06C4-A82D-12F2-76F31259AC22}"/>
              </a:ext>
            </a:extLst>
          </p:cNvPr>
          <p:cNvCxnSpPr>
            <a:cxnSpLocks/>
          </p:cNvCxnSpPr>
          <p:nvPr/>
        </p:nvCxnSpPr>
        <p:spPr>
          <a:xfrm rot="5400000">
            <a:off x="4951629" y="4549411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2B73C0-F7D1-D1FC-8521-CE5C8DD5A0B9}"/>
                  </a:ext>
                </a:extLst>
              </p:cNvPr>
              <p:cNvSpPr txBox="1"/>
              <p:nvPr/>
            </p:nvSpPr>
            <p:spPr>
              <a:xfrm>
                <a:off x="3334255" y="4766659"/>
                <a:ext cx="17271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invalidate</a:t>
                </a:r>
                <a14:m>
                  <m:oMath xmlns:m="http://schemas.openxmlformats.org/officeDocument/2006/math">
                    <m:r>
                      <a:rPr lang="en-US" altLang="ko-KR" sz="12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ko-K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𝑿𝒂𝒓𝒓𝒂𝒚</m:t>
                    </m:r>
                  </m:oMath>
                </a14:m>
                <a:endParaRPr lang="en-US" altLang="ko-KR" sz="1200" b="1" i="1" dirty="0">
                  <a:solidFill>
                    <a:srgbClr val="0070C0"/>
                  </a:solid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en-US" altLang="ko-KR" sz="1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(= remove page from page cache)</a:t>
                </a:r>
                <a:endParaRPr lang="en-US" altLang="ko-KR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02B73C0-F7D1-D1FC-8521-CE5C8DD5A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255" y="4766659"/>
                <a:ext cx="1727165" cy="646331"/>
              </a:xfrm>
              <a:prstGeom prst="rect">
                <a:avLst/>
              </a:prstGeom>
              <a:blipFill>
                <a:blip r:embed="rId4"/>
                <a:stretch>
                  <a:fillRect l="-353" b="-66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141D348B-85C1-DCC4-34E2-F3BCA14AAAB0}"/>
              </a:ext>
            </a:extLst>
          </p:cNvPr>
          <p:cNvSpPr/>
          <p:nvPr/>
        </p:nvSpPr>
        <p:spPr>
          <a:xfrm>
            <a:off x="5193672" y="4364633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FEA7E2-1424-3EA2-0496-CD7116DDC817}"/>
              </a:ext>
            </a:extLst>
          </p:cNvPr>
          <p:cNvSpPr/>
          <p:nvPr/>
        </p:nvSpPr>
        <p:spPr>
          <a:xfrm>
            <a:off x="5123635" y="3667282"/>
            <a:ext cx="276225" cy="3088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5CA458-0E1E-7779-BA2C-B96B903BEFDA}"/>
              </a:ext>
            </a:extLst>
          </p:cNvPr>
          <p:cNvSpPr txBox="1"/>
          <p:nvPr/>
        </p:nvSpPr>
        <p:spPr>
          <a:xfrm>
            <a:off x="1752044" y="2797497"/>
            <a:ext cx="867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LRU list</a:t>
            </a:r>
            <a:endParaRPr lang="ko-KR" altLang="en-US" sz="1600" b="1" i="1" dirty="0">
              <a:latin typeface="Cambria Math" panose="02040503050406030204" pitchFamily="18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6C37B0C-363E-A78F-04F3-917B27FD74C1}"/>
              </a:ext>
            </a:extLst>
          </p:cNvPr>
          <p:cNvCxnSpPr>
            <a:cxnSpLocks/>
            <a:stCxn id="3" idx="2"/>
            <a:endCxn id="19" idx="0"/>
          </p:cNvCxnSpPr>
          <p:nvPr/>
        </p:nvCxnSpPr>
        <p:spPr>
          <a:xfrm flipH="1">
            <a:off x="5261748" y="3368372"/>
            <a:ext cx="3469" cy="298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2108E5D-89EE-8315-6227-59FC23BA2550}"/>
              </a:ext>
            </a:extLst>
          </p:cNvPr>
          <p:cNvCxnSpPr>
            <a:stCxn id="19" idx="2"/>
            <a:endCxn id="18" idx="0"/>
          </p:cNvCxnSpPr>
          <p:nvPr/>
        </p:nvCxnSpPr>
        <p:spPr>
          <a:xfrm>
            <a:off x="5261748" y="3976150"/>
            <a:ext cx="2857" cy="388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17BCC5-0FB1-F34D-5EF9-21FA7DE594CC}"/>
              </a:ext>
            </a:extLst>
          </p:cNvPr>
          <p:cNvSpPr txBox="1"/>
          <p:nvPr/>
        </p:nvSpPr>
        <p:spPr>
          <a:xfrm>
            <a:off x="5429983" y="3544009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..</a:t>
            </a:r>
            <a:endParaRPr lang="ko-KR" altLang="en-US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BB131E-2D05-EA46-F8E9-49C402E1CF63}"/>
              </a:ext>
            </a:extLst>
          </p:cNvPr>
          <p:cNvSpPr txBox="1"/>
          <p:nvPr/>
        </p:nvSpPr>
        <p:spPr>
          <a:xfrm>
            <a:off x="5001196" y="4936493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file0</a:t>
            </a:r>
            <a:endParaRPr lang="ko-KR" altLang="en-US" sz="120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B70011-9739-7A00-606A-C52356A928BD}"/>
                  </a:ext>
                </a:extLst>
              </p:cNvPr>
              <p:cNvSpPr txBox="1"/>
              <p:nvPr/>
            </p:nvSpPr>
            <p:spPr>
              <a:xfrm>
                <a:off x="3544737" y="3696203"/>
                <a:ext cx="20532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select victim page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𝑷𝒂𝒈𝒆</m:t>
                    </m:r>
                    <m:r>
                      <a:rPr lang="en-US" altLang="ko-K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altLang="ko-K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𝒅𝒆𝒔𝒄𝒓𝒊𝒑𝒕𝒐𝒓</m:t>
                    </m:r>
                  </m:oMath>
                </a14:m>
                <a:endParaRPr lang="en-US" altLang="ko-KR" sz="1200" b="1" i="1" dirty="0">
                  <a:solidFill>
                    <a:srgbClr val="0070C0"/>
                  </a:solidFill>
                  <a:latin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B70011-9739-7A00-606A-C52356A92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737" y="3696203"/>
                <a:ext cx="2053265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FB0A738B-19A6-900C-B0CD-13B9AB2DA966}"/>
              </a:ext>
            </a:extLst>
          </p:cNvPr>
          <p:cNvSpPr txBox="1"/>
          <p:nvPr/>
        </p:nvSpPr>
        <p:spPr>
          <a:xfrm>
            <a:off x="5065075" y="3081090"/>
            <a:ext cx="38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ptr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4151C4-93BD-F8FE-940C-A512217E7E2A}"/>
              </a:ext>
            </a:extLst>
          </p:cNvPr>
          <p:cNvSpPr txBox="1"/>
          <p:nvPr/>
        </p:nvSpPr>
        <p:spPr>
          <a:xfrm>
            <a:off x="4731437" y="4087634"/>
            <a:ext cx="5727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offset</a:t>
            </a:r>
            <a:endParaRPr lang="ko-KR" altLang="en-US" sz="12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664EA3-856D-2005-5A4E-011E7AC93917}"/>
              </a:ext>
            </a:extLst>
          </p:cNvPr>
          <p:cNvSpPr txBox="1"/>
          <p:nvPr/>
        </p:nvSpPr>
        <p:spPr>
          <a:xfrm>
            <a:off x="4994489" y="3692899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offset</a:t>
            </a:r>
            <a:endParaRPr lang="ko-KR" altLang="en-US" sz="105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9C98E2F-48CB-BCFA-0196-2F1B8C0D09D7}"/>
              </a:ext>
            </a:extLst>
          </p:cNvPr>
          <p:cNvSpPr/>
          <p:nvPr/>
        </p:nvSpPr>
        <p:spPr>
          <a:xfrm>
            <a:off x="4927394" y="4809799"/>
            <a:ext cx="147076" cy="16840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i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85" name="왼쪽 중괄호 84">
            <a:extLst>
              <a:ext uri="{FF2B5EF4-FFF2-40B4-BE49-F238E27FC236}">
                <a16:creationId xmlns:a16="http://schemas.microsoft.com/office/drawing/2014/main" id="{3331AAD8-6401-1046-C62C-D430C185344F}"/>
              </a:ext>
            </a:extLst>
          </p:cNvPr>
          <p:cNvSpPr/>
          <p:nvPr/>
        </p:nvSpPr>
        <p:spPr>
          <a:xfrm rot="5400000">
            <a:off x="6215858" y="1718687"/>
            <a:ext cx="183285" cy="24106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AA614A3-81BD-4634-B0B9-0A6FC090C0D9}"/>
              </a:ext>
            </a:extLst>
          </p:cNvPr>
          <p:cNvSpPr txBox="1"/>
          <p:nvPr/>
        </p:nvSpPr>
        <p:spPr>
          <a:xfrm>
            <a:off x="5276987" y="2469984"/>
            <a:ext cx="1611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 Victims for eviction</a:t>
            </a:r>
            <a:endParaRPr lang="ko-KR" alt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862D9B0-70C4-7A9C-06CE-1151974F0116}"/>
              </a:ext>
            </a:extLst>
          </p:cNvPr>
          <p:cNvSpPr txBox="1"/>
          <p:nvPr/>
        </p:nvSpPr>
        <p:spPr>
          <a:xfrm>
            <a:off x="145504" y="1951772"/>
            <a:ext cx="124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E7E7358-0C02-425B-ABD9-490682FDE5B2}"/>
              </a:ext>
            </a:extLst>
          </p:cNvPr>
          <p:cNvSpPr/>
          <p:nvPr/>
        </p:nvSpPr>
        <p:spPr>
          <a:xfrm>
            <a:off x="1448547" y="1952941"/>
            <a:ext cx="6771640" cy="368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EBBF3A-BDAB-AC67-E046-73123A32D56B}"/>
              </a:ext>
            </a:extLst>
          </p:cNvPr>
          <p:cNvSpPr txBox="1"/>
          <p:nvPr/>
        </p:nvSpPr>
        <p:spPr>
          <a:xfrm>
            <a:off x="3197823" y="5464815"/>
            <a:ext cx="209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Kswapd0</a:t>
            </a:r>
          </a:p>
          <a:p>
            <a:r>
              <a:rPr lang="en-US" altLang="ko-KR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(background reclaim)</a:t>
            </a:r>
            <a:endParaRPr lang="ko-KR" altLang="en-US" sz="1600" i="1" dirty="0">
              <a:latin typeface="Cambria Math" panose="02040503050406030204" pitchFamily="18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9CF0AF3-112C-9DD0-8F41-A2842E7D8C1C}"/>
              </a:ext>
            </a:extLst>
          </p:cNvPr>
          <p:cNvSpPr/>
          <p:nvPr/>
        </p:nvSpPr>
        <p:spPr>
          <a:xfrm>
            <a:off x="6832689" y="3111929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5777945" y="3903657"/>
            <a:ext cx="1204380" cy="812341"/>
            <a:chOff x="5772749" y="4086206"/>
            <a:chExt cx="1204380" cy="812341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E7CC967-342F-225B-0277-014850764812}"/>
                </a:ext>
              </a:extLst>
            </p:cNvPr>
            <p:cNvSpPr txBox="1"/>
            <p:nvPr/>
          </p:nvSpPr>
          <p:spPr>
            <a:xfrm>
              <a:off x="5822071" y="4086206"/>
              <a:ext cx="115505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i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Free space</a:t>
              </a:r>
              <a:endParaRPr lang="ko-KR" altLang="en-US" sz="1100" b="1" i="1" dirty="0">
                <a:latin typeface="Yu Gothic" panose="020B0400000000000000" pitchFamily="34" charset="-128"/>
                <a:ea typeface="나눔고딕" panose="020D0604000000000000" pitchFamily="50" charset="-127"/>
              </a:endParaRPr>
            </a:p>
          </p:txBody>
        </p:sp>
        <p:pic>
          <p:nvPicPr>
            <p:cNvPr id="101" name="그림 100" descr="클립아트, 디자인, 일러스트레이션, 예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977503D-0D30-A30C-EFB3-9BDAFBBBF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4385" y="4347816"/>
              <a:ext cx="550731" cy="550731"/>
            </a:xfrm>
            <a:prstGeom prst="rect">
              <a:avLst/>
            </a:prstGeom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3EF5291-B619-AF31-37DC-E092457557D7}"/>
                </a:ext>
              </a:extLst>
            </p:cNvPr>
            <p:cNvSpPr txBox="1"/>
            <p:nvPr/>
          </p:nvSpPr>
          <p:spPr>
            <a:xfrm>
              <a:off x="5772749" y="4328971"/>
              <a:ext cx="53473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b="1" i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Low!</a:t>
              </a:r>
              <a:endParaRPr lang="ko-KR" altLang="en-US" sz="1050" b="1" i="1" dirty="0">
                <a:latin typeface="Yu Gothic" panose="020B0400000000000000" pitchFamily="34" charset="-128"/>
                <a:ea typeface="나눔고딕" panose="020D0604000000000000" pitchFamily="50" charset="-127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0418D2B6-46DE-E6B8-DFD4-9692ECAA3E20}"/>
              </a:ext>
            </a:extLst>
          </p:cNvPr>
          <p:cNvSpPr txBox="1"/>
          <p:nvPr/>
        </p:nvSpPr>
        <p:spPr>
          <a:xfrm>
            <a:off x="5429983" y="5478910"/>
            <a:ext cx="2667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Application pause &amp; Reclaim</a:t>
            </a:r>
          </a:p>
          <a:p>
            <a:r>
              <a:rPr lang="en-US" altLang="ko-KR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(foreground reclaim)</a:t>
            </a:r>
            <a:endParaRPr lang="ko-KR" altLang="en-US" sz="1600" i="1" dirty="0">
              <a:latin typeface="Cambria Math" panose="02040503050406030204" pitchFamily="18" charset="0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B1BA074B-8C70-5689-6B09-168961401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902" y="4620653"/>
            <a:ext cx="298769" cy="16424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53A04602-8886-E264-88DE-F974BF83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547" y="4616635"/>
            <a:ext cx="298769" cy="164240"/>
          </a:xfrm>
          <a:prstGeom prst="rect">
            <a:avLst/>
          </a:prstGeom>
        </p:spPr>
      </p:pic>
      <p:cxnSp>
        <p:nvCxnSpPr>
          <p:cNvPr id="109" name="구부러진 연결선 274">
            <a:extLst>
              <a:ext uri="{FF2B5EF4-FFF2-40B4-BE49-F238E27FC236}">
                <a16:creationId xmlns:a16="http://schemas.microsoft.com/office/drawing/2014/main" id="{80285749-F446-6C42-24E1-02D8F2430FF6}"/>
              </a:ext>
            </a:extLst>
          </p:cNvPr>
          <p:cNvCxnSpPr>
            <a:cxnSpLocks/>
          </p:cNvCxnSpPr>
          <p:nvPr/>
        </p:nvCxnSpPr>
        <p:spPr>
          <a:xfrm rot="5400000">
            <a:off x="7071571" y="4623517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D79FD86-DE5E-B300-9D36-7CCDB070506A}"/>
              </a:ext>
            </a:extLst>
          </p:cNvPr>
          <p:cNvSpPr/>
          <p:nvPr/>
        </p:nvSpPr>
        <p:spPr>
          <a:xfrm>
            <a:off x="7313614" y="4438739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C102D8C-6D3B-3892-075C-8B181A44101F}"/>
              </a:ext>
            </a:extLst>
          </p:cNvPr>
          <p:cNvSpPr/>
          <p:nvPr/>
        </p:nvSpPr>
        <p:spPr>
          <a:xfrm>
            <a:off x="7243577" y="3679048"/>
            <a:ext cx="276225" cy="3088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691025E9-E095-7C73-2C13-A1D5A6610A78}"/>
              </a:ext>
            </a:extLst>
          </p:cNvPr>
          <p:cNvCxnSpPr>
            <a:cxnSpLocks/>
            <a:stCxn id="120" idx="2"/>
            <a:endCxn id="112" idx="0"/>
          </p:cNvCxnSpPr>
          <p:nvPr/>
        </p:nvCxnSpPr>
        <p:spPr>
          <a:xfrm>
            <a:off x="7374701" y="3367764"/>
            <a:ext cx="6989" cy="311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EFAC6F93-8D37-BC4A-8600-A13DB420AD06}"/>
              </a:ext>
            </a:extLst>
          </p:cNvPr>
          <p:cNvCxnSpPr>
            <a:stCxn id="112" idx="2"/>
            <a:endCxn id="111" idx="0"/>
          </p:cNvCxnSpPr>
          <p:nvPr/>
        </p:nvCxnSpPr>
        <p:spPr>
          <a:xfrm>
            <a:off x="7381690" y="3987916"/>
            <a:ext cx="2857" cy="450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ABEDFDE3-073C-D34D-97B2-700827386C8D}"/>
              </a:ext>
            </a:extLst>
          </p:cNvPr>
          <p:cNvSpPr txBox="1"/>
          <p:nvPr/>
        </p:nvSpPr>
        <p:spPr>
          <a:xfrm>
            <a:off x="7121138" y="5010599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file1</a:t>
            </a:r>
            <a:endParaRPr lang="ko-KR" altLang="en-US" sz="1200" i="1" dirty="0">
              <a:latin typeface="Cambria Math" panose="020405030504060302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DF2832F-F3F2-E7A9-5598-E4977A761AA9}"/>
              </a:ext>
            </a:extLst>
          </p:cNvPr>
          <p:cNvSpPr txBox="1"/>
          <p:nvPr/>
        </p:nvSpPr>
        <p:spPr>
          <a:xfrm>
            <a:off x="7114431" y="3704665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offset</a:t>
            </a:r>
            <a:endParaRPr lang="ko-KR" altLang="en-US" sz="1050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D4F02A3D-20F3-098E-93BC-BD29B4EC01C3}"/>
              </a:ext>
            </a:extLst>
          </p:cNvPr>
          <p:cNvSpPr/>
          <p:nvPr/>
        </p:nvSpPr>
        <p:spPr>
          <a:xfrm>
            <a:off x="7047336" y="4883905"/>
            <a:ext cx="147076" cy="16840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i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DDA86719-A57A-C880-B347-092B780A03D7}"/>
              </a:ext>
            </a:extLst>
          </p:cNvPr>
          <p:cNvSpPr/>
          <p:nvPr/>
        </p:nvSpPr>
        <p:spPr>
          <a:xfrm>
            <a:off x="7236588" y="3111321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920F800-F375-E226-4B7C-A385393F8BD6}"/>
              </a:ext>
            </a:extLst>
          </p:cNvPr>
          <p:cNvSpPr txBox="1"/>
          <p:nvPr/>
        </p:nvSpPr>
        <p:spPr>
          <a:xfrm>
            <a:off x="4412859" y="6352479"/>
            <a:ext cx="2495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DDR DRAM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모서리가 둥근 직사각형 51">
            <a:extLst>
              <a:ext uri="{FF2B5EF4-FFF2-40B4-BE49-F238E27FC236}">
                <a16:creationId xmlns:a16="http://schemas.microsoft.com/office/drawing/2014/main" id="{3AEDD602-3A5B-A513-F2B0-D990167FC11F}"/>
              </a:ext>
            </a:extLst>
          </p:cNvPr>
          <p:cNvSpPr/>
          <p:nvPr/>
        </p:nvSpPr>
        <p:spPr>
          <a:xfrm>
            <a:off x="8289308" y="2473411"/>
            <a:ext cx="3090088" cy="38552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83C5BD4-C2BA-DFE5-27F7-776E56F7952D}"/>
              </a:ext>
            </a:extLst>
          </p:cNvPr>
          <p:cNvSpPr txBox="1"/>
          <p:nvPr/>
        </p:nvSpPr>
        <p:spPr>
          <a:xfrm>
            <a:off x="9430482" y="6332831"/>
            <a:ext cx="212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Calibri" panose="020F0502020204030204" pitchFamily="34" charset="0"/>
                <a:cs typeface="Calibri" panose="020F0502020204030204" pitchFamily="34" charset="0"/>
              </a:rPr>
              <a:t>CXL DRAM</a:t>
            </a:r>
            <a:endParaRPr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9CD94E84-43FD-E0CC-7592-FB13A3337CC2}"/>
              </a:ext>
            </a:extLst>
          </p:cNvPr>
          <p:cNvCxnSpPr>
            <a:cxnSpLocks/>
            <a:endCxn id="141" idx="3"/>
          </p:cNvCxnSpPr>
          <p:nvPr/>
        </p:nvCxnSpPr>
        <p:spPr>
          <a:xfrm flipV="1">
            <a:off x="8810809" y="3281783"/>
            <a:ext cx="1826978" cy="120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21AD1DCC-38D7-8971-BF5C-E3271D292420}"/>
              </a:ext>
            </a:extLst>
          </p:cNvPr>
          <p:cNvSpPr/>
          <p:nvPr/>
        </p:nvSpPr>
        <p:spPr>
          <a:xfrm>
            <a:off x="9029111" y="3153561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2EB681A-BB06-71E3-C994-6E5A54A132F2}"/>
              </a:ext>
            </a:extLst>
          </p:cNvPr>
          <p:cNvSpPr/>
          <p:nvPr/>
        </p:nvSpPr>
        <p:spPr>
          <a:xfrm>
            <a:off x="9466542" y="3153561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3282FD2-872F-0A1F-7F55-B9C809D3BB6C}"/>
              </a:ext>
            </a:extLst>
          </p:cNvPr>
          <p:cNvSpPr/>
          <p:nvPr/>
        </p:nvSpPr>
        <p:spPr>
          <a:xfrm>
            <a:off x="9903973" y="3153561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BEF3F53-6D8F-17D4-6EB2-9801519D4504}"/>
              </a:ext>
            </a:extLst>
          </p:cNvPr>
          <p:cNvSpPr txBox="1"/>
          <p:nvPr/>
        </p:nvSpPr>
        <p:spPr>
          <a:xfrm>
            <a:off x="8276978" y="2831293"/>
            <a:ext cx="867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LRU list</a:t>
            </a:r>
            <a:endParaRPr lang="ko-KR" altLang="en-US" sz="1600" b="1" i="1" dirty="0">
              <a:latin typeface="Cambria Math" panose="02040503050406030204" pitchFamily="18" charset="0"/>
            </a:endParaRPr>
          </a:p>
        </p:txBody>
      </p:sp>
      <p:sp>
        <p:nvSpPr>
          <p:cNvPr id="139" name="왼쪽 중괄호 138">
            <a:extLst>
              <a:ext uri="{FF2B5EF4-FFF2-40B4-BE49-F238E27FC236}">
                <a16:creationId xmlns:a16="http://schemas.microsoft.com/office/drawing/2014/main" id="{4C735EF2-B5CB-C74B-1B1A-3B72795A2D17}"/>
              </a:ext>
            </a:extLst>
          </p:cNvPr>
          <p:cNvSpPr/>
          <p:nvPr/>
        </p:nvSpPr>
        <p:spPr>
          <a:xfrm rot="5400000">
            <a:off x="10145145" y="2632814"/>
            <a:ext cx="197098" cy="67944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E678C6A-F452-91CB-A340-6CFB847DBFDA}"/>
              </a:ext>
            </a:extLst>
          </p:cNvPr>
          <p:cNvSpPr txBox="1"/>
          <p:nvPr/>
        </p:nvSpPr>
        <p:spPr>
          <a:xfrm>
            <a:off x="9178994" y="2511616"/>
            <a:ext cx="1611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 Victims for eviction</a:t>
            </a:r>
            <a:endParaRPr lang="ko-KR" alt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C236790E-E834-29AC-C747-3DB2BCC07202}"/>
              </a:ext>
            </a:extLst>
          </p:cNvPr>
          <p:cNvSpPr/>
          <p:nvPr/>
        </p:nvSpPr>
        <p:spPr>
          <a:xfrm>
            <a:off x="10361562" y="3153561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8D0CEA7D-8AAE-6BEA-8C36-3398339B874B}"/>
              </a:ext>
            </a:extLst>
          </p:cNvPr>
          <p:cNvSpPr/>
          <p:nvPr/>
        </p:nvSpPr>
        <p:spPr>
          <a:xfrm>
            <a:off x="8949608" y="3630433"/>
            <a:ext cx="1826977" cy="18821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A53DF252-BC5F-763E-DD2F-D029F5B655AE}"/>
              </a:ext>
            </a:extLst>
          </p:cNvPr>
          <p:cNvCxnSpPr>
            <a:cxnSpLocks/>
          </p:cNvCxnSpPr>
          <p:nvPr/>
        </p:nvCxnSpPr>
        <p:spPr>
          <a:xfrm flipH="1">
            <a:off x="9977971" y="3427732"/>
            <a:ext cx="3469" cy="298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514BC38-7521-E1C6-562D-75B3BBB47D23}"/>
              </a:ext>
            </a:extLst>
          </p:cNvPr>
          <p:cNvSpPr txBox="1"/>
          <p:nvPr/>
        </p:nvSpPr>
        <p:spPr>
          <a:xfrm>
            <a:off x="10146206" y="3608564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..</a:t>
            </a:r>
            <a:endParaRPr lang="ko-KR" altLang="en-US" sz="2000" b="1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31E8DE4-8481-E43E-8410-53B6C33C3F2A}"/>
              </a:ext>
            </a:extLst>
          </p:cNvPr>
          <p:cNvSpPr txBox="1"/>
          <p:nvPr/>
        </p:nvSpPr>
        <p:spPr>
          <a:xfrm>
            <a:off x="9256283" y="5490410"/>
            <a:ext cx="2099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Kswapd1</a:t>
            </a:r>
          </a:p>
          <a:p>
            <a:r>
              <a:rPr lang="en-US" altLang="ko-KR" sz="16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(background reclaim)</a:t>
            </a:r>
            <a:endParaRPr lang="ko-KR" altLang="en-US" sz="1600" i="1" dirty="0">
              <a:latin typeface="Cambria Math" panose="02040503050406030204" pitchFamily="18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BA8AC7E-2412-D77D-C2DF-5BFA0A5068B4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슬라이드 번호 개체 틀 30"/>
          <p:cNvSpPr>
            <a:spLocks noGrp="1"/>
          </p:cNvSpPr>
          <p:nvPr>
            <p:ph type="sldNum" sz="quarter" idx="12"/>
          </p:nvPr>
        </p:nvSpPr>
        <p:spPr>
          <a:xfrm>
            <a:off x="9423166" y="6473820"/>
            <a:ext cx="2743200" cy="365125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8090384-3668-4F8F-9CDE-1FBAF5729A02}"/>
              </a:ext>
            </a:extLst>
          </p:cNvPr>
          <p:cNvGrpSpPr/>
          <p:nvPr/>
        </p:nvGrpSpPr>
        <p:grpSpPr>
          <a:xfrm>
            <a:off x="5846613" y="4800044"/>
            <a:ext cx="1096601" cy="873914"/>
            <a:chOff x="5869379" y="4683996"/>
            <a:chExt cx="1096601" cy="873914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0702A7FB-D051-486F-9C05-BED444BFD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69379" y="4740286"/>
              <a:ext cx="817624" cy="81762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75B11A-E6E2-41C2-A38E-7BBDC2A4E6C7}"/>
                </a:ext>
              </a:extLst>
            </p:cNvPr>
            <p:cNvSpPr txBox="1"/>
            <p:nvPr/>
          </p:nvSpPr>
          <p:spPr>
            <a:xfrm>
              <a:off x="6082340" y="4683996"/>
              <a:ext cx="883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tail latency</a:t>
              </a:r>
              <a:endParaRPr lang="ko-KR" altLang="en-US" sz="12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92" name="그림 91">
            <a:extLst>
              <a:ext uri="{FF2B5EF4-FFF2-40B4-BE49-F238E27FC236}">
                <a16:creationId xmlns:a16="http://schemas.microsoft.com/office/drawing/2014/main" id="{5D390852-7E47-42E5-8ADF-BBF622485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326" y="4591071"/>
            <a:ext cx="298769" cy="16424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782342E4-5EC1-4CE1-8FFE-C37C824C9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71" y="4587053"/>
            <a:ext cx="298769" cy="164240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7B70B7EF-D8C1-42E6-927A-44FD82C78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760" y="4858492"/>
            <a:ext cx="298769" cy="164240"/>
          </a:xfrm>
          <a:prstGeom prst="rect">
            <a:avLst/>
          </a:prstGeom>
        </p:spPr>
      </p:pic>
      <p:cxnSp>
        <p:nvCxnSpPr>
          <p:cNvPr id="96" name="구부러진 연결선 274">
            <a:extLst>
              <a:ext uri="{FF2B5EF4-FFF2-40B4-BE49-F238E27FC236}">
                <a16:creationId xmlns:a16="http://schemas.microsoft.com/office/drawing/2014/main" id="{6C65AB9D-1F6F-4940-B41A-F7638781D19A}"/>
              </a:ext>
            </a:extLst>
          </p:cNvPr>
          <p:cNvCxnSpPr>
            <a:cxnSpLocks/>
          </p:cNvCxnSpPr>
          <p:nvPr/>
        </p:nvCxnSpPr>
        <p:spPr>
          <a:xfrm rot="5400000">
            <a:off x="9664995" y="4593935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E6C03FF-FB08-4361-9B4E-1841151A2414}"/>
              </a:ext>
            </a:extLst>
          </p:cNvPr>
          <p:cNvSpPr/>
          <p:nvPr/>
        </p:nvSpPr>
        <p:spPr>
          <a:xfrm>
            <a:off x="9907038" y="4409157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CBAC69C2-7D21-46F6-9E65-DAB568677346}"/>
              </a:ext>
            </a:extLst>
          </p:cNvPr>
          <p:cNvSpPr/>
          <p:nvPr/>
        </p:nvSpPr>
        <p:spPr>
          <a:xfrm>
            <a:off x="9837001" y="3711806"/>
            <a:ext cx="276225" cy="3088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5EF7A0E-3D6F-4B2D-BAD6-48E708E4706A}"/>
              </a:ext>
            </a:extLst>
          </p:cNvPr>
          <p:cNvCxnSpPr>
            <a:stCxn id="99" idx="2"/>
            <a:endCxn id="97" idx="0"/>
          </p:cNvCxnSpPr>
          <p:nvPr/>
        </p:nvCxnSpPr>
        <p:spPr>
          <a:xfrm>
            <a:off x="9975114" y="4020674"/>
            <a:ext cx="2857" cy="388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33A4BAD-2EE1-403C-8D37-644D1D6F5950}"/>
              </a:ext>
            </a:extLst>
          </p:cNvPr>
          <p:cNvSpPr txBox="1"/>
          <p:nvPr/>
        </p:nvSpPr>
        <p:spPr>
          <a:xfrm>
            <a:off x="9714562" y="498101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latin typeface="Cambria Math" panose="02040503050406030204" pitchFamily="18" charset="0"/>
                <a:ea typeface="Cambria Math" panose="02040503050406030204" pitchFamily="18" charset="0"/>
              </a:rPr>
              <a:t>file2</a:t>
            </a:r>
            <a:endParaRPr lang="ko-KR" altLang="en-US" sz="1200" i="1" dirty="0">
              <a:latin typeface="Cambria Math" panose="02040503050406030204" pitchFamily="18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D178551-E544-4D57-B7A0-01FB09BE8D0F}"/>
              </a:ext>
            </a:extLst>
          </p:cNvPr>
          <p:cNvSpPr txBox="1"/>
          <p:nvPr/>
        </p:nvSpPr>
        <p:spPr>
          <a:xfrm>
            <a:off x="9444803" y="4132158"/>
            <a:ext cx="5727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offset</a:t>
            </a:r>
            <a:endParaRPr lang="ko-KR" altLang="en-US" sz="12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5FD4C4C-3E5E-4F7F-A5B8-262144232562}"/>
              </a:ext>
            </a:extLst>
          </p:cNvPr>
          <p:cNvSpPr txBox="1"/>
          <p:nvPr/>
        </p:nvSpPr>
        <p:spPr>
          <a:xfrm>
            <a:off x="9707855" y="3737423"/>
            <a:ext cx="543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/>
              <a:t>offset</a:t>
            </a:r>
            <a:endParaRPr lang="ko-KR" altLang="en-US" sz="105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8F42779-135C-43A2-946D-CBAB6825527A}"/>
              </a:ext>
            </a:extLst>
          </p:cNvPr>
          <p:cNvSpPr/>
          <p:nvPr/>
        </p:nvSpPr>
        <p:spPr>
          <a:xfrm>
            <a:off x="9640760" y="4854323"/>
            <a:ext cx="147076" cy="16840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i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EAF17E2-7392-4064-97DC-EDBC67188D15}"/>
              </a:ext>
            </a:extLst>
          </p:cNvPr>
          <p:cNvSpPr txBox="1"/>
          <p:nvPr/>
        </p:nvSpPr>
        <p:spPr>
          <a:xfrm>
            <a:off x="11447472" y="4409156"/>
            <a:ext cx="46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19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91" grpId="0" animBg="1"/>
      <p:bldP spid="17" grpId="0"/>
      <p:bldP spid="18" grpId="0" animBg="1"/>
      <p:bldP spid="19" grpId="0" animBg="1"/>
      <p:bldP spid="23" grpId="0"/>
      <p:bldP spid="24" grpId="0"/>
      <p:bldP spid="28" grpId="0"/>
      <p:bldP spid="30" grpId="0"/>
      <p:bldP spid="81" grpId="0"/>
      <p:bldP spid="82" grpId="0" animBg="1"/>
      <p:bldP spid="90" grpId="0"/>
      <p:bldP spid="105" grpId="0"/>
      <p:bldP spid="111" grpId="0" animBg="1"/>
      <p:bldP spid="112" grpId="0" animBg="1"/>
      <p:bldP spid="115" grpId="0"/>
      <p:bldP spid="118" grpId="0"/>
      <p:bldP spid="119" grpId="0" animBg="1"/>
      <p:bldP spid="123" grpId="0" animBg="1"/>
      <p:bldP spid="125" grpId="0"/>
      <p:bldP spid="129" grpId="0" animBg="1"/>
      <p:bldP spid="130" grpId="0" animBg="1"/>
      <p:bldP spid="131" grpId="0" animBg="1"/>
      <p:bldP spid="137" grpId="0"/>
      <p:bldP spid="139" grpId="0" animBg="1"/>
      <p:bldP spid="140" grpId="0"/>
      <p:bldP spid="141" grpId="0" animBg="1"/>
      <p:bldP spid="145" grpId="0" animBg="1"/>
      <p:bldP spid="155" grpId="0"/>
      <p:bldP spid="161" grpId="0"/>
      <p:bldP spid="97" grpId="0" animBg="1"/>
      <p:bldP spid="99" grpId="0" animBg="1"/>
      <p:bldP spid="103" grpId="0"/>
      <p:bldP spid="116" grpId="0"/>
      <p:bldP spid="117" grpId="0"/>
      <p:bldP spid="121" grpId="0" animBg="1"/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2" y="205038"/>
            <a:ext cx="11141529" cy="559666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Latency Spikes Occur Under Memory Pressure? (Cont.)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B80C6C8-3F6B-2AFB-58DB-8F273A008330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51">
            <a:extLst>
              <a:ext uri="{FF2B5EF4-FFF2-40B4-BE49-F238E27FC236}">
                <a16:creationId xmlns:a16="http://schemas.microsoft.com/office/drawing/2014/main" id="{A2ACC1DD-8570-4307-84C2-DBE30E56FCFD}"/>
              </a:ext>
            </a:extLst>
          </p:cNvPr>
          <p:cNvSpPr/>
          <p:nvPr/>
        </p:nvSpPr>
        <p:spPr>
          <a:xfrm>
            <a:off x="1027390" y="2919711"/>
            <a:ext cx="2405816" cy="20040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B04F61-F52E-499E-A26A-1A9F4C92B197}"/>
              </a:ext>
            </a:extLst>
          </p:cNvPr>
          <p:cNvSpPr txBox="1"/>
          <p:nvPr/>
        </p:nvSpPr>
        <p:spPr>
          <a:xfrm rot="16200000">
            <a:off x="137067" y="3511830"/>
            <a:ext cx="132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C8AA73D-E7A2-478D-9EEA-994AD49FD8B4}"/>
              </a:ext>
            </a:extLst>
          </p:cNvPr>
          <p:cNvSpPr txBox="1"/>
          <p:nvPr/>
        </p:nvSpPr>
        <p:spPr>
          <a:xfrm rot="16200000">
            <a:off x="440036" y="3689240"/>
            <a:ext cx="143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DDR DRAM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모서리가 둥근 직사각형 51">
            <a:extLst>
              <a:ext uri="{FF2B5EF4-FFF2-40B4-BE49-F238E27FC236}">
                <a16:creationId xmlns:a16="http://schemas.microsoft.com/office/drawing/2014/main" id="{D1D9E8F1-4DEF-4804-89CA-0B30AD187F0C}"/>
              </a:ext>
            </a:extLst>
          </p:cNvPr>
          <p:cNvSpPr/>
          <p:nvPr/>
        </p:nvSpPr>
        <p:spPr>
          <a:xfrm>
            <a:off x="3575529" y="2917867"/>
            <a:ext cx="2960344" cy="19685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B917F70-05FB-45BE-A25C-85DDCF167664}"/>
              </a:ext>
            </a:extLst>
          </p:cNvPr>
          <p:cNvSpPr txBox="1"/>
          <p:nvPr/>
        </p:nvSpPr>
        <p:spPr>
          <a:xfrm rot="16200000">
            <a:off x="3035796" y="3670026"/>
            <a:ext cx="139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Calibri" panose="020F0502020204030204" pitchFamily="34" charset="0"/>
                <a:cs typeface="Calibri" panose="020F0502020204030204" pitchFamily="34" charset="0"/>
              </a:rPr>
              <a:t>CXL DRAM</a:t>
            </a:r>
            <a:endParaRPr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5" name="그림 154">
            <a:extLst>
              <a:ext uri="{FF2B5EF4-FFF2-40B4-BE49-F238E27FC236}">
                <a16:creationId xmlns:a16="http://schemas.microsoft.com/office/drawing/2014/main" id="{BB84585B-64AB-4AA8-8C0E-D89D646A1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883" y="4091666"/>
            <a:ext cx="298769" cy="164240"/>
          </a:xfrm>
          <a:prstGeom prst="rect">
            <a:avLst/>
          </a:prstGeom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7BB0C8D9-AC95-4EA2-90AD-B3D5ECEA1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528" y="4087648"/>
            <a:ext cx="298769" cy="164240"/>
          </a:xfrm>
          <a:prstGeom prst="rect">
            <a:avLst/>
          </a:prstGeom>
        </p:spPr>
      </p:pic>
      <p:pic>
        <p:nvPicPr>
          <p:cNvPr id="163" name="그림 162">
            <a:extLst>
              <a:ext uri="{FF2B5EF4-FFF2-40B4-BE49-F238E27FC236}">
                <a16:creationId xmlns:a16="http://schemas.microsoft.com/office/drawing/2014/main" id="{9693460B-50C2-44D6-977C-6EDCA9521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317" y="4359087"/>
            <a:ext cx="298769" cy="164240"/>
          </a:xfrm>
          <a:prstGeom prst="rect">
            <a:avLst/>
          </a:prstGeom>
        </p:spPr>
      </p:pic>
      <p:cxnSp>
        <p:nvCxnSpPr>
          <p:cNvPr id="164" name="구부러진 연결선 274">
            <a:extLst>
              <a:ext uri="{FF2B5EF4-FFF2-40B4-BE49-F238E27FC236}">
                <a16:creationId xmlns:a16="http://schemas.microsoft.com/office/drawing/2014/main" id="{A7776C8A-CE01-4004-83D2-9744B9E94D81}"/>
              </a:ext>
            </a:extLst>
          </p:cNvPr>
          <p:cNvCxnSpPr>
            <a:cxnSpLocks/>
          </p:cNvCxnSpPr>
          <p:nvPr/>
        </p:nvCxnSpPr>
        <p:spPr>
          <a:xfrm rot="5400000">
            <a:off x="1734552" y="4094530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B013A608-DFD1-48B7-85F4-59CF764B49A7}"/>
              </a:ext>
            </a:extLst>
          </p:cNvPr>
          <p:cNvSpPr/>
          <p:nvPr/>
        </p:nvSpPr>
        <p:spPr>
          <a:xfrm>
            <a:off x="1976595" y="3909752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40565A2-DCFF-44A3-B2B2-140E1EDB5E31}"/>
              </a:ext>
            </a:extLst>
          </p:cNvPr>
          <p:cNvSpPr txBox="1"/>
          <p:nvPr/>
        </p:nvSpPr>
        <p:spPr>
          <a:xfrm>
            <a:off x="1697558" y="4542403"/>
            <a:ext cx="1221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>
                <a:latin typeface="Cambria Math" panose="02040503050406030204" pitchFamily="18" charset="0"/>
                <a:ea typeface="Cambria Math" panose="02040503050406030204" pitchFamily="18" charset="0"/>
              </a:rPr>
              <a:t>Xarray (file0)</a:t>
            </a:r>
            <a:endParaRPr lang="ko-KR" altLang="en-US" sz="1400" i="1" dirty="0">
              <a:latin typeface="Cambria Math" panose="02040503050406030204" pitchFamily="18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E20D640-F715-45E4-AF7A-8C8599497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850059"/>
              </p:ext>
            </p:extLst>
          </p:nvPr>
        </p:nvGraphicFramePr>
        <p:xfrm>
          <a:off x="1798368" y="3148768"/>
          <a:ext cx="64385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18">
                  <a:extLst>
                    <a:ext uri="{9D8B030D-6E8A-4147-A177-3AD203B41FA5}">
                      <a16:colId xmlns:a16="http://schemas.microsoft.com/office/drawing/2014/main" val="1835697380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3786752109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936844198"/>
                    </a:ext>
                  </a:extLst>
                </a:gridCol>
              </a:tblGrid>
              <a:tr h="147926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15008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B711516B-8FBE-4C35-9A87-9C965B2F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070633"/>
              </p:ext>
            </p:extLst>
          </p:nvPr>
        </p:nvGraphicFramePr>
        <p:xfrm>
          <a:off x="4269041" y="3137260"/>
          <a:ext cx="107309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18">
                  <a:extLst>
                    <a:ext uri="{9D8B030D-6E8A-4147-A177-3AD203B41FA5}">
                      <a16:colId xmlns:a16="http://schemas.microsoft.com/office/drawing/2014/main" val="1835697380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3786752109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936844198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2433873547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1773298961"/>
                    </a:ext>
                  </a:extLst>
                </a:gridCol>
              </a:tblGrid>
              <a:tr h="147926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15008"/>
                  </a:ext>
                </a:extLst>
              </a:tr>
            </a:tbl>
          </a:graphicData>
        </a:graphic>
      </p:graphicFrame>
      <p:pic>
        <p:nvPicPr>
          <p:cNvPr id="170" name="그림 169">
            <a:extLst>
              <a:ext uri="{FF2B5EF4-FFF2-40B4-BE49-F238E27FC236}">
                <a16:creationId xmlns:a16="http://schemas.microsoft.com/office/drawing/2014/main" id="{AF02EF4C-EEB2-4C03-8B3F-582388266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902" y="4009546"/>
            <a:ext cx="298769" cy="164240"/>
          </a:xfrm>
          <a:prstGeom prst="rect">
            <a:avLst/>
          </a:prstGeom>
        </p:spPr>
      </p:pic>
      <p:pic>
        <p:nvPicPr>
          <p:cNvPr id="171" name="그림 170">
            <a:extLst>
              <a:ext uri="{FF2B5EF4-FFF2-40B4-BE49-F238E27FC236}">
                <a16:creationId xmlns:a16="http://schemas.microsoft.com/office/drawing/2014/main" id="{23C77709-B70A-4939-B2F1-0879A8342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47" y="4005528"/>
            <a:ext cx="298769" cy="164240"/>
          </a:xfrm>
          <a:prstGeom prst="rect">
            <a:avLst/>
          </a:prstGeom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9AABF0B4-E4D5-4D27-AA96-8E3FAA949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36" y="4276967"/>
            <a:ext cx="298769" cy="164240"/>
          </a:xfrm>
          <a:prstGeom prst="rect">
            <a:avLst/>
          </a:prstGeom>
        </p:spPr>
      </p:pic>
      <p:cxnSp>
        <p:nvCxnSpPr>
          <p:cNvPr id="173" name="구부러진 연결선 274">
            <a:extLst>
              <a:ext uri="{FF2B5EF4-FFF2-40B4-BE49-F238E27FC236}">
                <a16:creationId xmlns:a16="http://schemas.microsoft.com/office/drawing/2014/main" id="{E1732518-4C80-410F-976D-D3394B9379BD}"/>
              </a:ext>
            </a:extLst>
          </p:cNvPr>
          <p:cNvCxnSpPr>
            <a:cxnSpLocks/>
          </p:cNvCxnSpPr>
          <p:nvPr/>
        </p:nvCxnSpPr>
        <p:spPr>
          <a:xfrm rot="5400000">
            <a:off x="4300571" y="4012410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E7B1B288-6473-4544-868A-138E45D0BE63}"/>
              </a:ext>
            </a:extLst>
          </p:cNvPr>
          <p:cNvSpPr/>
          <p:nvPr/>
        </p:nvSpPr>
        <p:spPr>
          <a:xfrm>
            <a:off x="4542614" y="3827632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430B9CB-6C77-4B97-9ABA-BC28B6885494}"/>
              </a:ext>
            </a:extLst>
          </p:cNvPr>
          <p:cNvSpPr txBox="1"/>
          <p:nvPr/>
        </p:nvSpPr>
        <p:spPr>
          <a:xfrm>
            <a:off x="3823738" y="4460283"/>
            <a:ext cx="1221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>
                <a:latin typeface="Cambria Math" panose="02040503050406030204" pitchFamily="18" charset="0"/>
                <a:ea typeface="Cambria Math" panose="02040503050406030204" pitchFamily="18" charset="0"/>
              </a:rPr>
              <a:t>Xarray (file1)</a:t>
            </a:r>
            <a:endParaRPr lang="ko-KR" altLang="en-US" sz="1400" i="1" dirty="0">
              <a:latin typeface="Cambria Math" panose="02040503050406030204" pitchFamily="18" charset="0"/>
            </a:endParaRPr>
          </a:p>
        </p:txBody>
      </p:sp>
      <p:pic>
        <p:nvPicPr>
          <p:cNvPr id="176" name="그림 175">
            <a:extLst>
              <a:ext uri="{FF2B5EF4-FFF2-40B4-BE49-F238E27FC236}">
                <a16:creationId xmlns:a16="http://schemas.microsoft.com/office/drawing/2014/main" id="{6457B2A4-7E4B-4B4D-9583-C7D470E49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335" y="3976752"/>
            <a:ext cx="298769" cy="164240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53C6E66C-A07D-44D2-9D44-76E9C8318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980" y="3972734"/>
            <a:ext cx="298769" cy="164240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0ACE3A52-68A9-4064-957B-0655ECDB1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769" y="4244173"/>
            <a:ext cx="298769" cy="164240"/>
          </a:xfrm>
          <a:prstGeom prst="rect">
            <a:avLst/>
          </a:prstGeom>
        </p:spPr>
      </p:pic>
      <p:cxnSp>
        <p:nvCxnSpPr>
          <p:cNvPr id="179" name="구부러진 연결선 274">
            <a:extLst>
              <a:ext uri="{FF2B5EF4-FFF2-40B4-BE49-F238E27FC236}">
                <a16:creationId xmlns:a16="http://schemas.microsoft.com/office/drawing/2014/main" id="{2C8CAC4B-AD0C-4C31-B737-802B9DF07C70}"/>
              </a:ext>
            </a:extLst>
          </p:cNvPr>
          <p:cNvCxnSpPr>
            <a:cxnSpLocks/>
          </p:cNvCxnSpPr>
          <p:nvPr/>
        </p:nvCxnSpPr>
        <p:spPr>
          <a:xfrm rot="5400000">
            <a:off x="5078004" y="3979616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875DB53-24C6-4506-ACD0-0AE3ECFCE937}"/>
              </a:ext>
            </a:extLst>
          </p:cNvPr>
          <p:cNvSpPr/>
          <p:nvPr/>
        </p:nvSpPr>
        <p:spPr>
          <a:xfrm>
            <a:off x="5320047" y="3794838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6BBC3AF-55B7-40D6-B0DF-AE9EE9C71FAE}"/>
              </a:ext>
            </a:extLst>
          </p:cNvPr>
          <p:cNvSpPr txBox="1"/>
          <p:nvPr/>
        </p:nvSpPr>
        <p:spPr>
          <a:xfrm>
            <a:off x="5041010" y="4462214"/>
            <a:ext cx="1221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>
                <a:latin typeface="Cambria Math" panose="02040503050406030204" pitchFamily="18" charset="0"/>
                <a:ea typeface="Cambria Math" panose="02040503050406030204" pitchFamily="18" charset="0"/>
              </a:rPr>
              <a:t>Xarray (file2)</a:t>
            </a:r>
            <a:endParaRPr lang="ko-KR" altLang="en-US" sz="1400" i="1" dirty="0">
              <a:latin typeface="Cambria Math" panose="02040503050406030204" pitchFamily="18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6F326C2-9CE0-4B28-808C-6FA738186B4A}"/>
              </a:ext>
            </a:extLst>
          </p:cNvPr>
          <p:cNvSpPr txBox="1"/>
          <p:nvPr/>
        </p:nvSpPr>
        <p:spPr>
          <a:xfrm>
            <a:off x="1309595" y="3388720"/>
            <a:ext cx="2165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>
                <a:latin typeface="Cambria Math" panose="02040503050406030204" pitchFamily="18" charset="0"/>
                <a:ea typeface="Cambria Math" panose="02040503050406030204" pitchFamily="18" charset="0"/>
              </a:rPr>
              <a:t>page descriptors for Local</a:t>
            </a:r>
            <a:endParaRPr lang="ko-KR" altLang="en-US" sz="1400" i="1" dirty="0">
              <a:latin typeface="Cambria Math" panose="02040503050406030204" pitchFamily="18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DA1965A-84C8-45C4-87C1-4C1E6CBAD40E}"/>
              </a:ext>
            </a:extLst>
          </p:cNvPr>
          <p:cNvSpPr txBox="1"/>
          <p:nvPr/>
        </p:nvSpPr>
        <p:spPr>
          <a:xfrm>
            <a:off x="3857383" y="3382107"/>
            <a:ext cx="2628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>
                <a:latin typeface="Cambria Math" panose="02040503050406030204" pitchFamily="18" charset="0"/>
                <a:ea typeface="Cambria Math" panose="02040503050406030204" pitchFamily="18" charset="0"/>
              </a:rPr>
              <a:t>page descriptors for  CXL DRAM</a:t>
            </a:r>
            <a:endParaRPr lang="ko-KR" altLang="en-US" sz="1400" i="1" dirty="0">
              <a:latin typeface="Cambria Math" panose="02040503050406030204" pitchFamily="18" charset="0"/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F46E4F09-792E-41E0-A05E-707A15DEA2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76" y="1881165"/>
            <a:ext cx="773055" cy="773055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383585-7956-432A-854D-C1B379B7D3C2}"/>
              </a:ext>
            </a:extLst>
          </p:cNvPr>
          <p:cNvCxnSpPr>
            <a:cxnSpLocks/>
            <a:stCxn id="186" idx="2"/>
            <a:endCxn id="62" idx="0"/>
          </p:cNvCxnSpPr>
          <p:nvPr/>
        </p:nvCxnSpPr>
        <p:spPr>
          <a:xfrm flipH="1">
            <a:off x="2230298" y="2654220"/>
            <a:ext cx="8706" cy="2654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35D1CC29-7F85-4F9F-9545-55B5CD6A1458}"/>
              </a:ext>
            </a:extLst>
          </p:cNvPr>
          <p:cNvSpPr txBox="1"/>
          <p:nvPr/>
        </p:nvSpPr>
        <p:spPr>
          <a:xfrm>
            <a:off x="7160201" y="3172968"/>
            <a:ext cx="889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only-DDR</a:t>
            </a:r>
          </a:p>
          <a:p>
            <a:r>
              <a:rPr lang="en-US" altLang="ko-KR" sz="1400" b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system</a:t>
            </a:r>
            <a:endParaRPr lang="ko-KR" altLang="en-US" sz="1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5718480-6685-44EA-A8FB-53B5AD6D1C66}"/>
              </a:ext>
            </a:extLst>
          </p:cNvPr>
          <p:cNvSpPr txBox="1"/>
          <p:nvPr/>
        </p:nvSpPr>
        <p:spPr>
          <a:xfrm>
            <a:off x="7177604" y="3776041"/>
            <a:ext cx="901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DDR+CXL</a:t>
            </a:r>
          </a:p>
          <a:p>
            <a:r>
              <a:rPr lang="en-US" altLang="ko-KR" sz="1400" b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system</a:t>
            </a:r>
            <a:endParaRPr lang="ko-KR" altLang="en-US" sz="1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89" name="차트 188">
            <a:extLst>
              <a:ext uri="{FF2B5EF4-FFF2-40B4-BE49-F238E27FC236}">
                <a16:creationId xmlns:a16="http://schemas.microsoft.com/office/drawing/2014/main" id="{80112439-C33F-46D6-9A61-6FA6D8CA84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5788727"/>
              </p:ext>
            </p:extLst>
          </p:nvPr>
        </p:nvGraphicFramePr>
        <p:xfrm>
          <a:off x="7494315" y="2791654"/>
          <a:ext cx="3598484" cy="2600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2" name="TextBox 201">
            <a:extLst>
              <a:ext uri="{FF2B5EF4-FFF2-40B4-BE49-F238E27FC236}">
                <a16:creationId xmlns:a16="http://schemas.microsoft.com/office/drawing/2014/main" id="{A4A958D8-E178-4CA9-BB47-1C26F58C3B8C}"/>
              </a:ext>
            </a:extLst>
          </p:cNvPr>
          <p:cNvSpPr txBox="1"/>
          <p:nvPr/>
        </p:nvSpPr>
        <p:spPr>
          <a:xfrm>
            <a:off x="4666627" y="2347350"/>
            <a:ext cx="684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250ns</a:t>
            </a:r>
            <a:endParaRPr lang="ko-KR" altLang="en-US"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A6625F9B-319E-466A-9935-0B69DDCD2082}"/>
              </a:ext>
            </a:extLst>
          </p:cNvPr>
          <p:cNvSpPr txBox="1"/>
          <p:nvPr/>
        </p:nvSpPr>
        <p:spPr>
          <a:xfrm>
            <a:off x="2607835" y="2095222"/>
            <a:ext cx="1151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Kswapd0/1</a:t>
            </a:r>
            <a:endParaRPr lang="en-US" altLang="ko-KR" sz="1600" b="1" i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191BF8E0-5F7D-407E-A789-76705193CEC1}"/>
              </a:ext>
            </a:extLst>
          </p:cNvPr>
          <p:cNvCxnSpPr>
            <a:cxnSpLocks/>
          </p:cNvCxnSpPr>
          <p:nvPr/>
        </p:nvCxnSpPr>
        <p:spPr>
          <a:xfrm flipH="1">
            <a:off x="2584545" y="2490902"/>
            <a:ext cx="357697" cy="646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6A6A9E89-E046-401B-AEB0-71343240F9A9}"/>
              </a:ext>
            </a:extLst>
          </p:cNvPr>
          <p:cNvSpPr txBox="1"/>
          <p:nvPr/>
        </p:nvSpPr>
        <p:spPr>
          <a:xfrm>
            <a:off x="2947477" y="2557602"/>
            <a:ext cx="684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100ns</a:t>
            </a:r>
            <a:endParaRPr lang="ko-KR" altLang="en-US" sz="1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9A3DA14-7E6E-43CD-828E-4A2B7D3779F1}"/>
              </a:ext>
            </a:extLst>
          </p:cNvPr>
          <p:cNvSpPr txBox="1"/>
          <p:nvPr/>
        </p:nvSpPr>
        <p:spPr>
          <a:xfrm>
            <a:off x="4197572" y="2103608"/>
            <a:ext cx="1948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Reclaim efficiency </a:t>
            </a:r>
            <a:r>
              <a:rPr lang="ko-KR" altLang="en-US" sz="1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endParaRPr lang="ko-KR" altLang="en-US" sz="16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id="{6D0EC2B9-660B-4E4B-80B2-7A10AC49DB42}"/>
              </a:ext>
            </a:extLst>
          </p:cNvPr>
          <p:cNvCxnSpPr>
            <a:cxnSpLocks/>
            <a:stCxn id="203" idx="3"/>
          </p:cNvCxnSpPr>
          <p:nvPr/>
        </p:nvCxnSpPr>
        <p:spPr>
          <a:xfrm>
            <a:off x="3759625" y="2264499"/>
            <a:ext cx="1091461" cy="7526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B4E5E0B3-F12A-4F5D-A948-60107020F752}"/>
              </a:ext>
            </a:extLst>
          </p:cNvPr>
          <p:cNvSpPr txBox="1"/>
          <p:nvPr/>
        </p:nvSpPr>
        <p:spPr>
          <a:xfrm>
            <a:off x="7542331" y="2337660"/>
            <a:ext cx="368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Kswapd0/1 reclamation breakdown</a:t>
            </a:r>
            <a:endParaRPr lang="en-US" altLang="ko-KR" b="1" i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B759E1-7605-4BE8-AFB1-7352D2F8A70D}"/>
              </a:ext>
            </a:extLst>
          </p:cNvPr>
          <p:cNvSpPr txBox="1"/>
          <p:nvPr/>
        </p:nvSpPr>
        <p:spPr>
          <a:xfrm>
            <a:off x="1418233" y="5575178"/>
            <a:ext cx="9797157" cy="83099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8000">
                <a:schemeClr val="accent4">
                  <a:lumMod val="20000"/>
                  <a:lumOff val="80000"/>
                </a:schemeClr>
              </a:gs>
              <a:gs pos="57000">
                <a:schemeClr val="accent4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background reclamation efficiency due to remote memory access  </a:t>
            </a:r>
            <a:r>
              <a:rPr lang="ko-KR" altLang="en-US" sz="2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altLang="ko-KR" sz="2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Trigger foreground page reclamations </a:t>
            </a:r>
            <a:endParaRPr lang="ko-KR" altLang="en-US" sz="2400" b="1" i="1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" name="그래픽 253" descr="우는 얼굴(윤곽선) 단색으로 채워진">
            <a:extLst>
              <a:ext uri="{FF2B5EF4-FFF2-40B4-BE49-F238E27FC236}">
                <a16:creationId xmlns:a16="http://schemas.microsoft.com/office/drawing/2014/main" id="{1B6F4E41-4575-4350-AFDE-5839058849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43723" y="3253980"/>
            <a:ext cx="342461" cy="342461"/>
          </a:xfrm>
          <a:prstGeom prst="rect">
            <a:avLst/>
          </a:prstGeom>
        </p:spPr>
      </p:pic>
      <p:sp>
        <p:nvSpPr>
          <p:cNvPr id="53" name="화살표: 위쪽 257">
            <a:extLst>
              <a:ext uri="{FF2B5EF4-FFF2-40B4-BE49-F238E27FC236}">
                <a16:creationId xmlns:a16="http://schemas.microsoft.com/office/drawing/2014/main" id="{3D20D2DA-7575-4C82-BA8F-F591C06CEE6F}"/>
              </a:ext>
            </a:extLst>
          </p:cNvPr>
          <p:cNvSpPr/>
          <p:nvPr/>
        </p:nvSpPr>
        <p:spPr>
          <a:xfrm rot="5400000">
            <a:off x="9637666" y="3150818"/>
            <a:ext cx="306917" cy="590155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93817F-D1D0-401B-8246-F2A398F87680}"/>
              </a:ext>
            </a:extLst>
          </p:cNvPr>
          <p:cNvSpPr txBox="1"/>
          <p:nvPr/>
        </p:nvSpPr>
        <p:spPr>
          <a:xfrm>
            <a:off x="24057" y="96135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Metadata Spills Over..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슬라이드 번호 개체 틀 30">
            <a:extLst>
              <a:ext uri="{FF2B5EF4-FFF2-40B4-BE49-F238E27FC236}">
                <a16:creationId xmlns:a16="http://schemas.microsoft.com/office/drawing/2014/main" id="{DD70B1C0-FE97-4AE6-A5FC-AF2C5F65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420" y="6438836"/>
            <a:ext cx="812945" cy="400110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4D5F96E-B1EB-4A60-94BA-AC88B99CB528}"/>
              </a:ext>
            </a:extLst>
          </p:cNvPr>
          <p:cNvGrpSpPr/>
          <p:nvPr/>
        </p:nvGrpSpPr>
        <p:grpSpPr>
          <a:xfrm>
            <a:off x="10680656" y="3169230"/>
            <a:ext cx="1192150" cy="812341"/>
            <a:chOff x="5784979" y="4086206"/>
            <a:chExt cx="1192150" cy="812341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FCAA6B0-7EE2-46D2-B65A-4827CC2BB3DE}"/>
                </a:ext>
              </a:extLst>
            </p:cNvPr>
            <p:cNvSpPr txBox="1"/>
            <p:nvPr/>
          </p:nvSpPr>
          <p:spPr>
            <a:xfrm>
              <a:off x="5822071" y="4086206"/>
              <a:ext cx="1155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i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Free space</a:t>
              </a:r>
              <a:endParaRPr lang="ko-KR" altLang="en-US" sz="1400" b="1" i="1" dirty="0">
                <a:latin typeface="Yu Gothic" panose="020B0400000000000000" pitchFamily="34" charset="-128"/>
                <a:ea typeface="나눔고딕" panose="020D0604000000000000" pitchFamily="50" charset="-127"/>
              </a:endParaRPr>
            </a:p>
          </p:txBody>
        </p:sp>
        <p:pic>
          <p:nvPicPr>
            <p:cNvPr id="57" name="그림 56" descr="클립아트, 디자인, 일러스트레이션, 예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FABE5DA-ABA2-4143-AE7E-705D5D46C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4385" y="4347816"/>
              <a:ext cx="550731" cy="550731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DDEC982-C24A-425F-A321-B21DD4B9F66D}"/>
                </a:ext>
              </a:extLst>
            </p:cNvPr>
            <p:cNvSpPr txBox="1"/>
            <p:nvPr/>
          </p:nvSpPr>
          <p:spPr>
            <a:xfrm>
              <a:off x="5784979" y="4398265"/>
              <a:ext cx="53473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b="1" i="1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Low!</a:t>
              </a:r>
              <a:endParaRPr lang="ko-KR" altLang="en-US" sz="1050" b="1" i="1" dirty="0">
                <a:latin typeface="Yu Gothic" panose="020B0400000000000000" pitchFamily="34" charset="-128"/>
                <a:ea typeface="나눔고딕" panose="020D0604000000000000" pitchFamily="50" charset="-127"/>
              </a:endParaRPr>
            </a:p>
          </p:txBody>
        </p:sp>
      </p:grpSp>
      <p:sp>
        <p:nvSpPr>
          <p:cNvPr id="9" name="생각 풍선: 구름 모양 8">
            <a:extLst>
              <a:ext uri="{FF2B5EF4-FFF2-40B4-BE49-F238E27FC236}">
                <a16:creationId xmlns:a16="http://schemas.microsoft.com/office/drawing/2014/main" id="{F97A38F0-9E82-4B81-9769-3D6D46A6C196}"/>
              </a:ext>
            </a:extLst>
          </p:cNvPr>
          <p:cNvSpPr/>
          <p:nvPr/>
        </p:nvSpPr>
        <p:spPr>
          <a:xfrm>
            <a:off x="10895654" y="4268915"/>
            <a:ext cx="1218342" cy="804582"/>
          </a:xfrm>
          <a:prstGeom prst="cloudCallout">
            <a:avLst>
              <a:gd name="adj1" fmla="val -14068"/>
              <a:gd name="adj2" fmla="val -8565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8B7ACD-3FE3-4ACD-9650-F1C33690B9DB}"/>
              </a:ext>
            </a:extLst>
          </p:cNvPr>
          <p:cNvSpPr txBox="1"/>
          <p:nvPr/>
        </p:nvSpPr>
        <p:spPr>
          <a:xfrm>
            <a:off x="10951628" y="4429506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pause app!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67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188" grpId="0"/>
      <p:bldGraphic spid="189" grpId="0">
        <p:bldAsOne/>
      </p:bldGraphic>
      <p:bldP spid="202" grpId="0"/>
      <p:bldP spid="206" grpId="0"/>
      <p:bldP spid="209" grpId="0"/>
      <p:bldP spid="51" grpId="0" animBg="1"/>
      <p:bldP spid="53" grpId="0" animBg="1"/>
      <p:bldP spid="9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2" y="205038"/>
            <a:ext cx="11630703" cy="559666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Application Latency Spikes Due to Foreground Reclamation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B80C6C8-3F6B-2AFB-58DB-8F273A008330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51">
            <a:extLst>
              <a:ext uri="{FF2B5EF4-FFF2-40B4-BE49-F238E27FC236}">
                <a16:creationId xmlns:a16="http://schemas.microsoft.com/office/drawing/2014/main" id="{A2ACC1DD-8570-4307-84C2-DBE30E56FCFD}"/>
              </a:ext>
            </a:extLst>
          </p:cNvPr>
          <p:cNvSpPr/>
          <p:nvPr/>
        </p:nvSpPr>
        <p:spPr>
          <a:xfrm>
            <a:off x="1331511" y="1901160"/>
            <a:ext cx="2405816" cy="171241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B04F61-F52E-499E-A26A-1A9F4C92B197}"/>
              </a:ext>
            </a:extLst>
          </p:cNvPr>
          <p:cNvSpPr txBox="1"/>
          <p:nvPr/>
        </p:nvSpPr>
        <p:spPr>
          <a:xfrm rot="16200000">
            <a:off x="441188" y="2493279"/>
            <a:ext cx="1329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C8AA73D-E7A2-478D-9EEA-994AD49FD8B4}"/>
              </a:ext>
            </a:extLst>
          </p:cNvPr>
          <p:cNvSpPr txBox="1"/>
          <p:nvPr/>
        </p:nvSpPr>
        <p:spPr>
          <a:xfrm rot="16200000">
            <a:off x="744157" y="2670689"/>
            <a:ext cx="143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DDR DRAM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모서리가 둥근 직사각형 51">
            <a:extLst>
              <a:ext uri="{FF2B5EF4-FFF2-40B4-BE49-F238E27FC236}">
                <a16:creationId xmlns:a16="http://schemas.microsoft.com/office/drawing/2014/main" id="{D1D9E8F1-4DEF-4804-89CA-0B30AD187F0C}"/>
              </a:ext>
            </a:extLst>
          </p:cNvPr>
          <p:cNvSpPr/>
          <p:nvPr/>
        </p:nvSpPr>
        <p:spPr>
          <a:xfrm>
            <a:off x="3879650" y="1899316"/>
            <a:ext cx="2960344" cy="169353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B917F70-05FB-45BE-A25C-85DDCF167664}"/>
              </a:ext>
            </a:extLst>
          </p:cNvPr>
          <p:cNvSpPr txBox="1"/>
          <p:nvPr/>
        </p:nvSpPr>
        <p:spPr>
          <a:xfrm rot="16200000">
            <a:off x="3339917" y="2651475"/>
            <a:ext cx="1398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Calibri" panose="020F0502020204030204" pitchFamily="34" charset="0"/>
                <a:cs typeface="Calibri" panose="020F0502020204030204" pitchFamily="34" charset="0"/>
              </a:rPr>
              <a:t>CXL DRAM</a:t>
            </a:r>
            <a:endParaRPr lang="en-US" altLang="ko-KR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5" name="그림 154">
            <a:extLst>
              <a:ext uri="{FF2B5EF4-FFF2-40B4-BE49-F238E27FC236}">
                <a16:creationId xmlns:a16="http://schemas.microsoft.com/office/drawing/2014/main" id="{BB84585B-64AB-4AA8-8C0E-D89D646A1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004" y="3026815"/>
            <a:ext cx="298769" cy="164240"/>
          </a:xfrm>
          <a:prstGeom prst="rect">
            <a:avLst/>
          </a:prstGeom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7BB0C8D9-AC95-4EA2-90AD-B3D5ECEA1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649" y="3022797"/>
            <a:ext cx="298769" cy="164240"/>
          </a:xfrm>
          <a:prstGeom prst="rect">
            <a:avLst/>
          </a:prstGeom>
        </p:spPr>
      </p:pic>
      <p:pic>
        <p:nvPicPr>
          <p:cNvPr id="163" name="그림 162">
            <a:extLst>
              <a:ext uri="{FF2B5EF4-FFF2-40B4-BE49-F238E27FC236}">
                <a16:creationId xmlns:a16="http://schemas.microsoft.com/office/drawing/2014/main" id="{9693460B-50C2-44D6-977C-6EDCA9521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38" y="3294236"/>
            <a:ext cx="298769" cy="164240"/>
          </a:xfrm>
          <a:prstGeom prst="rect">
            <a:avLst/>
          </a:prstGeom>
        </p:spPr>
      </p:pic>
      <p:cxnSp>
        <p:nvCxnSpPr>
          <p:cNvPr id="164" name="구부러진 연결선 274">
            <a:extLst>
              <a:ext uri="{FF2B5EF4-FFF2-40B4-BE49-F238E27FC236}">
                <a16:creationId xmlns:a16="http://schemas.microsoft.com/office/drawing/2014/main" id="{A7776C8A-CE01-4004-83D2-9744B9E94D81}"/>
              </a:ext>
            </a:extLst>
          </p:cNvPr>
          <p:cNvCxnSpPr>
            <a:cxnSpLocks/>
          </p:cNvCxnSpPr>
          <p:nvPr/>
        </p:nvCxnSpPr>
        <p:spPr>
          <a:xfrm rot="5400000">
            <a:off x="2038673" y="3029679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B013A608-DFD1-48B7-85F4-59CF764B49A7}"/>
              </a:ext>
            </a:extLst>
          </p:cNvPr>
          <p:cNvSpPr/>
          <p:nvPr/>
        </p:nvSpPr>
        <p:spPr>
          <a:xfrm>
            <a:off x="2280716" y="2844901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E20D640-F715-45E4-AF7A-8C8599497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703717"/>
              </p:ext>
            </p:extLst>
          </p:nvPr>
        </p:nvGraphicFramePr>
        <p:xfrm>
          <a:off x="2102489" y="2130217"/>
          <a:ext cx="64385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18">
                  <a:extLst>
                    <a:ext uri="{9D8B030D-6E8A-4147-A177-3AD203B41FA5}">
                      <a16:colId xmlns:a16="http://schemas.microsoft.com/office/drawing/2014/main" val="1835697380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3786752109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936844198"/>
                    </a:ext>
                  </a:extLst>
                </a:gridCol>
              </a:tblGrid>
              <a:tr h="147926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15008"/>
                  </a:ext>
                </a:extLst>
              </a:tr>
            </a:tbl>
          </a:graphicData>
        </a:graphic>
      </p:graphicFrame>
      <p:graphicFrame>
        <p:nvGraphicFramePr>
          <p:cNvPr id="169" name="표 168">
            <a:extLst>
              <a:ext uri="{FF2B5EF4-FFF2-40B4-BE49-F238E27FC236}">
                <a16:creationId xmlns:a16="http://schemas.microsoft.com/office/drawing/2014/main" id="{B711516B-8FBE-4C35-9A87-9C965B2F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660259"/>
              </p:ext>
            </p:extLst>
          </p:nvPr>
        </p:nvGraphicFramePr>
        <p:xfrm>
          <a:off x="4573162" y="2118709"/>
          <a:ext cx="107309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18">
                  <a:extLst>
                    <a:ext uri="{9D8B030D-6E8A-4147-A177-3AD203B41FA5}">
                      <a16:colId xmlns:a16="http://schemas.microsoft.com/office/drawing/2014/main" val="1835697380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3786752109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936844198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2433873547"/>
                    </a:ext>
                  </a:extLst>
                </a:gridCol>
                <a:gridCol w="214618">
                  <a:extLst>
                    <a:ext uri="{9D8B030D-6E8A-4147-A177-3AD203B41FA5}">
                      <a16:colId xmlns:a16="http://schemas.microsoft.com/office/drawing/2014/main" val="1773298961"/>
                    </a:ext>
                  </a:extLst>
                </a:gridCol>
              </a:tblGrid>
              <a:tr h="147926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15008"/>
                  </a:ext>
                </a:extLst>
              </a:tr>
            </a:tbl>
          </a:graphicData>
        </a:graphic>
      </p:graphicFrame>
      <p:pic>
        <p:nvPicPr>
          <p:cNvPr id="170" name="그림 169">
            <a:extLst>
              <a:ext uri="{FF2B5EF4-FFF2-40B4-BE49-F238E27FC236}">
                <a16:creationId xmlns:a16="http://schemas.microsoft.com/office/drawing/2014/main" id="{AF02EF4C-EEB2-4C03-8B3F-582388266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023" y="2990995"/>
            <a:ext cx="298769" cy="164240"/>
          </a:xfrm>
          <a:prstGeom prst="rect">
            <a:avLst/>
          </a:prstGeom>
        </p:spPr>
      </p:pic>
      <p:pic>
        <p:nvPicPr>
          <p:cNvPr id="171" name="그림 170">
            <a:extLst>
              <a:ext uri="{FF2B5EF4-FFF2-40B4-BE49-F238E27FC236}">
                <a16:creationId xmlns:a16="http://schemas.microsoft.com/office/drawing/2014/main" id="{23C77709-B70A-4939-B2F1-0879A8342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668" y="2986977"/>
            <a:ext cx="298769" cy="164240"/>
          </a:xfrm>
          <a:prstGeom prst="rect">
            <a:avLst/>
          </a:prstGeom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9AABF0B4-E4D5-4D27-AA96-8E3FAA949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457" y="3258416"/>
            <a:ext cx="298769" cy="164240"/>
          </a:xfrm>
          <a:prstGeom prst="rect">
            <a:avLst/>
          </a:prstGeom>
        </p:spPr>
      </p:pic>
      <p:cxnSp>
        <p:nvCxnSpPr>
          <p:cNvPr id="173" name="구부러진 연결선 274">
            <a:extLst>
              <a:ext uri="{FF2B5EF4-FFF2-40B4-BE49-F238E27FC236}">
                <a16:creationId xmlns:a16="http://schemas.microsoft.com/office/drawing/2014/main" id="{E1732518-4C80-410F-976D-D3394B9379BD}"/>
              </a:ext>
            </a:extLst>
          </p:cNvPr>
          <p:cNvCxnSpPr>
            <a:cxnSpLocks/>
          </p:cNvCxnSpPr>
          <p:nvPr/>
        </p:nvCxnSpPr>
        <p:spPr>
          <a:xfrm rot="5400000">
            <a:off x="4604692" y="2993859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E7B1B288-6473-4544-868A-138E45D0BE63}"/>
              </a:ext>
            </a:extLst>
          </p:cNvPr>
          <p:cNvSpPr/>
          <p:nvPr/>
        </p:nvSpPr>
        <p:spPr>
          <a:xfrm>
            <a:off x="4846735" y="2809081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6" name="그림 175">
            <a:extLst>
              <a:ext uri="{FF2B5EF4-FFF2-40B4-BE49-F238E27FC236}">
                <a16:creationId xmlns:a16="http://schemas.microsoft.com/office/drawing/2014/main" id="{6457B2A4-7E4B-4B4D-9583-C7D470E49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456" y="2958201"/>
            <a:ext cx="298769" cy="164240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53C6E66C-A07D-44D2-9D44-76E9C8318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101" y="2954183"/>
            <a:ext cx="298769" cy="164240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0ACE3A52-68A9-4064-957B-0655ECDB1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90" y="3225622"/>
            <a:ext cx="298769" cy="164240"/>
          </a:xfrm>
          <a:prstGeom prst="rect">
            <a:avLst/>
          </a:prstGeom>
        </p:spPr>
      </p:pic>
      <p:cxnSp>
        <p:nvCxnSpPr>
          <p:cNvPr id="179" name="구부러진 연결선 274">
            <a:extLst>
              <a:ext uri="{FF2B5EF4-FFF2-40B4-BE49-F238E27FC236}">
                <a16:creationId xmlns:a16="http://schemas.microsoft.com/office/drawing/2014/main" id="{2C8CAC4B-AD0C-4C31-B737-802B9DF07C70}"/>
              </a:ext>
            </a:extLst>
          </p:cNvPr>
          <p:cNvCxnSpPr>
            <a:cxnSpLocks/>
          </p:cNvCxnSpPr>
          <p:nvPr/>
        </p:nvCxnSpPr>
        <p:spPr>
          <a:xfrm rot="5400000">
            <a:off x="5382125" y="2961065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875DB53-24C6-4506-ACD0-0AE3ECFCE937}"/>
              </a:ext>
            </a:extLst>
          </p:cNvPr>
          <p:cNvSpPr/>
          <p:nvPr/>
        </p:nvSpPr>
        <p:spPr>
          <a:xfrm>
            <a:off x="5624168" y="2776287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6F326C2-9CE0-4B28-808C-6FA738186B4A}"/>
              </a:ext>
            </a:extLst>
          </p:cNvPr>
          <p:cNvSpPr txBox="1"/>
          <p:nvPr/>
        </p:nvSpPr>
        <p:spPr>
          <a:xfrm>
            <a:off x="1613716" y="2370169"/>
            <a:ext cx="2165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>
                <a:latin typeface="Cambria Math" panose="02040503050406030204" pitchFamily="18" charset="0"/>
                <a:ea typeface="Cambria Math" panose="02040503050406030204" pitchFamily="18" charset="0"/>
              </a:rPr>
              <a:t>page descriptors for Local</a:t>
            </a:r>
            <a:endParaRPr lang="ko-KR" altLang="en-US" sz="1400" i="1" dirty="0">
              <a:latin typeface="Cambria Math" panose="02040503050406030204" pitchFamily="18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DA1965A-84C8-45C4-87C1-4C1E6CBAD40E}"/>
              </a:ext>
            </a:extLst>
          </p:cNvPr>
          <p:cNvSpPr txBox="1"/>
          <p:nvPr/>
        </p:nvSpPr>
        <p:spPr>
          <a:xfrm>
            <a:off x="4161504" y="2363556"/>
            <a:ext cx="2628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>
                <a:latin typeface="Cambria Math" panose="02040503050406030204" pitchFamily="18" charset="0"/>
                <a:ea typeface="Cambria Math" panose="02040503050406030204" pitchFamily="18" charset="0"/>
              </a:rPr>
              <a:t>page descriptors for  CXL DRAM</a:t>
            </a:r>
            <a:endParaRPr lang="ko-KR" altLang="en-US" sz="1400" i="1" dirty="0">
              <a:latin typeface="Cambria Math" panose="02040503050406030204" pitchFamily="18" charset="0"/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F46E4F09-792E-41E0-A05E-707A15DEA2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597" y="862614"/>
            <a:ext cx="773055" cy="773055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383585-7956-432A-854D-C1B379B7D3C2}"/>
              </a:ext>
            </a:extLst>
          </p:cNvPr>
          <p:cNvCxnSpPr>
            <a:cxnSpLocks/>
            <a:stCxn id="186" idx="2"/>
            <a:endCxn id="62" idx="0"/>
          </p:cNvCxnSpPr>
          <p:nvPr/>
        </p:nvCxnSpPr>
        <p:spPr>
          <a:xfrm flipH="1">
            <a:off x="2534419" y="1635669"/>
            <a:ext cx="8706" cy="2654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04A2AD88-7FD7-4226-BB9D-3EB32343D676}"/>
              </a:ext>
            </a:extLst>
          </p:cNvPr>
          <p:cNvGrpSpPr/>
          <p:nvPr/>
        </p:nvGrpSpPr>
        <p:grpSpPr>
          <a:xfrm>
            <a:off x="2929652" y="990175"/>
            <a:ext cx="3659592" cy="1348787"/>
            <a:chOff x="3303246" y="3125157"/>
            <a:chExt cx="3659592" cy="1348787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A4A958D8-E178-4CA9-BB47-1C26F58C3B8C}"/>
                </a:ext>
              </a:extLst>
            </p:cNvPr>
            <p:cNvSpPr txBox="1"/>
            <p:nvPr/>
          </p:nvSpPr>
          <p:spPr>
            <a:xfrm>
              <a:off x="5000135" y="3511409"/>
              <a:ext cx="9396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250ns</a:t>
              </a:r>
              <a:endParaRPr lang="ko-KR" alt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191BF8E0-5F7D-407E-A789-76705193C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7533" y="3607333"/>
              <a:ext cx="2424" cy="8666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A6A9E89-E046-401B-AEB0-71343240F9A9}"/>
                </a:ext>
              </a:extLst>
            </p:cNvPr>
            <p:cNvSpPr txBox="1"/>
            <p:nvPr/>
          </p:nvSpPr>
          <p:spPr>
            <a:xfrm>
              <a:off x="3625192" y="3674033"/>
              <a:ext cx="747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100ns</a:t>
              </a:r>
              <a:endParaRPr lang="ko-KR" alt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D9A3DA14-7E6E-43CD-828E-4A2B7D3779F1}"/>
                </a:ext>
              </a:extLst>
            </p:cNvPr>
            <p:cNvSpPr txBox="1"/>
            <p:nvPr/>
          </p:nvSpPr>
          <p:spPr>
            <a:xfrm>
              <a:off x="4875287" y="3220039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ko-KR" altLang="en-US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7" name="직선 화살표 연결선 206">
              <a:extLst>
                <a:ext uri="{FF2B5EF4-FFF2-40B4-BE49-F238E27FC236}">
                  <a16:creationId xmlns:a16="http://schemas.microsoft.com/office/drawing/2014/main" id="{6D0EC2B9-660B-4E4B-80B2-7A10AC49DB42}"/>
                </a:ext>
              </a:extLst>
            </p:cNvPr>
            <p:cNvCxnSpPr>
              <a:cxnSpLocks/>
            </p:cNvCxnSpPr>
            <p:nvPr/>
          </p:nvCxnSpPr>
          <p:spPr>
            <a:xfrm>
              <a:off x="4447531" y="3510672"/>
              <a:ext cx="1123280" cy="7018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3776EF72-B6AE-4354-B4F4-B5D4EBCF2F60}"/>
                </a:ext>
              </a:extLst>
            </p:cNvPr>
            <p:cNvSpPr txBox="1"/>
            <p:nvPr/>
          </p:nvSpPr>
          <p:spPr>
            <a:xfrm>
              <a:off x="3303246" y="3125157"/>
              <a:ext cx="36595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i="1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Application pause &amp; reclamation</a:t>
              </a:r>
              <a:endParaRPr lang="en-US" altLang="ko-KR" sz="2000" b="1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88E8FC9-2DBD-4B5D-832C-3ABC7335EEE8}"/>
              </a:ext>
            </a:extLst>
          </p:cNvPr>
          <p:cNvGrpSpPr/>
          <p:nvPr/>
        </p:nvGrpSpPr>
        <p:grpSpPr>
          <a:xfrm>
            <a:off x="-44348" y="4491182"/>
            <a:ext cx="7804381" cy="2600712"/>
            <a:chOff x="195400" y="3116755"/>
            <a:chExt cx="7804381" cy="2600712"/>
          </a:xfrm>
        </p:grpSpPr>
        <p:graphicFrame>
          <p:nvGraphicFramePr>
            <p:cNvPr id="46" name="차트 45">
              <a:extLst>
                <a:ext uri="{FF2B5EF4-FFF2-40B4-BE49-F238E27FC236}">
                  <a16:creationId xmlns:a16="http://schemas.microsoft.com/office/drawing/2014/main" id="{6D94FCCA-F4E8-4DC1-B4AC-F2517C7718A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63081084"/>
                </p:ext>
              </p:extLst>
            </p:nvPr>
          </p:nvGraphicFramePr>
          <p:xfrm>
            <a:off x="195400" y="3116755"/>
            <a:ext cx="7804381" cy="26007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A96956-C95B-4F4C-8D06-C35294587AEA}"/>
                </a:ext>
              </a:extLst>
            </p:cNvPr>
            <p:cNvSpPr txBox="1"/>
            <p:nvPr/>
          </p:nvSpPr>
          <p:spPr>
            <a:xfrm>
              <a:off x="633509" y="4151573"/>
              <a:ext cx="8966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rPr>
                <a:t>DDR+CXL</a:t>
              </a:r>
            </a:p>
            <a:p>
              <a:r>
                <a:rPr lang="en-US" altLang="ko-KR" sz="1400" b="1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rPr>
                <a:t>system</a:t>
              </a:r>
              <a:endParaRPr lang="ko-KR" altLang="en-US" sz="14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ACEAFDE-1F64-4D23-B50F-28C128A08813}"/>
                </a:ext>
              </a:extLst>
            </p:cNvPr>
            <p:cNvSpPr txBox="1"/>
            <p:nvPr/>
          </p:nvSpPr>
          <p:spPr>
            <a:xfrm>
              <a:off x="633510" y="3590789"/>
              <a:ext cx="8966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rPr>
                <a:t>only-DDR</a:t>
              </a:r>
            </a:p>
            <a:p>
              <a:r>
                <a:rPr lang="en-US" altLang="ko-KR" sz="1400" b="1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rPr>
                <a:t>system</a:t>
              </a:r>
              <a:endParaRPr lang="ko-KR" altLang="en-US" sz="14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C4B001C-7739-473B-92AF-13A1CF3717BB}"/>
                </a:ext>
              </a:extLst>
            </p:cNvPr>
            <p:cNvSpPr txBox="1"/>
            <p:nvPr/>
          </p:nvSpPr>
          <p:spPr>
            <a:xfrm>
              <a:off x="2170881" y="5104586"/>
              <a:ext cx="43038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rPr>
                <a:t>application overhead breakdown (us)</a:t>
              </a:r>
              <a:endParaRPr lang="ko-KR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A9A2882-2FB7-405B-AEB2-D24B102527E0}"/>
                </a:ext>
              </a:extLst>
            </p:cNvPr>
            <p:cNvSpPr txBox="1"/>
            <p:nvPr/>
          </p:nvSpPr>
          <p:spPr>
            <a:xfrm>
              <a:off x="3475370" y="3826093"/>
              <a:ext cx="2917013" cy="372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>
                  <a:solidFill>
                    <a:srgbClr val="FF0000"/>
                  </a:solidFill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rPr>
                <a:t>4x application latency </a:t>
              </a:r>
              <a:r>
                <a:rPr lang="ko-KR" altLang="en-US" b="1" i="1">
                  <a:solidFill>
                    <a:srgbClr val="FF0000"/>
                  </a:solidFill>
                  <a:latin typeface="Calibri" panose="020F0502020204030204" pitchFamily="34" charset="0"/>
                  <a:ea typeface="Cambria" panose="02040503050406030204" pitchFamily="18" charset="0"/>
                  <a:cs typeface="Calibri" panose="020F0502020204030204" pitchFamily="34" charset="0"/>
                </a:rPr>
                <a:t>▲</a:t>
              </a:r>
              <a:endParaRPr lang="ko-KR" altLang="en-US" b="1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D74F15E4-092E-42E9-BF42-C5C0E1D388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4382" y="3835770"/>
            <a:ext cx="2817300" cy="23936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1161361-3D29-4DC7-9E90-03AE7A8C54FF}"/>
                  </a:ext>
                </a:extLst>
              </p:cNvPr>
              <p:cNvSpPr txBox="1"/>
              <p:nvPr/>
            </p:nvSpPr>
            <p:spPr>
              <a:xfrm>
                <a:off x="8739494" y="3642207"/>
                <a:ext cx="2563907" cy="315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Latency CDF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𝟗𝟗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  <m:sup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lang="ko-KR" altLang="en-US" sz="140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ko-KR" sz="1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𝟗𝟗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𝟗𝟗</m:t>
                        </m:r>
                      </m:e>
                      <m:sup>
                        <m:r>
                          <a:rPr lang="en-US" altLang="ko-KR" sz="1400" b="1" i="1"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1161361-3D29-4DC7-9E90-03AE7A8C5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494" y="3642207"/>
                <a:ext cx="2563907" cy="315856"/>
              </a:xfrm>
              <a:prstGeom prst="rect">
                <a:avLst/>
              </a:prstGeom>
              <a:blipFill>
                <a:blip r:embed="rId7"/>
                <a:stretch>
                  <a:fillRect l="-714" b="-2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00F7FAA9-0F1D-49E7-B6EC-5340BF621E3F}"/>
              </a:ext>
            </a:extLst>
          </p:cNvPr>
          <p:cNvSpPr txBox="1"/>
          <p:nvPr/>
        </p:nvSpPr>
        <p:spPr>
          <a:xfrm>
            <a:off x="7975418" y="5911018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.9990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E2887DF-1D05-46AC-85C3-BE88824726EA}"/>
              </a:ext>
            </a:extLst>
          </p:cNvPr>
          <p:cNvSpPr txBox="1"/>
          <p:nvPr/>
        </p:nvSpPr>
        <p:spPr>
          <a:xfrm>
            <a:off x="8003319" y="4242297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.9997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6ED4510-F9A2-4B4B-8A74-F2764CDB8F96}"/>
              </a:ext>
            </a:extLst>
          </p:cNvPr>
          <p:cNvSpPr txBox="1"/>
          <p:nvPr/>
        </p:nvSpPr>
        <p:spPr>
          <a:xfrm>
            <a:off x="8003319" y="4017517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.9998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9FE167A-5472-48B1-9EBC-059035D93F91}"/>
              </a:ext>
            </a:extLst>
          </p:cNvPr>
          <p:cNvSpPr txBox="1"/>
          <p:nvPr/>
        </p:nvSpPr>
        <p:spPr>
          <a:xfrm>
            <a:off x="8003319" y="3783388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.9999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DB40D95-00B8-4BFC-8B86-1D6310178E32}"/>
              </a:ext>
            </a:extLst>
          </p:cNvPr>
          <p:cNvSpPr txBox="1"/>
          <p:nvPr/>
        </p:nvSpPr>
        <p:spPr>
          <a:xfrm rot="5400000">
            <a:off x="8142801" y="4889315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ko-KR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8FD9F23-660E-41FF-BD45-D0E3B09A8E72}"/>
              </a:ext>
            </a:extLst>
          </p:cNvPr>
          <p:cNvSpPr txBox="1"/>
          <p:nvPr/>
        </p:nvSpPr>
        <p:spPr>
          <a:xfrm rot="16200000">
            <a:off x="8443157" y="6171633"/>
            <a:ext cx="458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796</a:t>
            </a:r>
            <a:endParaRPr lang="ko-KR" altLang="en-US" sz="1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EAD29C5-AC77-4AE3-B34D-3A54AA675BE5}"/>
              </a:ext>
            </a:extLst>
          </p:cNvPr>
          <p:cNvSpPr txBox="1"/>
          <p:nvPr/>
        </p:nvSpPr>
        <p:spPr>
          <a:xfrm rot="16200000">
            <a:off x="8770414" y="6213085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2107</a:t>
            </a:r>
            <a:endParaRPr lang="ko-KR" altLang="en-US" sz="1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73D3EB8-74F0-4A02-87CA-0CC3D40A5507}"/>
              </a:ext>
            </a:extLst>
          </p:cNvPr>
          <p:cNvSpPr txBox="1"/>
          <p:nvPr/>
        </p:nvSpPr>
        <p:spPr>
          <a:xfrm rot="16200000">
            <a:off x="10570943" y="621308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6900</a:t>
            </a:r>
            <a:endParaRPr lang="ko-KR" altLang="en-US" sz="1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210E2E7-A602-4DD1-8F1D-798432412B7A}"/>
                  </a:ext>
                </a:extLst>
              </p:cNvPr>
              <p:cNvSpPr txBox="1"/>
              <p:nvPr/>
            </p:nvSpPr>
            <p:spPr>
              <a:xfrm>
                <a:off x="9089876" y="6481398"/>
                <a:ext cx="2052293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Latency (X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𝒖𝒔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ko-KR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210E2E7-A602-4DD1-8F1D-798432412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876" y="6481398"/>
                <a:ext cx="2052293" cy="375552"/>
              </a:xfrm>
              <a:prstGeom prst="rect">
                <a:avLst/>
              </a:prstGeom>
              <a:blipFill>
                <a:blip r:embed="rId8"/>
                <a:stretch>
                  <a:fillRect l="-2374" t="-6452" b="-241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42AA636D-D4CD-4579-A6C6-F45920ED1768}"/>
              </a:ext>
            </a:extLst>
          </p:cNvPr>
          <p:cNvSpPr txBox="1"/>
          <p:nvPr/>
        </p:nvSpPr>
        <p:spPr>
          <a:xfrm rot="16200000">
            <a:off x="10934974" y="6194490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8120</a:t>
            </a:r>
            <a:endParaRPr lang="ko-KR" altLang="en-US" sz="1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D7EB80E-1725-469C-BD6F-2622CEECD366}"/>
              </a:ext>
            </a:extLst>
          </p:cNvPr>
          <p:cNvSpPr txBox="1"/>
          <p:nvPr/>
        </p:nvSpPr>
        <p:spPr>
          <a:xfrm rot="10800000">
            <a:off x="9747379" y="6150587"/>
            <a:ext cx="42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ko-KR" altLang="en-US" sz="2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0BA72AA-8685-4AD8-AD91-2D30343FA570}"/>
              </a:ext>
            </a:extLst>
          </p:cNvPr>
          <p:cNvSpPr txBox="1"/>
          <p:nvPr/>
        </p:nvSpPr>
        <p:spPr>
          <a:xfrm rot="16200000">
            <a:off x="7694740" y="4708744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CDF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F46074E2-C7BF-4A3B-8798-0C245E4F0ADA}"/>
              </a:ext>
            </a:extLst>
          </p:cNvPr>
          <p:cNvSpPr/>
          <p:nvPr/>
        </p:nvSpPr>
        <p:spPr>
          <a:xfrm>
            <a:off x="2791760" y="4968471"/>
            <a:ext cx="4048234" cy="26742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슬라이드 번호 개체 틀 30">
            <a:extLst>
              <a:ext uri="{FF2B5EF4-FFF2-40B4-BE49-F238E27FC236}">
                <a16:creationId xmlns:a16="http://schemas.microsoft.com/office/drawing/2014/main" id="{2DED2C53-CDFD-43A9-B7E5-B87FE486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420" y="6438836"/>
            <a:ext cx="812945" cy="400110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137" name="그림 136">
            <a:extLst>
              <a:ext uri="{FF2B5EF4-FFF2-40B4-BE49-F238E27FC236}">
                <a16:creationId xmlns:a16="http://schemas.microsoft.com/office/drawing/2014/main" id="{ABEE0E92-6DED-4B52-B351-E20AE3C984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20131">
            <a:off x="5490298" y="1356177"/>
            <a:ext cx="401545" cy="40154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CBB723C-5C60-43D8-B5B5-45B33045143A}"/>
              </a:ext>
            </a:extLst>
          </p:cNvPr>
          <p:cNvSpPr txBox="1"/>
          <p:nvPr/>
        </p:nvSpPr>
        <p:spPr>
          <a:xfrm>
            <a:off x="4341904" y="5164929"/>
            <a:ext cx="7467623" cy="83099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8000">
                <a:schemeClr val="accent4">
                  <a:lumMod val="20000"/>
                  <a:lumOff val="80000"/>
                </a:schemeClr>
              </a:gs>
              <a:gs pos="57000">
                <a:schemeClr val="accent4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avoid latency spikes, </a:t>
            </a:r>
          </a:p>
          <a:p>
            <a:r>
              <a:rPr lang="en-US" altLang="ko-KR" sz="2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reclamation must keep up memory pressure!</a:t>
            </a:r>
            <a:endParaRPr lang="ko-KR" altLang="en-US" sz="2400" b="1" i="1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  <p:bldP spid="109" grpId="0"/>
      <p:bldP spid="119" grpId="0"/>
      <p:bldP spid="120" grpId="0"/>
      <p:bldP spid="121" grpId="0"/>
      <p:bldP spid="122" grpId="0"/>
      <p:bldP spid="123" grpId="0"/>
      <p:bldP spid="124" grpId="0"/>
      <p:bldP spid="128" grpId="0"/>
      <p:bldP spid="129" grpId="0"/>
      <p:bldP spid="130" grpId="0"/>
      <p:bldP spid="131" grpId="0"/>
      <p:bldP spid="132" grpId="0"/>
      <p:bldP spid="75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2" y="205038"/>
            <a:ext cx="11630703" cy="559666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Requirement for Fast Memory Reclamation and Opportunities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B80C6C8-3F6B-2AFB-58DB-8F273A008330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슬라이드 번호 개체 틀 30">
            <a:extLst>
              <a:ext uri="{FF2B5EF4-FFF2-40B4-BE49-F238E27FC236}">
                <a16:creationId xmlns:a16="http://schemas.microsoft.com/office/drawing/2014/main" id="{2DED2C53-CDFD-43A9-B7E5-B87FE486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420" y="6438836"/>
            <a:ext cx="812945" cy="400110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DB65A54-8B8D-4FC1-B279-DA1CB058545B}"/>
              </a:ext>
            </a:extLst>
          </p:cNvPr>
          <p:cNvSpPr txBox="1"/>
          <p:nvPr/>
        </p:nvSpPr>
        <p:spPr>
          <a:xfrm>
            <a:off x="326221" y="1013216"/>
            <a:ext cx="4988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requirement: </a:t>
            </a:r>
          </a:p>
          <a:p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 metadata traversals must be fast. </a:t>
            </a:r>
            <a:endParaRPr lang="en-US" altLang="ko-K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0C8BF7E5-6209-48DE-9C25-D6BFD2D05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98257"/>
              </p:ext>
            </p:extLst>
          </p:nvPr>
        </p:nvGraphicFramePr>
        <p:xfrm>
          <a:off x="3686787" y="2337804"/>
          <a:ext cx="1459055" cy="307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11">
                  <a:extLst>
                    <a:ext uri="{9D8B030D-6E8A-4147-A177-3AD203B41FA5}">
                      <a16:colId xmlns:a16="http://schemas.microsoft.com/office/drawing/2014/main" val="1835697380"/>
                    </a:ext>
                  </a:extLst>
                </a:gridCol>
                <a:gridCol w="291811">
                  <a:extLst>
                    <a:ext uri="{9D8B030D-6E8A-4147-A177-3AD203B41FA5}">
                      <a16:colId xmlns:a16="http://schemas.microsoft.com/office/drawing/2014/main" val="3786752109"/>
                    </a:ext>
                  </a:extLst>
                </a:gridCol>
                <a:gridCol w="291811">
                  <a:extLst>
                    <a:ext uri="{9D8B030D-6E8A-4147-A177-3AD203B41FA5}">
                      <a16:colId xmlns:a16="http://schemas.microsoft.com/office/drawing/2014/main" val="936844198"/>
                    </a:ext>
                  </a:extLst>
                </a:gridCol>
                <a:gridCol w="291811">
                  <a:extLst>
                    <a:ext uri="{9D8B030D-6E8A-4147-A177-3AD203B41FA5}">
                      <a16:colId xmlns:a16="http://schemas.microsoft.com/office/drawing/2014/main" val="2433873547"/>
                    </a:ext>
                  </a:extLst>
                </a:gridCol>
                <a:gridCol w="291811">
                  <a:extLst>
                    <a:ext uri="{9D8B030D-6E8A-4147-A177-3AD203B41FA5}">
                      <a16:colId xmlns:a16="http://schemas.microsoft.com/office/drawing/2014/main" val="1773298961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15008"/>
                  </a:ext>
                </a:extLst>
              </a:tr>
            </a:tbl>
          </a:graphicData>
        </a:graphic>
      </p:graphicFrame>
      <p:pic>
        <p:nvPicPr>
          <p:cNvPr id="65" name="그림 64">
            <a:extLst>
              <a:ext uri="{FF2B5EF4-FFF2-40B4-BE49-F238E27FC236}">
                <a16:creationId xmlns:a16="http://schemas.microsoft.com/office/drawing/2014/main" id="{A7E5ACC5-FC5D-4142-A4EF-141615726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108" y="3588818"/>
            <a:ext cx="298769" cy="16424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70E66FD7-E6EC-4640-93EA-261BFEA7B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753" y="3584800"/>
            <a:ext cx="298769" cy="164240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524120BA-2B80-43FE-A035-685B94C83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542" y="3856239"/>
            <a:ext cx="298769" cy="164240"/>
          </a:xfrm>
          <a:prstGeom prst="rect">
            <a:avLst/>
          </a:prstGeom>
        </p:spPr>
      </p:pic>
      <p:cxnSp>
        <p:nvCxnSpPr>
          <p:cNvPr id="68" name="구부러진 연결선 274">
            <a:extLst>
              <a:ext uri="{FF2B5EF4-FFF2-40B4-BE49-F238E27FC236}">
                <a16:creationId xmlns:a16="http://schemas.microsoft.com/office/drawing/2014/main" id="{77CDEA4F-0468-4C3A-A785-E0C1858D1ACF}"/>
              </a:ext>
            </a:extLst>
          </p:cNvPr>
          <p:cNvCxnSpPr>
            <a:cxnSpLocks/>
          </p:cNvCxnSpPr>
          <p:nvPr/>
        </p:nvCxnSpPr>
        <p:spPr>
          <a:xfrm rot="5400000">
            <a:off x="3747777" y="3591682"/>
            <a:ext cx="287540" cy="233236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66F170E-D681-4562-8674-4F9D03F4D7BF}"/>
              </a:ext>
            </a:extLst>
          </p:cNvPr>
          <p:cNvSpPr/>
          <p:nvPr/>
        </p:nvSpPr>
        <p:spPr>
          <a:xfrm>
            <a:off x="3989820" y="3406904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1C6810-E2CF-48D2-9FE0-D53516595CE1}"/>
              </a:ext>
            </a:extLst>
          </p:cNvPr>
          <p:cNvSpPr txBox="1"/>
          <p:nvPr/>
        </p:nvSpPr>
        <p:spPr>
          <a:xfrm>
            <a:off x="3660953" y="2617110"/>
            <a:ext cx="1641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latin typeface="Cambria Math" panose="02040503050406030204" pitchFamily="18" charset="0"/>
                <a:ea typeface="Cambria Math" panose="02040503050406030204" pitchFamily="18" charset="0"/>
              </a:rPr>
              <a:t>page descriptors</a:t>
            </a:r>
            <a:endParaRPr lang="ko-KR" altLang="en-US" sz="1600" i="1" dirty="0">
              <a:latin typeface="Cambria Math" panose="020405030504060302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E0AE7D2-D9AA-4364-B233-D898F2CBE352}"/>
              </a:ext>
            </a:extLst>
          </p:cNvPr>
          <p:cNvSpPr txBox="1"/>
          <p:nvPr/>
        </p:nvSpPr>
        <p:spPr>
          <a:xfrm>
            <a:off x="3480610" y="4123660"/>
            <a:ext cx="884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latin typeface="Cambria Math" panose="02040503050406030204" pitchFamily="18" charset="0"/>
                <a:ea typeface="Cambria Math" panose="02040503050406030204" pitchFamily="18" charset="0"/>
              </a:rPr>
              <a:t>Xarray0</a:t>
            </a:r>
            <a:endParaRPr lang="ko-KR" altLang="en-US" sz="1600" i="1" dirty="0">
              <a:latin typeface="Cambria Math" panose="02040503050406030204" pitchFamily="18" charset="0"/>
            </a:endParaRPr>
          </a:p>
        </p:txBody>
      </p:sp>
      <p:sp>
        <p:nvSpPr>
          <p:cNvPr id="3" name="화살표: 아래로 구부러짐 2">
            <a:extLst>
              <a:ext uri="{FF2B5EF4-FFF2-40B4-BE49-F238E27FC236}">
                <a16:creationId xmlns:a16="http://schemas.microsoft.com/office/drawing/2014/main" id="{8EF1D03A-B2D6-4132-9CF1-3900434159FA}"/>
              </a:ext>
            </a:extLst>
          </p:cNvPr>
          <p:cNvSpPr/>
          <p:nvPr/>
        </p:nvSpPr>
        <p:spPr>
          <a:xfrm>
            <a:off x="3816402" y="2148225"/>
            <a:ext cx="285824" cy="1583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화살표: 아래로 구부러짐 78">
            <a:extLst>
              <a:ext uri="{FF2B5EF4-FFF2-40B4-BE49-F238E27FC236}">
                <a16:creationId xmlns:a16="http://schemas.microsoft.com/office/drawing/2014/main" id="{8EAA6A39-3765-4815-A146-5DEACE098A09}"/>
              </a:ext>
            </a:extLst>
          </p:cNvPr>
          <p:cNvSpPr/>
          <p:nvPr/>
        </p:nvSpPr>
        <p:spPr>
          <a:xfrm>
            <a:off x="4145380" y="2137255"/>
            <a:ext cx="285824" cy="1583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화살표: 아래로 구부러짐 79">
            <a:extLst>
              <a:ext uri="{FF2B5EF4-FFF2-40B4-BE49-F238E27FC236}">
                <a16:creationId xmlns:a16="http://schemas.microsoft.com/office/drawing/2014/main" id="{904E37A8-53A4-4CD7-8D07-729C1A2E04D6}"/>
              </a:ext>
            </a:extLst>
          </p:cNvPr>
          <p:cNvSpPr/>
          <p:nvPr/>
        </p:nvSpPr>
        <p:spPr>
          <a:xfrm>
            <a:off x="4474358" y="2137255"/>
            <a:ext cx="285824" cy="1583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1" name="화살표: 아래로 구부러짐 80">
            <a:extLst>
              <a:ext uri="{FF2B5EF4-FFF2-40B4-BE49-F238E27FC236}">
                <a16:creationId xmlns:a16="http://schemas.microsoft.com/office/drawing/2014/main" id="{0675EAE8-835C-48FD-96D2-54339783080C}"/>
              </a:ext>
            </a:extLst>
          </p:cNvPr>
          <p:cNvSpPr/>
          <p:nvPr/>
        </p:nvSpPr>
        <p:spPr>
          <a:xfrm>
            <a:off x="4803336" y="2137255"/>
            <a:ext cx="285824" cy="1583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F2AE9C8D-537E-4251-A076-346F6A95D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505" y="3587514"/>
            <a:ext cx="298769" cy="164240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693D1D71-9048-4544-A219-DA5EA7C35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150" y="3583496"/>
            <a:ext cx="298769" cy="164240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AE06E21C-16A7-4A3F-A8D9-9BDEC7774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939" y="3854935"/>
            <a:ext cx="298769" cy="164240"/>
          </a:xfrm>
          <a:prstGeom prst="rect">
            <a:avLst/>
          </a:prstGeom>
        </p:spPr>
      </p:pic>
      <p:cxnSp>
        <p:nvCxnSpPr>
          <p:cNvPr id="85" name="구부러진 연결선 274">
            <a:extLst>
              <a:ext uri="{FF2B5EF4-FFF2-40B4-BE49-F238E27FC236}">
                <a16:creationId xmlns:a16="http://schemas.microsoft.com/office/drawing/2014/main" id="{FAD8BEF3-E266-447A-8359-067E869BDE45}"/>
              </a:ext>
            </a:extLst>
          </p:cNvPr>
          <p:cNvCxnSpPr>
            <a:cxnSpLocks/>
          </p:cNvCxnSpPr>
          <p:nvPr/>
        </p:nvCxnSpPr>
        <p:spPr>
          <a:xfrm rot="5400000">
            <a:off x="4612174" y="3590378"/>
            <a:ext cx="287540" cy="233236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4E53C3C-96C9-4035-A179-19040476B0A4}"/>
              </a:ext>
            </a:extLst>
          </p:cNvPr>
          <p:cNvSpPr/>
          <p:nvPr/>
        </p:nvSpPr>
        <p:spPr>
          <a:xfrm>
            <a:off x="4854217" y="3405600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5CF3B7-339D-49F6-8DEE-370E965A47D3}"/>
              </a:ext>
            </a:extLst>
          </p:cNvPr>
          <p:cNvSpPr txBox="1"/>
          <p:nvPr/>
        </p:nvSpPr>
        <p:spPr>
          <a:xfrm>
            <a:off x="4416579" y="4122356"/>
            <a:ext cx="884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latin typeface="Cambria Math" panose="02040503050406030204" pitchFamily="18" charset="0"/>
                <a:ea typeface="Cambria Math" panose="02040503050406030204" pitchFamily="18" charset="0"/>
              </a:rPr>
              <a:t>Xarray1</a:t>
            </a:r>
            <a:endParaRPr lang="ko-KR" altLang="en-US" sz="1600" i="1" dirty="0">
              <a:latin typeface="Cambria Math" panose="020405030504060302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9C0A5A3-4FCA-4531-9335-109A54C0BBE0}"/>
              </a:ext>
            </a:extLst>
          </p:cNvPr>
          <p:cNvSpPr txBox="1"/>
          <p:nvPr/>
        </p:nvSpPr>
        <p:spPr>
          <a:xfrm>
            <a:off x="5344049" y="3547681"/>
            <a:ext cx="498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866852-BBB3-47A9-903C-C11009B0D66D}"/>
              </a:ext>
            </a:extLst>
          </p:cNvPr>
          <p:cNvSpPr txBox="1"/>
          <p:nvPr/>
        </p:nvSpPr>
        <p:spPr>
          <a:xfrm>
            <a:off x="5350735" y="2245470"/>
            <a:ext cx="498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6381C0A-53EA-4908-8222-4FDC368036C6}"/>
              </a:ext>
            </a:extLst>
          </p:cNvPr>
          <p:cNvSpPr txBox="1"/>
          <p:nvPr/>
        </p:nvSpPr>
        <p:spPr>
          <a:xfrm>
            <a:off x="5815999" y="991043"/>
            <a:ext cx="4988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Observations: </a:t>
            </a:r>
          </a:p>
          <a:p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Operations are simple</a:t>
            </a:r>
            <a:endParaRPr lang="en-US" altLang="ko-K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D604EB13-AD3D-40C0-8262-A603E3EFA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94783"/>
              </p:ext>
            </p:extLst>
          </p:nvPr>
        </p:nvGraphicFramePr>
        <p:xfrm>
          <a:off x="6171334" y="2214337"/>
          <a:ext cx="1459055" cy="307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11">
                  <a:extLst>
                    <a:ext uri="{9D8B030D-6E8A-4147-A177-3AD203B41FA5}">
                      <a16:colId xmlns:a16="http://schemas.microsoft.com/office/drawing/2014/main" val="1835697380"/>
                    </a:ext>
                  </a:extLst>
                </a:gridCol>
                <a:gridCol w="291811">
                  <a:extLst>
                    <a:ext uri="{9D8B030D-6E8A-4147-A177-3AD203B41FA5}">
                      <a16:colId xmlns:a16="http://schemas.microsoft.com/office/drawing/2014/main" val="3786752109"/>
                    </a:ext>
                  </a:extLst>
                </a:gridCol>
                <a:gridCol w="291811">
                  <a:extLst>
                    <a:ext uri="{9D8B030D-6E8A-4147-A177-3AD203B41FA5}">
                      <a16:colId xmlns:a16="http://schemas.microsoft.com/office/drawing/2014/main" val="936844198"/>
                    </a:ext>
                  </a:extLst>
                </a:gridCol>
                <a:gridCol w="291811">
                  <a:extLst>
                    <a:ext uri="{9D8B030D-6E8A-4147-A177-3AD203B41FA5}">
                      <a16:colId xmlns:a16="http://schemas.microsoft.com/office/drawing/2014/main" val="2433873547"/>
                    </a:ext>
                  </a:extLst>
                </a:gridCol>
                <a:gridCol w="291811">
                  <a:extLst>
                    <a:ext uri="{9D8B030D-6E8A-4147-A177-3AD203B41FA5}">
                      <a16:colId xmlns:a16="http://schemas.microsoft.com/office/drawing/2014/main" val="1773298961"/>
                    </a:ext>
                  </a:extLst>
                </a:gridCol>
              </a:tblGrid>
              <a:tr h="307776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915008"/>
                  </a:ext>
                </a:extLst>
              </a:tr>
            </a:tbl>
          </a:graphicData>
        </a:graphic>
      </p:graphicFrame>
      <p:pic>
        <p:nvPicPr>
          <p:cNvPr id="92" name="그림 91">
            <a:extLst>
              <a:ext uri="{FF2B5EF4-FFF2-40B4-BE49-F238E27FC236}">
                <a16:creationId xmlns:a16="http://schemas.microsoft.com/office/drawing/2014/main" id="{899C63D1-5118-4F14-952F-854FEBF12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183" y="4008771"/>
            <a:ext cx="298769" cy="16424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0DE02631-128C-4265-8C17-750B0F2B1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28" y="4004753"/>
            <a:ext cx="298769" cy="164240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B7A073F2-8DA3-4E89-AAA0-62ACFDC59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617" y="4276192"/>
            <a:ext cx="298769" cy="164240"/>
          </a:xfrm>
          <a:prstGeom prst="rect">
            <a:avLst/>
          </a:prstGeom>
        </p:spPr>
      </p:pic>
      <p:cxnSp>
        <p:nvCxnSpPr>
          <p:cNvPr id="95" name="구부러진 연결선 274">
            <a:extLst>
              <a:ext uri="{FF2B5EF4-FFF2-40B4-BE49-F238E27FC236}">
                <a16:creationId xmlns:a16="http://schemas.microsoft.com/office/drawing/2014/main" id="{936F0957-D4E2-4E9E-8B91-995A9973A9A7}"/>
              </a:ext>
            </a:extLst>
          </p:cNvPr>
          <p:cNvCxnSpPr>
            <a:cxnSpLocks/>
          </p:cNvCxnSpPr>
          <p:nvPr/>
        </p:nvCxnSpPr>
        <p:spPr>
          <a:xfrm rot="5400000">
            <a:off x="6183852" y="4011635"/>
            <a:ext cx="287540" cy="2332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256B900-6A68-4A50-BA71-AAF356B1CAE5}"/>
              </a:ext>
            </a:extLst>
          </p:cNvPr>
          <p:cNvSpPr/>
          <p:nvPr/>
        </p:nvSpPr>
        <p:spPr>
          <a:xfrm>
            <a:off x="6425895" y="3826857"/>
            <a:ext cx="141865" cy="1539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ECFBCE3-5387-420B-9406-0697DEDA751F}"/>
              </a:ext>
            </a:extLst>
          </p:cNvPr>
          <p:cNvSpPr txBox="1"/>
          <p:nvPr/>
        </p:nvSpPr>
        <p:spPr>
          <a:xfrm>
            <a:off x="5916685" y="2549021"/>
            <a:ext cx="1641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latin typeface="Cambria Math" panose="02040503050406030204" pitchFamily="18" charset="0"/>
                <a:ea typeface="Cambria Math" panose="02040503050406030204" pitchFamily="18" charset="0"/>
              </a:rPr>
              <a:t>page descriptors</a:t>
            </a:r>
            <a:endParaRPr lang="ko-KR" altLang="en-US" sz="1600" i="1" dirty="0">
              <a:latin typeface="Cambria Math" panose="020405030504060302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870C8B5-4E73-4F08-B8D8-2F7B8298DC1E}"/>
              </a:ext>
            </a:extLst>
          </p:cNvPr>
          <p:cNvSpPr txBox="1"/>
          <p:nvPr/>
        </p:nvSpPr>
        <p:spPr>
          <a:xfrm>
            <a:off x="5916685" y="4543613"/>
            <a:ext cx="8840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i="1">
                <a:latin typeface="Cambria Math" panose="02040503050406030204" pitchFamily="18" charset="0"/>
                <a:ea typeface="Cambria Math" panose="02040503050406030204" pitchFamily="18" charset="0"/>
              </a:rPr>
              <a:t>Xarray0</a:t>
            </a:r>
            <a:endParaRPr lang="ko-KR" altLang="en-US" sz="1600" i="1" dirty="0">
              <a:latin typeface="Cambria Math" panose="02040503050406030204" pitchFamily="18" charset="0"/>
            </a:endParaRPr>
          </a:p>
        </p:txBody>
      </p:sp>
      <p:sp>
        <p:nvSpPr>
          <p:cNvPr id="99" name="화살표: 아래로 구부러짐 98">
            <a:extLst>
              <a:ext uri="{FF2B5EF4-FFF2-40B4-BE49-F238E27FC236}">
                <a16:creationId xmlns:a16="http://schemas.microsoft.com/office/drawing/2014/main" id="{E5FBBC39-8849-4F18-BF22-D7BCC185B289}"/>
              </a:ext>
            </a:extLst>
          </p:cNvPr>
          <p:cNvSpPr/>
          <p:nvPr/>
        </p:nvSpPr>
        <p:spPr>
          <a:xfrm>
            <a:off x="6300949" y="2024758"/>
            <a:ext cx="285824" cy="1583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0" name="화살표: 아래로 구부러짐 99">
            <a:extLst>
              <a:ext uri="{FF2B5EF4-FFF2-40B4-BE49-F238E27FC236}">
                <a16:creationId xmlns:a16="http://schemas.microsoft.com/office/drawing/2014/main" id="{4A06DC86-C085-418E-8094-018F072BF268}"/>
              </a:ext>
            </a:extLst>
          </p:cNvPr>
          <p:cNvSpPr/>
          <p:nvPr/>
        </p:nvSpPr>
        <p:spPr>
          <a:xfrm>
            <a:off x="6629927" y="2013788"/>
            <a:ext cx="285824" cy="1583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1" name="화살표: 아래로 구부러짐 100">
            <a:extLst>
              <a:ext uri="{FF2B5EF4-FFF2-40B4-BE49-F238E27FC236}">
                <a16:creationId xmlns:a16="http://schemas.microsoft.com/office/drawing/2014/main" id="{8B1FDDC5-8077-4265-8652-D9D58D41419B}"/>
              </a:ext>
            </a:extLst>
          </p:cNvPr>
          <p:cNvSpPr/>
          <p:nvPr/>
        </p:nvSpPr>
        <p:spPr>
          <a:xfrm>
            <a:off x="6958905" y="2013788"/>
            <a:ext cx="285824" cy="1583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2" name="화살표: 아래로 구부러짐 101">
            <a:extLst>
              <a:ext uri="{FF2B5EF4-FFF2-40B4-BE49-F238E27FC236}">
                <a16:creationId xmlns:a16="http://schemas.microsoft.com/office/drawing/2014/main" id="{52A997E2-D661-47A6-9871-B21B3AEF3F3C}"/>
              </a:ext>
            </a:extLst>
          </p:cNvPr>
          <p:cNvSpPr/>
          <p:nvPr/>
        </p:nvSpPr>
        <p:spPr>
          <a:xfrm>
            <a:off x="7287883" y="2013788"/>
            <a:ext cx="285824" cy="15832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6AACDB1-3BF0-4A77-99BF-79B40B3A7AFC}"/>
              </a:ext>
            </a:extLst>
          </p:cNvPr>
          <p:cNvSpPr txBox="1"/>
          <p:nvPr/>
        </p:nvSpPr>
        <p:spPr>
          <a:xfrm>
            <a:off x="7835282" y="2122003"/>
            <a:ext cx="498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D5DE973-7287-4644-8392-BF69339BA124}"/>
              </a:ext>
            </a:extLst>
          </p:cNvPr>
          <p:cNvSpPr/>
          <p:nvPr/>
        </p:nvSpPr>
        <p:spPr>
          <a:xfrm>
            <a:off x="8615143" y="1656483"/>
            <a:ext cx="2997103" cy="11449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1D6CEB0-44CF-41EC-B072-18C63F7119A4}"/>
              </a:ext>
            </a:extLst>
          </p:cNvPr>
          <p:cNvSpPr txBox="1"/>
          <p:nvPr/>
        </p:nvSpPr>
        <p:spPr>
          <a:xfrm>
            <a:off x="8084324" y="2916249"/>
            <a:ext cx="3792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</a:t>
            </a:r>
            <a:r>
              <a:rPr lang="en-US" altLang="ko-KR" b="1" u="sng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altLang="ko-KR" b="1" u="sng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hift</a:t>
            </a:r>
            <a:r>
              <a:rPr lang="en-US" altLang="ko-KR" b="1" u="sng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/bitwise </a:t>
            </a:r>
            <a:r>
              <a:rPr lang="en-US" altLang="ko-KR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on flags</a:t>
            </a:r>
            <a:endParaRPr lang="ko-KR" alt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55D80B5-5759-42D7-BE2E-5E7DC3F91A59}"/>
              </a:ext>
            </a:extLst>
          </p:cNvPr>
          <p:cNvSpPr txBox="1"/>
          <p:nvPr/>
        </p:nvSpPr>
        <p:spPr>
          <a:xfrm>
            <a:off x="8711245" y="1789735"/>
            <a:ext cx="1497654" cy="86177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Reclaimable?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writeback</a:t>
            </a:r>
            <a:r>
              <a:rPr lang="en-US" altLang="ko-K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</a:t>
            </a:r>
            <a:endParaRPr lang="en-US" altLang="ko-K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Activated?</a:t>
            </a:r>
            <a:endParaRPr lang="en-US" altLang="ko-K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pic>
        <p:nvPicPr>
          <p:cNvPr id="149" name="그림 148" descr="폰트, 그래픽, 스크린샷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39FF532-3E85-4386-87A7-2AE005ACDF2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620" y="1820460"/>
            <a:ext cx="816272" cy="816272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284FFC4-AA6C-4299-81F1-ED910AEC1B4A}"/>
              </a:ext>
            </a:extLst>
          </p:cNvPr>
          <p:cNvCxnSpPr>
            <a:stCxn id="102" idx="0"/>
          </p:cNvCxnSpPr>
          <p:nvPr/>
        </p:nvCxnSpPr>
        <p:spPr>
          <a:xfrm flipV="1">
            <a:off x="7420900" y="1789735"/>
            <a:ext cx="1194243" cy="224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CB025A0D-9B79-4B38-8BD9-77480CF3CB7C}"/>
              </a:ext>
            </a:extLst>
          </p:cNvPr>
          <p:cNvSpPr txBox="1"/>
          <p:nvPr/>
        </p:nvSpPr>
        <p:spPr>
          <a:xfrm>
            <a:off x="9777003" y="4231871"/>
            <a:ext cx="2997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entry[3] = entry[2]</a:t>
            </a:r>
            <a:r>
              <a:rPr lang="ko-KR" altLang="en-US" sz="14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ko-KR" altLang="en-US" sz="14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ko-KR" sz="1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D902DBF6-70E1-4295-A911-5832E3DA6C71}"/>
              </a:ext>
            </a:extLst>
          </p:cNvPr>
          <p:cNvSpPr/>
          <p:nvPr/>
        </p:nvSpPr>
        <p:spPr>
          <a:xfrm>
            <a:off x="7475492" y="3826857"/>
            <a:ext cx="3093638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5FBDAB92-D7BA-437D-8076-231966245167}"/>
                  </a:ext>
                </a:extLst>
              </p:cNvPr>
              <p:cNvSpPr txBox="1"/>
              <p:nvPr/>
            </p:nvSpPr>
            <p:spPr>
              <a:xfrm>
                <a:off x="9962420" y="3858206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5FBDAB92-D7BA-437D-8076-231966245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2420" y="3858206"/>
                <a:ext cx="710587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9" name="표 158">
            <a:extLst>
              <a:ext uri="{FF2B5EF4-FFF2-40B4-BE49-F238E27FC236}">
                <a16:creationId xmlns:a16="http://schemas.microsoft.com/office/drawing/2014/main" id="{EA278F9F-4DB4-4C3B-8982-945616B7D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220892"/>
              </p:ext>
            </p:extLst>
          </p:nvPr>
        </p:nvGraphicFramePr>
        <p:xfrm>
          <a:off x="7534420" y="3877488"/>
          <a:ext cx="2448784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160" name="TextBox 159">
            <a:extLst>
              <a:ext uri="{FF2B5EF4-FFF2-40B4-BE49-F238E27FC236}">
                <a16:creationId xmlns:a16="http://schemas.microsoft.com/office/drawing/2014/main" id="{9E1AAC6C-9EC7-41CE-A80E-906ED4EA3F5C}"/>
              </a:ext>
            </a:extLst>
          </p:cNvPr>
          <p:cNvSpPr txBox="1"/>
          <p:nvPr/>
        </p:nvSpPr>
        <p:spPr>
          <a:xfrm>
            <a:off x="8720847" y="3866643"/>
            <a:ext cx="744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entry[2]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2BB56F49-7E48-4DCD-9DB2-E21786A7DDF3}"/>
              </a:ext>
            </a:extLst>
          </p:cNvPr>
          <p:cNvSpPr/>
          <p:nvPr/>
        </p:nvSpPr>
        <p:spPr>
          <a:xfrm>
            <a:off x="7475492" y="4605537"/>
            <a:ext cx="3800063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A437E90B-D767-4B98-A2B6-55AF289687C9}"/>
                  </a:ext>
                </a:extLst>
              </p:cNvPr>
              <p:cNvSpPr txBox="1"/>
              <p:nvPr/>
            </p:nvSpPr>
            <p:spPr>
              <a:xfrm>
                <a:off x="9962420" y="4648056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A437E90B-D767-4B98-A2B6-55AF28968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2420" y="4648056"/>
                <a:ext cx="71058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6159F6D0-4AB8-4169-A7C1-D45707EC0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850101"/>
              </p:ext>
            </p:extLst>
          </p:nvPr>
        </p:nvGraphicFramePr>
        <p:xfrm>
          <a:off x="8224223" y="4669500"/>
          <a:ext cx="2448784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168" name="TextBox 167">
            <a:extLst>
              <a:ext uri="{FF2B5EF4-FFF2-40B4-BE49-F238E27FC236}">
                <a16:creationId xmlns:a16="http://schemas.microsoft.com/office/drawing/2014/main" id="{A3FF1558-57F3-41D1-9CBB-E492481E158F}"/>
              </a:ext>
            </a:extLst>
          </p:cNvPr>
          <p:cNvSpPr txBox="1"/>
          <p:nvPr/>
        </p:nvSpPr>
        <p:spPr>
          <a:xfrm>
            <a:off x="9427272" y="4645323"/>
            <a:ext cx="744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entry[3]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5" name="연결선: 꺾임 174">
            <a:extLst>
              <a:ext uri="{FF2B5EF4-FFF2-40B4-BE49-F238E27FC236}">
                <a16:creationId xmlns:a16="http://schemas.microsoft.com/office/drawing/2014/main" id="{516D7462-B36D-479B-B944-042066DA6C7E}"/>
              </a:ext>
            </a:extLst>
          </p:cNvPr>
          <p:cNvCxnSpPr>
            <a:cxnSpLocks/>
            <a:stCxn id="160" idx="2"/>
            <a:endCxn id="168" idx="0"/>
          </p:cNvCxnSpPr>
          <p:nvPr/>
        </p:nvCxnSpPr>
        <p:spPr>
          <a:xfrm rot="16200000" flipH="1">
            <a:off x="9195414" y="4041269"/>
            <a:ext cx="501681" cy="70642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969D15DD-10DD-42CC-887C-F73ECEC33528}"/>
              </a:ext>
            </a:extLst>
          </p:cNvPr>
          <p:cNvSpPr txBox="1"/>
          <p:nvPr/>
        </p:nvSpPr>
        <p:spPr>
          <a:xfrm>
            <a:off x="7748202" y="454634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E4E94EF-38AE-426B-922B-E61C7BEB110B}"/>
              </a:ext>
            </a:extLst>
          </p:cNvPr>
          <p:cNvSpPr txBox="1"/>
          <p:nvPr/>
        </p:nvSpPr>
        <p:spPr>
          <a:xfrm>
            <a:off x="10769650" y="456747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B0D7824-B3B0-40BE-A610-45E51CEB716D}"/>
              </a:ext>
            </a:extLst>
          </p:cNvPr>
          <p:cNvSpPr txBox="1"/>
          <p:nvPr/>
        </p:nvSpPr>
        <p:spPr>
          <a:xfrm>
            <a:off x="8720847" y="4986285"/>
            <a:ext cx="2997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entry[3] = SHADOW_VALUE </a:t>
            </a:r>
            <a:endParaRPr lang="en-US" altLang="ko-KR" sz="1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EA82FAE-8EF4-410F-A22E-AFEA85C0B928}"/>
              </a:ext>
            </a:extLst>
          </p:cNvPr>
          <p:cNvSpPr txBox="1"/>
          <p:nvPr/>
        </p:nvSpPr>
        <p:spPr>
          <a:xfrm>
            <a:off x="8197476" y="5415320"/>
            <a:ext cx="332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</a:t>
            </a:r>
            <a:r>
              <a:rPr lang="en-US" altLang="ko-KR" b="1" u="sng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arithmetic/store </a:t>
            </a:r>
            <a:r>
              <a:rPr lang="en-US" altLang="ko-KR" b="1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ko-KR" alt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9EEC8B1-E0FF-4ECF-938C-AA2D35E9C8B6}"/>
              </a:ext>
            </a:extLst>
          </p:cNvPr>
          <p:cNvSpPr txBox="1"/>
          <p:nvPr/>
        </p:nvSpPr>
        <p:spPr>
          <a:xfrm>
            <a:off x="5815999" y="6042969"/>
            <a:ext cx="6857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Operations on each metadata objects are independent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Each XArray traversal can be performed in parallel</a:t>
            </a:r>
            <a:endParaRPr lang="en-US" altLang="ko-KR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1184D96-9228-4EEC-9D09-63D3FF64A228}"/>
              </a:ext>
            </a:extLst>
          </p:cNvPr>
          <p:cNvCxnSpPr>
            <a:cxnSpLocks/>
          </p:cNvCxnSpPr>
          <p:nvPr/>
        </p:nvCxnSpPr>
        <p:spPr>
          <a:xfrm flipV="1">
            <a:off x="5775183" y="779142"/>
            <a:ext cx="36325" cy="6071898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DAD367BC-2600-4A26-B6E2-BFA0666A0B74}"/>
              </a:ext>
            </a:extLst>
          </p:cNvPr>
          <p:cNvSpPr txBox="1"/>
          <p:nvPr/>
        </p:nvSpPr>
        <p:spPr>
          <a:xfrm>
            <a:off x="2255897" y="2998061"/>
            <a:ext cx="1889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reclaim efficeincy</a:t>
            </a:r>
            <a:endParaRPr lang="en-US" altLang="ko-KR" sz="14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F96FBC-9FDD-4BAE-85E9-A2ABA5EB66E9}"/>
              </a:ext>
            </a:extLst>
          </p:cNvPr>
          <p:cNvSpPr/>
          <p:nvPr/>
        </p:nvSpPr>
        <p:spPr>
          <a:xfrm>
            <a:off x="3724433" y="3866198"/>
            <a:ext cx="141865" cy="1539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i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044A97C2-BFF0-4C23-A8EB-3132C45E9282}"/>
              </a:ext>
            </a:extLst>
          </p:cNvPr>
          <p:cNvSpPr/>
          <p:nvPr/>
        </p:nvSpPr>
        <p:spPr>
          <a:xfrm>
            <a:off x="4586402" y="3856022"/>
            <a:ext cx="141865" cy="1539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i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64203FA4-5DA4-4F91-A6E1-B167960C720B}"/>
              </a:ext>
            </a:extLst>
          </p:cNvPr>
          <p:cNvSpPr/>
          <p:nvPr/>
        </p:nvSpPr>
        <p:spPr>
          <a:xfrm>
            <a:off x="6170551" y="4282183"/>
            <a:ext cx="141865" cy="1539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i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4ED357-73F7-40A8-BABD-FD5DC3EFB1D7}"/>
              </a:ext>
            </a:extLst>
          </p:cNvPr>
          <p:cNvSpPr txBox="1"/>
          <p:nvPr/>
        </p:nvSpPr>
        <p:spPr>
          <a:xfrm>
            <a:off x="893903" y="5136353"/>
            <a:ext cx="5692870" cy="83099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8000">
                <a:schemeClr val="accent4">
                  <a:lumMod val="20000"/>
                  <a:lumOff val="80000"/>
                </a:schemeClr>
              </a:gs>
              <a:gs pos="57000">
                <a:schemeClr val="accent4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NMP-based solution is needed on the CXL DRAM side where metadata resides</a:t>
            </a:r>
            <a:endParaRPr lang="ko-KR" altLang="en-US" sz="2400" b="1" i="1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52B0DD8-9BCB-4286-8506-2A31A0CDDC2D}"/>
              </a:ext>
            </a:extLst>
          </p:cNvPr>
          <p:cNvSpPr txBox="1"/>
          <p:nvPr/>
        </p:nvSpPr>
        <p:spPr>
          <a:xfrm>
            <a:off x="1134961" y="3266089"/>
            <a:ext cx="11197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PCIe PHY</a:t>
            </a:r>
          </a:p>
          <a:p>
            <a:r>
              <a:rPr lang="en-US" altLang="ko-KR" sz="1400" i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controller </a:t>
            </a:r>
          </a:p>
          <a:p>
            <a:r>
              <a:rPr lang="en-US" altLang="ko-KR" sz="1400" i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4F297A7-3BF1-4597-BCA9-D65CEE04DEDA}"/>
              </a:ext>
            </a:extLst>
          </p:cNvPr>
          <p:cNvCxnSpPr>
            <a:cxnSpLocks/>
            <a:endCxn id="70" idx="3"/>
          </p:cNvCxnSpPr>
          <p:nvPr/>
        </p:nvCxnSpPr>
        <p:spPr>
          <a:xfrm flipV="1">
            <a:off x="1126289" y="2399860"/>
            <a:ext cx="9371" cy="1746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2448C8F-1D81-4F38-9993-6B07DE1C8BB5}"/>
              </a:ext>
            </a:extLst>
          </p:cNvPr>
          <p:cNvGrpSpPr/>
          <p:nvPr/>
        </p:nvGrpSpPr>
        <p:grpSpPr>
          <a:xfrm>
            <a:off x="362605" y="2013332"/>
            <a:ext cx="3586814" cy="2557062"/>
            <a:chOff x="362605" y="2013332"/>
            <a:chExt cx="3586814" cy="2557062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F78AB46-BDDE-42AE-9638-4D50D19D696B}"/>
                </a:ext>
              </a:extLst>
            </p:cNvPr>
            <p:cNvCxnSpPr>
              <a:cxnSpLocks/>
            </p:cNvCxnSpPr>
            <p:nvPr/>
          </p:nvCxnSpPr>
          <p:spPr>
            <a:xfrm>
              <a:off x="749133" y="2679447"/>
              <a:ext cx="16254" cy="1503726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B515189E-3777-44AB-811E-88004B8A9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05" y="2013332"/>
              <a:ext cx="773055" cy="773055"/>
            </a:xfrm>
            <a:prstGeom prst="rect">
              <a:avLst/>
            </a:prstGeom>
          </p:spPr>
        </p:pic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A9292B03-C185-40C7-BF62-232A311F18C5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H="1">
              <a:off x="2290852" y="2148225"/>
              <a:ext cx="1658567" cy="1435271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E90FAF97-E337-4ABC-84ED-4E5B3F74CD2D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 flipH="1" flipV="1">
              <a:off x="2317462" y="3625719"/>
              <a:ext cx="1556031" cy="127339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모서리가 둥근 직사각형 51">
              <a:extLst>
                <a:ext uri="{FF2B5EF4-FFF2-40B4-BE49-F238E27FC236}">
                  <a16:creationId xmlns:a16="http://schemas.microsoft.com/office/drawing/2014/main" id="{7B5F71D9-33D7-4908-A5DD-0C31D054BA88}"/>
                </a:ext>
              </a:extLst>
            </p:cNvPr>
            <p:cNvSpPr/>
            <p:nvPr/>
          </p:nvSpPr>
          <p:spPr>
            <a:xfrm>
              <a:off x="446492" y="4171199"/>
              <a:ext cx="1463226" cy="399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324695F-8B78-48DC-8E87-F1FFD2956EF8}"/>
                </a:ext>
              </a:extLst>
            </p:cNvPr>
            <p:cNvSpPr txBox="1"/>
            <p:nvPr/>
          </p:nvSpPr>
          <p:spPr>
            <a:xfrm>
              <a:off x="526805" y="4171199"/>
              <a:ext cx="1398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>
                  <a:latin typeface="Calibri" panose="020F0502020204030204" pitchFamily="34" charset="0"/>
                  <a:cs typeface="Calibri" panose="020F0502020204030204" pitchFamily="34" charset="0"/>
                </a:rPr>
                <a:t>CXL DRAM</a:t>
              </a:r>
              <a:endParaRPr lang="en-US" altLang="ko-KR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모서리가 둥근 직사각형 51">
              <a:extLst>
                <a:ext uri="{FF2B5EF4-FFF2-40B4-BE49-F238E27FC236}">
                  <a16:creationId xmlns:a16="http://schemas.microsoft.com/office/drawing/2014/main" id="{EB1055E1-523A-4F60-B5B2-8DBD8093FA03}"/>
                </a:ext>
              </a:extLst>
            </p:cNvPr>
            <p:cNvSpPr/>
            <p:nvPr/>
          </p:nvSpPr>
          <p:spPr>
            <a:xfrm>
              <a:off x="446492" y="2833280"/>
              <a:ext cx="1277767" cy="3991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649B726-DB4E-412C-ADFF-CF7291B85B4E}"/>
                </a:ext>
              </a:extLst>
            </p:cNvPr>
            <p:cNvSpPr txBox="1"/>
            <p:nvPr/>
          </p:nvSpPr>
          <p:spPr>
            <a:xfrm>
              <a:off x="526805" y="2871296"/>
              <a:ext cx="1253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>
                  <a:latin typeface="Calibri" panose="020F0502020204030204" pitchFamily="34" charset="0"/>
                  <a:cs typeface="Calibri" panose="020F0502020204030204" pitchFamily="34" charset="0"/>
                </a:rPr>
                <a:t>Local DRAM</a:t>
              </a:r>
              <a:endParaRPr lang="en-US" altLang="ko-KR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오른쪽 중괄호 32">
              <a:extLst>
                <a:ext uri="{FF2B5EF4-FFF2-40B4-BE49-F238E27FC236}">
                  <a16:creationId xmlns:a16="http://schemas.microsoft.com/office/drawing/2014/main" id="{A8FAB794-9862-4B54-8E11-0EFA2421FEFF}"/>
                </a:ext>
              </a:extLst>
            </p:cNvPr>
            <p:cNvSpPr/>
            <p:nvPr/>
          </p:nvSpPr>
          <p:spPr>
            <a:xfrm>
              <a:off x="2043289" y="3232475"/>
              <a:ext cx="132646" cy="676904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2" name="그림 41">
            <a:extLst>
              <a:ext uri="{FF2B5EF4-FFF2-40B4-BE49-F238E27FC236}">
                <a16:creationId xmlns:a16="http://schemas.microsoft.com/office/drawing/2014/main" id="{B9F0C436-7287-4B16-B55D-041CC4B949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544" y="1954319"/>
            <a:ext cx="1204117" cy="12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1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9" grpId="0" animBg="1"/>
      <p:bldP spid="80" grpId="0" animBg="1"/>
      <p:bldP spid="81" grpId="0" animBg="1"/>
      <p:bldP spid="90" grpId="0"/>
      <p:bldP spid="96" grpId="0" animBg="1"/>
      <p:bldP spid="97" grpId="0"/>
      <p:bldP spid="98" grpId="0"/>
      <p:bldP spid="99" grpId="0" animBg="1"/>
      <p:bldP spid="100" grpId="0" animBg="1"/>
      <p:bldP spid="101" grpId="0" animBg="1"/>
      <p:bldP spid="102" grpId="0" animBg="1"/>
      <p:bldP spid="112" grpId="0"/>
      <p:bldP spid="145" grpId="0" animBg="1"/>
      <p:bldP spid="147" grpId="0"/>
      <p:bldP spid="148" grpId="0"/>
      <p:bldP spid="150" grpId="0"/>
      <p:bldP spid="157" grpId="0" animBg="1"/>
      <p:bldP spid="158" grpId="0"/>
      <p:bldP spid="160" grpId="0"/>
      <p:bldP spid="161" grpId="0" animBg="1"/>
      <p:bldP spid="165" grpId="0"/>
      <p:bldP spid="168" grpId="0"/>
      <p:bldP spid="181" grpId="0"/>
      <p:bldP spid="182" grpId="0"/>
      <p:bldP spid="188" grpId="0"/>
      <p:bldP spid="189" grpId="0"/>
      <p:bldP spid="190" grpId="0"/>
      <p:bldP spid="191" grpId="0"/>
      <p:bldP spid="194" grpId="0" animBg="1"/>
      <p:bldP spid="72" grpId="0" animBg="1"/>
      <p:bldP spid="1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41440C-E2F2-4033-B3D2-9026F063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151"/>
            <a:ext cx="10515600" cy="4351338"/>
          </a:xfrm>
        </p:spPr>
        <p:txBody>
          <a:bodyPr/>
          <a:lstStyle/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lvl="1"/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Rise of CXL DRAM Systems and Their Challenges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Motivation: </a:t>
            </a:r>
          </a:p>
          <a:p>
            <a:pPr lvl="1"/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reclamation slowdown and latency spikes in CXL DRAM systems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>
                <a:latin typeface="Calibri" panose="020F0502020204030204" pitchFamily="34" charset="0"/>
                <a:cs typeface="Calibri" panose="020F0502020204030204" pitchFamily="34" charset="0"/>
              </a:rPr>
              <a:t>MAC Design &amp; Challenges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Experimental Evaluations</a:t>
            </a:r>
            <a:endParaRPr lang="ko-KR" altLang="en-US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960BD8-1667-451C-84BF-5EDD3FEB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99EA01C-FE7F-49F3-9596-941DA764AAC5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2A08F2C3-6613-43B4-B281-8EF85C0F8FC0}"/>
              </a:ext>
            </a:extLst>
          </p:cNvPr>
          <p:cNvSpPr txBox="1">
            <a:spLocks/>
          </p:cNvSpPr>
          <p:nvPr/>
        </p:nvSpPr>
        <p:spPr>
          <a:xfrm>
            <a:off x="174066" y="87094"/>
            <a:ext cx="3124200" cy="662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38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1" y="205038"/>
            <a:ext cx="12373809" cy="559666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MAC: Metadata Acceleration inside the CXL DRAM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EC0CB-C1A3-FC91-299C-6D732CEBAC8A}"/>
              </a:ext>
            </a:extLst>
          </p:cNvPr>
          <p:cNvSpPr txBox="1"/>
          <p:nvPr/>
        </p:nvSpPr>
        <p:spPr>
          <a:xfrm>
            <a:off x="0" y="834014"/>
            <a:ext cx="12493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 metadata (page descriptor and Xarray) on CXL DRAM </a:t>
            </a:r>
            <a:r>
              <a:rPr lang="en-US" altLang="ko-KR" sz="24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offload page reclamation to NMP accelerators.</a:t>
            </a: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EF3896-C319-6446-2853-03D5856DEAD3}"/>
              </a:ext>
            </a:extLst>
          </p:cNvPr>
          <p:cNvSpPr/>
          <p:nvPr/>
        </p:nvSpPr>
        <p:spPr>
          <a:xfrm>
            <a:off x="3754948" y="1883293"/>
            <a:ext cx="2244944" cy="4428597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26EF2-8DD2-4258-6B7F-0F7B18742004}"/>
              </a:ext>
            </a:extLst>
          </p:cNvPr>
          <p:cNvSpPr txBox="1"/>
          <p:nvPr/>
        </p:nvSpPr>
        <p:spPr>
          <a:xfrm>
            <a:off x="4351276" y="6268842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DDR DRAM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3B5D25-4B16-80E1-6C3D-3959087BCC9B}"/>
              </a:ext>
            </a:extLst>
          </p:cNvPr>
          <p:cNvSpPr/>
          <p:nvPr/>
        </p:nvSpPr>
        <p:spPr>
          <a:xfrm>
            <a:off x="6798875" y="1883292"/>
            <a:ext cx="2985701" cy="4428597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65697A-24C2-5E91-97A1-717BAAFBD0C7}"/>
              </a:ext>
            </a:extLst>
          </p:cNvPr>
          <p:cNvSpPr txBox="1"/>
          <p:nvPr/>
        </p:nvSpPr>
        <p:spPr>
          <a:xfrm>
            <a:off x="7722501" y="6283630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CXL-DRAM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2" name="그림 321">
            <a:extLst>
              <a:ext uri="{FF2B5EF4-FFF2-40B4-BE49-F238E27FC236}">
                <a16:creationId xmlns:a16="http://schemas.microsoft.com/office/drawing/2014/main" id="{2D066E7A-3286-AFD3-7BA7-36EBFC2AEDA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820" y="1971869"/>
            <a:ext cx="640306" cy="640306"/>
          </a:xfrm>
          <a:prstGeom prst="rect">
            <a:avLst/>
          </a:prstGeom>
        </p:spPr>
      </p:pic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0778BD19-2FA8-0AEA-5BEB-4CC030A36B2D}"/>
              </a:ext>
            </a:extLst>
          </p:cNvPr>
          <p:cNvCxnSpPr>
            <a:stCxn id="322" idx="3"/>
          </p:cNvCxnSpPr>
          <p:nvPr/>
        </p:nvCxnSpPr>
        <p:spPr>
          <a:xfrm>
            <a:off x="3456126" y="2292022"/>
            <a:ext cx="2984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759269-1E59-66F7-0B67-079FEA570FAA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941268" y="6356350"/>
            <a:ext cx="412531" cy="365125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7917C5-7EC0-49E4-A6C2-03AE78B4145D}"/>
              </a:ext>
            </a:extLst>
          </p:cNvPr>
          <p:cNvSpPr txBox="1"/>
          <p:nvPr/>
        </p:nvSpPr>
        <p:spPr>
          <a:xfrm>
            <a:off x="7139683" y="1984287"/>
            <a:ext cx="298570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Allocate metadata in the less-contended CXL DRAM</a:t>
            </a:r>
            <a:endParaRPr lang="ko-KR" altLang="en-US" sz="1400" b="1" i="1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모서리가 둥근 직사각형 265">
            <a:extLst>
              <a:ext uri="{FF2B5EF4-FFF2-40B4-BE49-F238E27FC236}">
                <a16:creationId xmlns:a16="http://schemas.microsoft.com/office/drawing/2014/main" id="{69DB3E46-12D8-443E-BB71-A4E08B0E459B}"/>
              </a:ext>
            </a:extLst>
          </p:cNvPr>
          <p:cNvSpPr/>
          <p:nvPr/>
        </p:nvSpPr>
        <p:spPr>
          <a:xfrm>
            <a:off x="7929858" y="3725817"/>
            <a:ext cx="1470371" cy="23281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4A8B30CF-F607-4FAA-B9D6-438855400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150" y="5207501"/>
            <a:ext cx="298769" cy="164240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F1E63D02-9FCB-42B9-922C-E1B5709DE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296" y="5429435"/>
            <a:ext cx="298769" cy="164240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1A662376-3532-43A7-BC9D-374B8182A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637" y="5428472"/>
            <a:ext cx="298769" cy="16424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CD9A4AA0-1AB0-40F3-8E46-A64DB8DE0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296" y="5617553"/>
            <a:ext cx="298769" cy="164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D563888-0FEB-4D56-9C16-76FD9EE4879A}"/>
                  </a:ext>
                </a:extLst>
              </p:cNvPr>
              <p:cNvSpPr txBox="1"/>
              <p:nvPr/>
            </p:nvSpPr>
            <p:spPr>
              <a:xfrm rot="5400000">
                <a:off x="8469180" y="4737639"/>
                <a:ext cx="4641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…</m:t>
                      </m:r>
                    </m:oMath>
                  </m:oMathPara>
                </a14:m>
                <a:endParaRPr lang="ko-KR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D563888-0FEB-4D56-9C16-76FD9EE48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469180" y="4737639"/>
                <a:ext cx="46417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1" name="그림 100">
            <a:extLst>
              <a:ext uri="{FF2B5EF4-FFF2-40B4-BE49-F238E27FC236}">
                <a16:creationId xmlns:a16="http://schemas.microsoft.com/office/drawing/2014/main" id="{2B829E41-B6F6-4F93-9FC1-DD8F01B91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674" y="4024219"/>
            <a:ext cx="298769" cy="164240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33DE6361-FD2A-41DB-8D21-DD5C002C8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231" y="4211894"/>
            <a:ext cx="298769" cy="164240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E88003FF-EBCB-4ABB-B188-2E1D1D53B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876" y="4207876"/>
            <a:ext cx="298769" cy="164240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9F248267-FBF6-4EAA-8E1F-0BAF9150C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665" y="4479315"/>
            <a:ext cx="298769" cy="164240"/>
          </a:xfrm>
          <a:prstGeom prst="rect">
            <a:avLst/>
          </a:prstGeom>
        </p:spPr>
      </p:pic>
      <p:cxnSp>
        <p:nvCxnSpPr>
          <p:cNvPr id="105" name="구부러진 연결선 274">
            <a:extLst>
              <a:ext uri="{FF2B5EF4-FFF2-40B4-BE49-F238E27FC236}">
                <a16:creationId xmlns:a16="http://schemas.microsoft.com/office/drawing/2014/main" id="{32E543EA-F93E-4DDC-8343-A3C0D27F284D}"/>
              </a:ext>
            </a:extLst>
          </p:cNvPr>
          <p:cNvCxnSpPr>
            <a:cxnSpLocks/>
            <a:stCxn id="101" idx="2"/>
          </p:cNvCxnSpPr>
          <p:nvPr/>
        </p:nvCxnSpPr>
        <p:spPr>
          <a:xfrm rot="5400000">
            <a:off x="8328675" y="4215613"/>
            <a:ext cx="287538" cy="23323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33A0C88-5E62-4441-910F-A7BF4DDE73B8}"/>
                  </a:ext>
                </a:extLst>
              </p:cNvPr>
              <p:cNvSpPr txBox="1"/>
              <p:nvPr/>
            </p:nvSpPr>
            <p:spPr>
              <a:xfrm>
                <a:off x="8560116" y="5561756"/>
                <a:ext cx="111492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𝑋𝑎𝑟𝑟𝑎𝑦</m:t>
                    </m:r>
                  </m:oMath>
                </a14:m>
                <a:r>
                  <a:rPr lang="en-US" altLang="ko-KR" sz="1200" i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31</a:t>
                </a:r>
                <a:endParaRPr lang="ko-KR" altLang="en-US" sz="1200" i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33A0C88-5E62-4441-910F-A7BF4DDE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116" y="5561756"/>
                <a:ext cx="1114927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106C242-4B2E-4C92-BDA9-78F451520439}"/>
                  </a:ext>
                </a:extLst>
              </p:cNvPr>
              <p:cNvSpPr txBox="1"/>
              <p:nvPr/>
            </p:nvSpPr>
            <p:spPr>
              <a:xfrm>
                <a:off x="8520449" y="4419017"/>
                <a:ext cx="58218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𝑋𝑎𝑟𝑟𝑎𝑦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0</m:t>
                      </m:r>
                    </m:oMath>
                  </m:oMathPara>
                </a14:m>
                <a:endParaRPr lang="ko-KR" altLang="en-US" sz="1200" i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106C242-4B2E-4C92-BDA9-78F451520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449" y="4419017"/>
                <a:ext cx="582185" cy="276999"/>
              </a:xfrm>
              <a:prstGeom prst="rect">
                <a:avLst/>
              </a:prstGeom>
              <a:blipFill>
                <a:blip r:embed="rId7"/>
                <a:stretch>
                  <a:fillRect r="-28421"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구부러진 연결선 294">
            <a:extLst>
              <a:ext uri="{FF2B5EF4-FFF2-40B4-BE49-F238E27FC236}">
                <a16:creationId xmlns:a16="http://schemas.microsoft.com/office/drawing/2014/main" id="{06171AD1-9898-4044-A346-734654216162}"/>
              </a:ext>
            </a:extLst>
          </p:cNvPr>
          <p:cNvCxnSpPr/>
          <p:nvPr/>
        </p:nvCxnSpPr>
        <p:spPr>
          <a:xfrm rot="5400000">
            <a:off x="8521409" y="5415480"/>
            <a:ext cx="263627" cy="12832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09F936E5-8FDB-4C10-A929-1F7BE454D2F8}"/>
              </a:ext>
            </a:extLst>
          </p:cNvPr>
          <p:cNvSpPr txBox="1"/>
          <p:nvPr/>
        </p:nvSpPr>
        <p:spPr>
          <a:xfrm>
            <a:off x="7986829" y="3736519"/>
            <a:ext cx="655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Xarrays</a:t>
            </a:r>
            <a:endParaRPr lang="ko-KR" alt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모서리가 둥근 직사각형 170">
            <a:extLst>
              <a:ext uri="{FF2B5EF4-FFF2-40B4-BE49-F238E27FC236}">
                <a16:creationId xmlns:a16="http://schemas.microsoft.com/office/drawing/2014/main" id="{3D617752-0D64-4586-9A37-1E893F65D17B}"/>
              </a:ext>
            </a:extLst>
          </p:cNvPr>
          <p:cNvSpPr/>
          <p:nvPr/>
        </p:nvSpPr>
        <p:spPr>
          <a:xfrm>
            <a:off x="7906887" y="2640798"/>
            <a:ext cx="1470371" cy="101442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5A5B1B4-80C0-4DDD-94C3-AB5177660D61}"/>
              </a:ext>
            </a:extLst>
          </p:cNvPr>
          <p:cNvSpPr/>
          <p:nvPr/>
        </p:nvSpPr>
        <p:spPr>
          <a:xfrm>
            <a:off x="8349152" y="3414757"/>
            <a:ext cx="515271" cy="1848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AA8825D-EA55-4EA7-8899-AE25745C6076}"/>
                  </a:ext>
                </a:extLst>
              </p:cNvPr>
              <p:cNvSpPr txBox="1"/>
              <p:nvPr/>
            </p:nvSpPr>
            <p:spPr>
              <a:xfrm>
                <a:off x="8280969" y="3360577"/>
                <a:ext cx="6963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𝑝𝑎𝑔𝑒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ko-KR" altLang="en-US" sz="12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AA8825D-EA55-4EA7-8899-AE25745C6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969" y="3360577"/>
                <a:ext cx="696344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>
            <a:extLst>
              <a:ext uri="{FF2B5EF4-FFF2-40B4-BE49-F238E27FC236}">
                <a16:creationId xmlns:a16="http://schemas.microsoft.com/office/drawing/2014/main" id="{DF2071E2-6F92-4C0E-81F7-5C85BAA57598}"/>
              </a:ext>
            </a:extLst>
          </p:cNvPr>
          <p:cNvSpPr txBox="1"/>
          <p:nvPr/>
        </p:nvSpPr>
        <p:spPr>
          <a:xfrm>
            <a:off x="7882161" y="2599578"/>
            <a:ext cx="1237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descriptors</a:t>
            </a:r>
            <a:endParaRPr lang="ko-KR" altLang="en-US" sz="12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5AD5C08-85D1-4DD2-8518-DB8BD53EBE06}"/>
              </a:ext>
            </a:extLst>
          </p:cNvPr>
          <p:cNvSpPr/>
          <p:nvPr/>
        </p:nvSpPr>
        <p:spPr>
          <a:xfrm>
            <a:off x="8345042" y="2858833"/>
            <a:ext cx="515271" cy="184877"/>
          </a:xfrm>
          <a:prstGeom prst="rect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50209FF-852E-44D0-A5F5-660C3F1742A0}"/>
                  </a:ext>
                </a:extLst>
              </p:cNvPr>
              <p:cNvSpPr txBox="1"/>
              <p:nvPr/>
            </p:nvSpPr>
            <p:spPr>
              <a:xfrm>
                <a:off x="8282670" y="2779593"/>
                <a:ext cx="6306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𝑝𝑎𝑔𝑒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50209FF-852E-44D0-A5F5-660C3F174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670" y="2779593"/>
                <a:ext cx="630622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331188A3-DFB4-4D3D-BFBD-CA3AF538238D}"/>
              </a:ext>
            </a:extLst>
          </p:cNvPr>
          <p:cNvSpPr txBox="1"/>
          <p:nvPr/>
        </p:nvSpPr>
        <p:spPr>
          <a:xfrm rot="5400000">
            <a:off x="8499503" y="3131555"/>
            <a:ext cx="2904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</a:t>
            </a:r>
            <a:endParaRPr lang="ko-KR" altLang="en-US" sz="105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FF47928-ED17-4FB3-AC1E-2DF13EF5BA6B}"/>
              </a:ext>
            </a:extLst>
          </p:cNvPr>
          <p:cNvGrpSpPr/>
          <p:nvPr/>
        </p:nvGrpSpPr>
        <p:grpSpPr>
          <a:xfrm>
            <a:off x="3912507" y="3485730"/>
            <a:ext cx="4052420" cy="1369346"/>
            <a:chOff x="3912507" y="3485730"/>
            <a:chExt cx="4052420" cy="1369346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EEF4B6A-832C-4192-ADCB-C174C9BB1BF3}"/>
                </a:ext>
              </a:extLst>
            </p:cNvPr>
            <p:cNvSpPr txBox="1"/>
            <p:nvPr/>
          </p:nvSpPr>
          <p:spPr>
            <a:xfrm>
              <a:off x="3912507" y="3485730"/>
              <a:ext cx="2466463" cy="5232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accent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b="1" i="1">
                  <a:solidFill>
                    <a:schemeClr val="accent2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2. Offload page reclamation to accelerators in CXL DRAM</a:t>
              </a:r>
              <a:endParaRPr lang="ko-KR" altLang="en-US" sz="1400" b="1" i="1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2ED069E-9C5E-4AE3-B497-76C965FA0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269830">
              <a:off x="6051493" y="3530025"/>
              <a:ext cx="840603" cy="840603"/>
            </a:xfrm>
            <a:prstGeom prst="rect">
              <a:avLst/>
            </a:prstGeom>
          </p:spPr>
        </p:pic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E9958CA-4CDE-437F-809D-80128E68142F}"/>
                </a:ext>
              </a:extLst>
            </p:cNvPr>
            <p:cNvSpPr/>
            <p:nvPr/>
          </p:nvSpPr>
          <p:spPr>
            <a:xfrm>
              <a:off x="6775083" y="4147435"/>
              <a:ext cx="1189844" cy="25445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accelerator</a:t>
              </a:r>
            </a:p>
          </p:txBody>
        </p:sp>
        <p:pic>
          <p:nvPicPr>
            <p:cNvPr id="144" name="그림 143">
              <a:extLst>
                <a:ext uri="{FF2B5EF4-FFF2-40B4-BE49-F238E27FC236}">
                  <a16:creationId xmlns:a16="http://schemas.microsoft.com/office/drawing/2014/main" id="{0FADD263-7D16-4587-B1FE-1D8EC078B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741" y="4492410"/>
              <a:ext cx="359094" cy="359094"/>
            </a:xfrm>
            <a:prstGeom prst="rect">
              <a:avLst/>
            </a:prstGeom>
          </p:spPr>
        </p:pic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CAF909A5-B588-443A-9407-0F04C6B55016}"/>
                </a:ext>
              </a:extLst>
            </p:cNvPr>
            <p:cNvSpPr/>
            <p:nvPr/>
          </p:nvSpPr>
          <p:spPr>
            <a:xfrm>
              <a:off x="7615716" y="4432001"/>
              <a:ext cx="296030" cy="254456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나눔고딕" panose="020D0604000000000000" pitchFamily="50" charset="-127"/>
                  <a:cs typeface="Calibri" panose="020F0502020204030204" pitchFamily="34" charset="0"/>
                </a:rPr>
                <a:t>...</a:t>
              </a:r>
            </a:p>
          </p:txBody>
        </p: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87795537-514A-44EF-8A20-A51F1CD8E39B}"/>
                </a:ext>
              </a:extLst>
            </p:cNvPr>
            <p:cNvCxnSpPr/>
            <p:nvPr/>
          </p:nvCxnSpPr>
          <p:spPr>
            <a:xfrm>
              <a:off x="6984749" y="4494190"/>
              <a:ext cx="63363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61" name="그림 160">
              <a:extLst>
                <a:ext uri="{FF2B5EF4-FFF2-40B4-BE49-F238E27FC236}">
                  <a16:creationId xmlns:a16="http://schemas.microsoft.com/office/drawing/2014/main" id="{980E40B4-469E-4D98-9563-5F166BA66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6933" y="4495982"/>
              <a:ext cx="359094" cy="359094"/>
            </a:xfrm>
            <a:prstGeom prst="rect">
              <a:avLst/>
            </a:prstGeom>
          </p:spPr>
        </p:pic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95D5246-DFE9-4C64-9F28-2F57FE419B6F}"/>
              </a:ext>
            </a:extLst>
          </p:cNvPr>
          <p:cNvCxnSpPr>
            <a:cxnSpLocks/>
          </p:cNvCxnSpPr>
          <p:nvPr/>
        </p:nvCxnSpPr>
        <p:spPr>
          <a:xfrm flipV="1">
            <a:off x="7466968" y="3477044"/>
            <a:ext cx="376318" cy="730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E89393CC-2268-4B90-A267-8F6FA172676B}"/>
              </a:ext>
            </a:extLst>
          </p:cNvPr>
          <p:cNvCxnSpPr>
            <a:cxnSpLocks/>
          </p:cNvCxnSpPr>
          <p:nvPr/>
        </p:nvCxnSpPr>
        <p:spPr>
          <a:xfrm flipV="1">
            <a:off x="7481449" y="3969368"/>
            <a:ext cx="401484" cy="219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18B9DA2D-C35E-41EA-B621-98EDEBDB69CD}"/>
              </a:ext>
            </a:extLst>
          </p:cNvPr>
          <p:cNvSpPr/>
          <p:nvPr/>
        </p:nvSpPr>
        <p:spPr>
          <a:xfrm>
            <a:off x="7066826" y="3368788"/>
            <a:ext cx="1016794" cy="48483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parallel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kern="0">
                <a:solidFill>
                  <a:srgbClr val="0070C0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rPr>
              <a:t>processing</a:t>
            </a:r>
            <a:endParaRPr kumimoji="0" lang="en-US" altLang="ko-KR" sz="1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나눔고딕" panose="020D0604000000000000" pitchFamily="50" charset="-127"/>
              <a:cs typeface="Calibri" panose="020F0502020204030204" pitchFamily="34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D4F50C5-C7F0-4481-BEA4-AB9218FC26E9}"/>
              </a:ext>
            </a:extLst>
          </p:cNvPr>
          <p:cNvSpPr txBox="1"/>
          <p:nvPr/>
        </p:nvSpPr>
        <p:spPr>
          <a:xfrm>
            <a:off x="3951531" y="5354665"/>
            <a:ext cx="156593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get results (free pages, stats)</a:t>
            </a:r>
            <a:endParaRPr lang="ko-KR" altLang="en-US" sz="1400" b="1" i="1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1D5F5015-4CB9-4F81-A935-3D008ADD221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35576" y="4868302"/>
            <a:ext cx="1757754" cy="743155"/>
          </a:xfrm>
          <a:prstGeom prst="bentConnector3">
            <a:avLst>
              <a:gd name="adj1" fmla="val -5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16722776-92C2-4FD2-99A8-888DD1D6EE4E}"/>
              </a:ext>
            </a:extLst>
          </p:cNvPr>
          <p:cNvGrpSpPr/>
          <p:nvPr/>
        </p:nvGrpSpPr>
        <p:grpSpPr>
          <a:xfrm>
            <a:off x="9401984" y="3217069"/>
            <a:ext cx="1853999" cy="1937322"/>
            <a:chOff x="9401984" y="3217069"/>
            <a:chExt cx="1853999" cy="1937322"/>
          </a:xfrm>
        </p:grpSpPr>
        <p:graphicFrame>
          <p:nvGraphicFramePr>
            <p:cNvPr id="50" name="차트 49">
              <a:extLst>
                <a:ext uri="{FF2B5EF4-FFF2-40B4-BE49-F238E27FC236}">
                  <a16:creationId xmlns:a16="http://schemas.microsoft.com/office/drawing/2014/main" id="{1E3F388D-E361-4F23-AB3E-181C4B56132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816370"/>
                </p:ext>
              </p:extLst>
            </p:nvPr>
          </p:nvGraphicFramePr>
          <p:xfrm>
            <a:off x="9401984" y="3217069"/>
            <a:ext cx="1853999" cy="19373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sp>
          <p:nvSpPr>
            <p:cNvPr id="53" name="화살표: 위쪽 52">
              <a:extLst>
                <a:ext uri="{FF2B5EF4-FFF2-40B4-BE49-F238E27FC236}">
                  <a16:creationId xmlns:a16="http://schemas.microsoft.com/office/drawing/2014/main" id="{CD0072E8-72B1-4117-A9E2-C889DF8CCA57}"/>
                </a:ext>
              </a:extLst>
            </p:cNvPr>
            <p:cNvSpPr/>
            <p:nvPr/>
          </p:nvSpPr>
          <p:spPr>
            <a:xfrm>
              <a:off x="10041054" y="3529180"/>
              <a:ext cx="142240" cy="397295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189" name="차트 188">
            <a:extLst>
              <a:ext uri="{FF2B5EF4-FFF2-40B4-BE49-F238E27FC236}">
                <a16:creationId xmlns:a16="http://schemas.microsoft.com/office/drawing/2014/main" id="{A851B403-6D8C-4CF6-B7EB-AE8D28B24F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6187558"/>
              </p:ext>
            </p:extLst>
          </p:nvPr>
        </p:nvGraphicFramePr>
        <p:xfrm>
          <a:off x="1755259" y="3048582"/>
          <a:ext cx="1853999" cy="1937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90" name="화살표: 위쪽 189">
            <a:extLst>
              <a:ext uri="{FF2B5EF4-FFF2-40B4-BE49-F238E27FC236}">
                <a16:creationId xmlns:a16="http://schemas.microsoft.com/office/drawing/2014/main" id="{340AD56C-03B7-4A3E-9F40-DE4FF03E590A}"/>
              </a:ext>
            </a:extLst>
          </p:cNvPr>
          <p:cNvSpPr/>
          <p:nvPr/>
        </p:nvSpPr>
        <p:spPr>
          <a:xfrm flipV="1">
            <a:off x="2855520" y="3460688"/>
            <a:ext cx="144648" cy="56824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40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4" grpId="0" animBg="1"/>
      <p:bldP spid="99" grpId="0"/>
      <p:bldP spid="107" grpId="0"/>
      <p:bldP spid="108" grpId="0"/>
      <p:bldP spid="112" grpId="0"/>
      <p:bldP spid="117" grpId="0" animBg="1"/>
      <p:bldP spid="118" grpId="0" animBg="1"/>
      <p:bldP spid="119" grpId="0"/>
      <p:bldP spid="120" grpId="0"/>
      <p:bldP spid="121" grpId="0" animBg="1"/>
      <p:bldP spid="122" grpId="0"/>
      <p:bldP spid="123" grpId="0"/>
      <p:bldP spid="169" grpId="0"/>
      <p:bldP spid="174" grpId="0" animBg="1"/>
      <p:bldGraphic spid="189" grpId="0">
        <p:bldAsOne/>
      </p:bldGraphic>
      <p:bldP spid="19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61E67672-28FF-1A8B-A764-FEEF26842C13}"/>
              </a:ext>
            </a:extLst>
          </p:cNvPr>
          <p:cNvGrpSpPr/>
          <p:nvPr/>
        </p:nvGrpSpPr>
        <p:grpSpPr>
          <a:xfrm>
            <a:off x="4866086" y="1844935"/>
            <a:ext cx="5207646" cy="2098142"/>
            <a:chOff x="4866086" y="1844935"/>
            <a:chExt cx="5207646" cy="209814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FBA613-FDEF-42E0-951B-6C10870512C9}"/>
                </a:ext>
              </a:extLst>
            </p:cNvPr>
            <p:cNvSpPr txBox="1"/>
            <p:nvPr/>
          </p:nvSpPr>
          <p:spPr>
            <a:xfrm>
              <a:off x="7794573" y="3635300"/>
              <a:ext cx="13181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Page descriptor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6734879-0175-37BE-FF40-9B810A99EECC}"/>
                </a:ext>
              </a:extLst>
            </p:cNvPr>
            <p:cNvGrpSpPr/>
            <p:nvPr/>
          </p:nvGrpSpPr>
          <p:grpSpPr>
            <a:xfrm>
              <a:off x="4866086" y="1844935"/>
              <a:ext cx="5207646" cy="1795769"/>
              <a:chOff x="4866086" y="1844935"/>
              <a:chExt cx="5207646" cy="1795769"/>
            </a:xfrm>
          </p:grpSpPr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0A282F8E-50FE-53B7-B7AC-876605F17165}"/>
                  </a:ext>
                </a:extLst>
              </p:cNvPr>
              <p:cNvCxnSpPr>
                <a:cxnSpLocks/>
                <a:stCxn id="12" idx="3"/>
                <a:endCxn id="25" idx="1"/>
              </p:cNvCxnSpPr>
              <p:nvPr/>
            </p:nvCxnSpPr>
            <p:spPr>
              <a:xfrm>
                <a:off x="4866086" y="2742820"/>
                <a:ext cx="17799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25ECAFF0-2281-7759-BEAF-86245AE3136C}"/>
                  </a:ext>
                </a:extLst>
              </p:cNvPr>
              <p:cNvSpPr/>
              <p:nvPr/>
            </p:nvSpPr>
            <p:spPr>
              <a:xfrm>
                <a:off x="6646079" y="1844935"/>
                <a:ext cx="3427653" cy="17957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6FA1E677-772A-C313-99AC-6089C3FD3B6D}"/>
                  </a:ext>
                </a:extLst>
              </p:cNvPr>
              <p:cNvSpPr txBox="1"/>
              <p:nvPr/>
            </p:nvSpPr>
            <p:spPr>
              <a:xfrm>
                <a:off x="4876456" y="2740117"/>
                <a:ext cx="182166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 = </a:t>
                </a:r>
              </a:p>
              <a:p>
                <a:r>
                  <a:rPr lang="en-US" altLang="ko-KR" sz="16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 - PAGE_OFFSET</a:t>
                </a:r>
              </a:p>
            </p:txBody>
          </p:sp>
        </p:grpSp>
      </p:grpSp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1" y="205038"/>
            <a:ext cx="12207872" cy="559666"/>
          </a:xfrm>
        </p:spPr>
        <p:txBody>
          <a:bodyPr>
            <a:noAutofit/>
          </a:bodyPr>
          <a:lstStyle/>
          <a:p>
            <a:r>
              <a:rPr lang="en-US" altLang="ko-KR" sz="3200">
                <a:latin typeface="Calibri" panose="020F0502020204030204" pitchFamily="34" charset="0"/>
                <a:cs typeface="Calibri" panose="020F0502020204030204" pitchFamily="34" charset="0"/>
              </a:rPr>
              <a:t>Challenge1: </a:t>
            </a:r>
            <a:r>
              <a:rPr lang="en-US" altLang="ko-KR" sz="3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en-US" altLang="ko-KR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accelerator </a:t>
            </a:r>
            <a:r>
              <a:rPr lang="en-US" altLang="ko-KR" sz="32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</a:t>
            </a:r>
            <a:r>
              <a:rPr lang="en-US" altLang="ko-KR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metadata?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EC0CB-C1A3-FC91-299C-6D732CEBAC8A}"/>
              </a:ext>
            </a:extLst>
          </p:cNvPr>
          <p:cNvSpPr txBox="1"/>
          <p:nvPr/>
        </p:nvSpPr>
        <p:spPr>
          <a:xfrm>
            <a:off x="28237" y="766017"/>
            <a:ext cx="11884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shift/bitwise needed in the kernel address area for 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 translation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</a:t>
            </a:r>
            <a:endParaRPr lang="en-US" altLang="ko-KR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B5936E0-26CB-21C4-B95E-44486E29FCDD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3039108" y="2742820"/>
            <a:ext cx="1826978" cy="120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9F35DA-98BF-5B4F-8657-D6D24F35D653}"/>
              </a:ext>
            </a:extLst>
          </p:cNvPr>
          <p:cNvSpPr/>
          <p:nvPr/>
        </p:nvSpPr>
        <p:spPr>
          <a:xfrm>
            <a:off x="3257410" y="2614598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539BAB-9A9D-08D3-CA4C-5A0EC24BF6A0}"/>
              </a:ext>
            </a:extLst>
          </p:cNvPr>
          <p:cNvSpPr/>
          <p:nvPr/>
        </p:nvSpPr>
        <p:spPr>
          <a:xfrm>
            <a:off x="3694841" y="2614598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3C86A1-36C9-6DD1-3A32-E4F73A2FF8A2}"/>
              </a:ext>
            </a:extLst>
          </p:cNvPr>
          <p:cNvSpPr/>
          <p:nvPr/>
        </p:nvSpPr>
        <p:spPr>
          <a:xfrm>
            <a:off x="4132272" y="2614598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60B9F777-C9FB-BCE4-E069-C5A7EA16A39C}"/>
              </a:ext>
            </a:extLst>
          </p:cNvPr>
          <p:cNvSpPr/>
          <p:nvPr/>
        </p:nvSpPr>
        <p:spPr>
          <a:xfrm rot="5400000">
            <a:off x="4373444" y="2093851"/>
            <a:ext cx="197098" cy="67944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874D3-E9AD-953E-1BF4-1856D9E4ACB0}"/>
              </a:ext>
            </a:extLst>
          </p:cNvPr>
          <p:cNvSpPr txBox="1"/>
          <p:nvPr/>
        </p:nvSpPr>
        <p:spPr>
          <a:xfrm>
            <a:off x="3694841" y="1963136"/>
            <a:ext cx="1521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 victim pointers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05D100-8E10-AFE2-CEA2-F4B31EA2CC52}"/>
              </a:ext>
            </a:extLst>
          </p:cNvPr>
          <p:cNvSpPr/>
          <p:nvPr/>
        </p:nvSpPr>
        <p:spPr>
          <a:xfrm>
            <a:off x="4589861" y="2614598"/>
            <a:ext cx="276225" cy="2564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917083-FFAB-7227-5179-4F5F501910F9}"/>
              </a:ext>
            </a:extLst>
          </p:cNvPr>
          <p:cNvSpPr txBox="1"/>
          <p:nvPr/>
        </p:nvSpPr>
        <p:spPr>
          <a:xfrm>
            <a:off x="2217981" y="2614598"/>
            <a:ext cx="740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LRU list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1D4B9-7D40-0E76-9341-C7FDE355E6E2}"/>
              </a:ext>
            </a:extLst>
          </p:cNvPr>
          <p:cNvSpPr txBox="1"/>
          <p:nvPr/>
        </p:nvSpPr>
        <p:spPr>
          <a:xfrm>
            <a:off x="327116" y="2573547"/>
            <a:ext cx="175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 descriptors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CEEC8A-119E-1D73-B6D0-2FB3EA301D99}"/>
              </a:ext>
            </a:extLst>
          </p:cNvPr>
          <p:cNvSpPr txBox="1"/>
          <p:nvPr/>
        </p:nvSpPr>
        <p:spPr>
          <a:xfrm>
            <a:off x="341062" y="4533065"/>
            <a:ext cx="802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129FA9-97C9-276A-45C9-6CD1B1907B66}"/>
              </a:ext>
            </a:extLst>
          </p:cNvPr>
          <p:cNvSpPr txBox="1"/>
          <p:nvPr/>
        </p:nvSpPr>
        <p:spPr>
          <a:xfrm>
            <a:off x="5466322" y="4749258"/>
            <a:ext cx="33872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VA(entry[2]) </a:t>
            </a:r>
            <a:r>
              <a:rPr lang="en-US" altLang="ko-KR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VA</a:t>
            </a:r>
            <a:r>
              <a:rPr lang="en-US" altLang="ko-KR" sz="1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(entry[63])</a:t>
            </a:r>
            <a:r>
              <a:rPr lang="ko-KR" altLang="en-US" sz="14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ko-KR" altLang="en-US" sz="1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  <a:p>
            <a:r>
              <a:rPr lang="en-US" altLang="ko-KR" sz="1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PA(entry[2]) = VA(entry[2]) </a:t>
            </a:r>
            <a:r>
              <a:rPr lang="en-US" altLang="ko-KR" sz="1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PAGE_OFFSET</a:t>
            </a:r>
          </a:p>
          <a:p>
            <a:endParaRPr lang="ko-KR" altLang="en-US" sz="1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A8167-205C-2F32-8A0E-B50ABC9B0A26}"/>
              </a:ext>
            </a:extLst>
          </p:cNvPr>
          <p:cNvSpPr txBox="1"/>
          <p:nvPr/>
        </p:nvSpPr>
        <p:spPr>
          <a:xfrm>
            <a:off x="4524177" y="2562668"/>
            <a:ext cx="401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ptr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7CEEFB-82FB-14AD-A78D-C8A62F3DDE75}"/>
              </a:ext>
            </a:extLst>
          </p:cNvPr>
          <p:cNvSpPr txBox="1"/>
          <p:nvPr/>
        </p:nvSpPr>
        <p:spPr>
          <a:xfrm>
            <a:off x="6915872" y="3373257"/>
            <a:ext cx="2997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</a:t>
            </a:r>
            <a:r>
              <a:rPr lang="en-US" altLang="ko-KR" sz="1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Shift/bitwise </a:t>
            </a:r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on flags</a:t>
            </a:r>
            <a:endParaRPr lang="ko-KR" alt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CCFF1A-01E2-EB87-CB84-50D62A1DE56A}"/>
              </a:ext>
            </a:extLst>
          </p:cNvPr>
          <p:cNvSpPr txBox="1"/>
          <p:nvPr/>
        </p:nvSpPr>
        <p:spPr>
          <a:xfrm>
            <a:off x="6742181" y="1978188"/>
            <a:ext cx="2889317" cy="123110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Reclaimable?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writeback? (exclude from victim)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processes referencing? (exclude 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Activated? (exclude ..)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Pinned?</a:t>
            </a:r>
          </a:p>
          <a:p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686F4FD-05C9-E8AC-2AA3-19CE30232822}"/>
              </a:ext>
            </a:extLst>
          </p:cNvPr>
          <p:cNvGrpSpPr/>
          <p:nvPr/>
        </p:nvGrpSpPr>
        <p:grpSpPr>
          <a:xfrm>
            <a:off x="10065215" y="2433573"/>
            <a:ext cx="2060341" cy="830997"/>
            <a:chOff x="10065215" y="2433573"/>
            <a:chExt cx="2060341" cy="830997"/>
          </a:xfrm>
        </p:grpSpPr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DE78B714-DF0A-7457-F5A1-2DF06FE36C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5215" y="2748866"/>
              <a:ext cx="579158" cy="58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4988EC9D-7461-7A6E-978D-1AFCCA04AAF1}"/>
                </a:ext>
              </a:extLst>
            </p:cNvPr>
            <p:cNvSpPr txBox="1"/>
            <p:nvPr/>
          </p:nvSpPr>
          <p:spPr>
            <a:xfrm>
              <a:off x="10688203" y="2433573"/>
              <a:ext cx="1437353" cy="8309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?? </a:t>
              </a:r>
              <a:r>
                <a:rPr lang="en-US" altLang="ko-KR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out of </a:t>
              </a:r>
              <a:r>
                <a:rPr lang="en-US" altLang="ko-KR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32 </a:t>
              </a:r>
              <a:r>
                <a:rPr lang="en-US" altLang="ko-KR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pages is reclaimable!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204" name="그림 203" descr="폰트, 그래픽, 스크린샷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52C6BA4-CB87-66A4-0CDC-1156B58958B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95" y="2664290"/>
            <a:ext cx="816272" cy="816272"/>
          </a:xfrm>
          <a:prstGeom prst="rect">
            <a:avLst/>
          </a:prstGeom>
        </p:spPr>
      </p:pic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70B7560D-33F6-B1BF-1523-6B569F2B136B}"/>
              </a:ext>
            </a:extLst>
          </p:cNvPr>
          <p:cNvSpPr/>
          <p:nvPr/>
        </p:nvSpPr>
        <p:spPr>
          <a:xfrm>
            <a:off x="2494362" y="4410132"/>
            <a:ext cx="3093638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D1A39C0B-1B92-E404-2FA6-0839584A5772}"/>
                  </a:ext>
                </a:extLst>
              </p:cNvPr>
              <p:cNvSpPr txBox="1"/>
              <p:nvPr/>
            </p:nvSpPr>
            <p:spPr>
              <a:xfrm>
                <a:off x="4981290" y="4441481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D1A39C0B-1B92-E404-2FA6-0839584A5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290" y="4441481"/>
                <a:ext cx="710587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5" name="표 234">
            <a:extLst>
              <a:ext uri="{FF2B5EF4-FFF2-40B4-BE49-F238E27FC236}">
                <a16:creationId xmlns:a16="http://schemas.microsoft.com/office/drawing/2014/main" id="{6FDB4704-EA98-B582-CF17-EF2C8EE4622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53290" y="4460763"/>
          <a:ext cx="2448784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261" name="TextBox 260">
            <a:extLst>
              <a:ext uri="{FF2B5EF4-FFF2-40B4-BE49-F238E27FC236}">
                <a16:creationId xmlns:a16="http://schemas.microsoft.com/office/drawing/2014/main" id="{DE435204-ECDB-21C9-C77D-D6A14D144B8F}"/>
              </a:ext>
            </a:extLst>
          </p:cNvPr>
          <p:cNvSpPr txBox="1"/>
          <p:nvPr/>
        </p:nvSpPr>
        <p:spPr>
          <a:xfrm>
            <a:off x="4321184" y="4450723"/>
            <a:ext cx="744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entry[63]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3" name="연결선: 꺾임 272">
            <a:extLst>
              <a:ext uri="{FF2B5EF4-FFF2-40B4-BE49-F238E27FC236}">
                <a16:creationId xmlns:a16="http://schemas.microsoft.com/office/drawing/2014/main" id="{9AB56430-3599-D29B-3A56-05A212F2895C}"/>
              </a:ext>
            </a:extLst>
          </p:cNvPr>
          <p:cNvCxnSpPr>
            <a:cxnSpLocks/>
            <a:stCxn id="261" idx="2"/>
          </p:cNvCxnSpPr>
          <p:nvPr/>
        </p:nvCxnSpPr>
        <p:spPr>
          <a:xfrm rot="16200000" flipH="1">
            <a:off x="4626217" y="4794883"/>
            <a:ext cx="506519" cy="37219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C039ACA3-95A6-6F38-ECC2-90262EC64106}"/>
              </a:ext>
            </a:extLst>
          </p:cNvPr>
          <p:cNvSpPr/>
          <p:nvPr/>
        </p:nvSpPr>
        <p:spPr>
          <a:xfrm>
            <a:off x="3476015" y="5253920"/>
            <a:ext cx="3093638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9DA8EF18-DEFF-AEAD-11A1-FFD9E425E292}"/>
                  </a:ext>
                </a:extLst>
              </p:cNvPr>
              <p:cNvSpPr txBox="1"/>
              <p:nvPr/>
            </p:nvSpPr>
            <p:spPr>
              <a:xfrm>
                <a:off x="5962943" y="5285269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3" name="TextBox 302">
                <a:extLst>
                  <a:ext uri="{FF2B5EF4-FFF2-40B4-BE49-F238E27FC236}">
                    <a16:creationId xmlns:a16="http://schemas.microsoft.com/office/drawing/2014/main" id="{9DA8EF18-DEFF-AEAD-11A1-FFD9E425E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943" y="5285269"/>
                <a:ext cx="710587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7" name="표 306">
            <a:extLst>
              <a:ext uri="{FF2B5EF4-FFF2-40B4-BE49-F238E27FC236}">
                <a16:creationId xmlns:a16="http://schemas.microsoft.com/office/drawing/2014/main" id="{A4F09673-0248-3739-F840-AA8CFCE446C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34943" y="5304551"/>
          <a:ext cx="2448784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309" name="TextBox 308">
            <a:extLst>
              <a:ext uri="{FF2B5EF4-FFF2-40B4-BE49-F238E27FC236}">
                <a16:creationId xmlns:a16="http://schemas.microsoft.com/office/drawing/2014/main" id="{A3BEA9D2-4A92-0192-BC48-875A810CE438}"/>
              </a:ext>
            </a:extLst>
          </p:cNvPr>
          <p:cNvSpPr txBox="1"/>
          <p:nvPr/>
        </p:nvSpPr>
        <p:spPr>
          <a:xfrm>
            <a:off x="4721370" y="5293706"/>
            <a:ext cx="744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entry[2]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18DA5EDC-28B8-2F27-0C72-B60CD1DD2501}"/>
              </a:ext>
            </a:extLst>
          </p:cNvPr>
          <p:cNvSpPr/>
          <p:nvPr/>
        </p:nvSpPr>
        <p:spPr>
          <a:xfrm>
            <a:off x="3476015" y="6032600"/>
            <a:ext cx="3800063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FD23811F-B992-A0C6-EE47-3D95955091BD}"/>
                  </a:ext>
                </a:extLst>
              </p:cNvPr>
              <p:cNvSpPr txBox="1"/>
              <p:nvPr/>
            </p:nvSpPr>
            <p:spPr>
              <a:xfrm>
                <a:off x="5962943" y="6075119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FD23811F-B992-A0C6-EE47-3D9595509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943" y="6075119"/>
                <a:ext cx="71058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23" name="표 322">
            <a:extLst>
              <a:ext uri="{FF2B5EF4-FFF2-40B4-BE49-F238E27FC236}">
                <a16:creationId xmlns:a16="http://schemas.microsoft.com/office/drawing/2014/main" id="{5FC5E336-C9D5-8280-27C6-CB37792E609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24746" y="6096563"/>
          <a:ext cx="2448784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324" name="TextBox 323">
            <a:extLst>
              <a:ext uri="{FF2B5EF4-FFF2-40B4-BE49-F238E27FC236}">
                <a16:creationId xmlns:a16="http://schemas.microsoft.com/office/drawing/2014/main" id="{B106EDE0-3FF8-647E-E5D6-292FA3454842}"/>
              </a:ext>
            </a:extLst>
          </p:cNvPr>
          <p:cNvSpPr txBox="1"/>
          <p:nvPr/>
        </p:nvSpPr>
        <p:spPr>
          <a:xfrm>
            <a:off x="5427795" y="6072386"/>
            <a:ext cx="744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entry[3]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8" name="연결선: 꺾임 327">
            <a:extLst>
              <a:ext uri="{FF2B5EF4-FFF2-40B4-BE49-F238E27FC236}">
                <a16:creationId xmlns:a16="http://schemas.microsoft.com/office/drawing/2014/main" id="{2C760B5B-CFAB-C460-2884-AC1BD1C5E589}"/>
              </a:ext>
            </a:extLst>
          </p:cNvPr>
          <p:cNvCxnSpPr>
            <a:cxnSpLocks/>
            <a:stCxn id="309" idx="2"/>
            <a:endCxn id="324" idx="0"/>
          </p:cNvCxnSpPr>
          <p:nvPr/>
        </p:nvCxnSpPr>
        <p:spPr>
          <a:xfrm rot="16200000" flipH="1">
            <a:off x="5195937" y="5468332"/>
            <a:ext cx="501681" cy="70642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97BDFD61-F3D4-1810-5B7E-E6548FD0F011}"/>
              </a:ext>
            </a:extLst>
          </p:cNvPr>
          <p:cNvSpPr txBox="1"/>
          <p:nvPr/>
        </p:nvSpPr>
        <p:spPr>
          <a:xfrm>
            <a:off x="3748725" y="597341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C2722AE-90B9-FAE8-3958-F8F726C09B5C}"/>
              </a:ext>
            </a:extLst>
          </p:cNvPr>
          <p:cNvSpPr txBox="1"/>
          <p:nvPr/>
        </p:nvSpPr>
        <p:spPr>
          <a:xfrm>
            <a:off x="6770173" y="599453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9" name="직선 연결선 338">
            <a:extLst>
              <a:ext uri="{FF2B5EF4-FFF2-40B4-BE49-F238E27FC236}">
                <a16:creationId xmlns:a16="http://schemas.microsoft.com/office/drawing/2014/main" id="{E82A2145-4EEC-DF62-AC07-A6F93C51121E}"/>
              </a:ext>
            </a:extLst>
          </p:cNvPr>
          <p:cNvCxnSpPr/>
          <p:nvPr/>
        </p:nvCxnSpPr>
        <p:spPr>
          <a:xfrm>
            <a:off x="341062" y="4064000"/>
            <a:ext cx="11571538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8051B23-B653-3906-999F-A60750421F7D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93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7" grpId="0"/>
      <p:bldP spid="31" grpId="0"/>
      <p:bldP spid="226" grpId="0" animBg="1"/>
      <p:bldP spid="227" grpId="0"/>
      <p:bldP spid="261" grpId="0"/>
      <p:bldP spid="301" grpId="0" animBg="1"/>
      <p:bldP spid="303" grpId="0"/>
      <p:bldP spid="309" grpId="0"/>
      <p:bldP spid="321" grpId="0" animBg="1"/>
      <p:bldP spid="322" grpId="0"/>
      <p:bldP spid="324" grpId="0"/>
      <p:bldP spid="331" grpId="0"/>
      <p:bldP spid="3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0" y="205038"/>
            <a:ext cx="11980109" cy="559666"/>
          </a:xfrm>
        </p:spPr>
        <p:txBody>
          <a:bodyPr>
            <a:noAutofit/>
          </a:bodyPr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Challenge2: Cache Coherency Overhead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EC0CB-C1A3-FC91-299C-6D732CEBAC8A}"/>
              </a:ext>
            </a:extLst>
          </p:cNvPr>
          <p:cNvSpPr txBox="1"/>
          <p:nvPr/>
        </p:nvSpPr>
        <p:spPr>
          <a:xfrm>
            <a:off x="24056" y="845603"/>
            <a:ext cx="11761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Case1: 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CPU (application) 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updated the </a:t>
            </a:r>
            <a:r>
              <a:rPr lang="en-US" altLang="ko-K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</a:t>
            </a: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new file page 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read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the application, the updated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Xarray’s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entry is only in the CPU cache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B03DFD9-DA79-EF73-E5AF-939371833EF9}"/>
              </a:ext>
            </a:extLst>
          </p:cNvPr>
          <p:cNvSpPr/>
          <p:nvPr/>
        </p:nvSpPr>
        <p:spPr>
          <a:xfrm>
            <a:off x="6357948" y="1642244"/>
            <a:ext cx="3747623" cy="2070107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775E858-E6E6-817D-B78F-7980F361B771}"/>
              </a:ext>
            </a:extLst>
          </p:cNvPr>
          <p:cNvSpPr txBox="1"/>
          <p:nvPr/>
        </p:nvSpPr>
        <p:spPr>
          <a:xfrm>
            <a:off x="7601060" y="3722258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CXL DRAM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3C6EEB3-1DC5-F8D3-C71F-C9AB9B74BFD3}"/>
              </a:ext>
            </a:extLst>
          </p:cNvPr>
          <p:cNvSpPr/>
          <p:nvPr/>
        </p:nvSpPr>
        <p:spPr>
          <a:xfrm>
            <a:off x="6561749" y="1924338"/>
            <a:ext cx="3093638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0A2AA28-C507-8DF8-6856-7E361C4249F7}"/>
                  </a:ext>
                </a:extLst>
              </p:cNvPr>
              <p:cNvSpPr txBox="1"/>
              <p:nvPr/>
            </p:nvSpPr>
            <p:spPr>
              <a:xfrm>
                <a:off x="9048677" y="1955687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0A2AA28-C507-8DF8-6856-7E361C424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677" y="1955687"/>
                <a:ext cx="71058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0AFE4CE2-37E9-B5ED-2F66-6EAEEF5C432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620677" y="1974969"/>
          <a:ext cx="2448784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8E561A4-0D15-D29F-A5E5-4FBF73441C29}"/>
              </a:ext>
            </a:extLst>
          </p:cNvPr>
          <p:cNvSpPr/>
          <p:nvPr/>
        </p:nvSpPr>
        <p:spPr>
          <a:xfrm>
            <a:off x="6806529" y="2790369"/>
            <a:ext cx="3197515" cy="5788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6971F43-6232-139F-E4CC-DEB4148EB5C3}"/>
                  </a:ext>
                </a:extLst>
              </p:cNvPr>
              <p:cNvSpPr txBox="1"/>
              <p:nvPr/>
            </p:nvSpPr>
            <p:spPr>
              <a:xfrm>
                <a:off x="9337000" y="2821719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6971F43-6232-139F-E4CC-DEB4148EB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000" y="2821719"/>
                <a:ext cx="710587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D9D57E78-7F06-3D8F-5A34-04060DEB53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865458" y="2841001"/>
          <a:ext cx="2541616" cy="4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04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474272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pic>
        <p:nvPicPr>
          <p:cNvPr id="115" name="그림 114">
            <a:extLst>
              <a:ext uri="{FF2B5EF4-FFF2-40B4-BE49-F238E27FC236}">
                <a16:creationId xmlns:a16="http://schemas.microsoft.com/office/drawing/2014/main" id="{356FE6E8-5F41-1E7D-0B51-8555188C8AA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369" y="2176690"/>
            <a:ext cx="640306" cy="640306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4AEE2F03-76DA-0BA3-4C85-884DE9810269}"/>
              </a:ext>
            </a:extLst>
          </p:cNvPr>
          <p:cNvSpPr txBox="1"/>
          <p:nvPr/>
        </p:nvSpPr>
        <p:spPr>
          <a:xfrm rot="5400000">
            <a:off x="8033551" y="2325744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37E399D-1332-7809-2D7A-DE9BD6863073}"/>
              </a:ext>
            </a:extLst>
          </p:cNvPr>
          <p:cNvSpPr/>
          <p:nvPr/>
        </p:nvSpPr>
        <p:spPr>
          <a:xfrm>
            <a:off x="2275919" y="2872634"/>
            <a:ext cx="1265730" cy="516307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F2567A8-FFBE-D38D-3467-AB6529EC65DE}"/>
              </a:ext>
            </a:extLst>
          </p:cNvPr>
          <p:cNvSpPr txBox="1"/>
          <p:nvPr/>
        </p:nvSpPr>
        <p:spPr>
          <a:xfrm>
            <a:off x="2323655" y="3447641"/>
            <a:ext cx="1401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Cache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988BE4E4-045F-250B-1748-B195089AB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068084"/>
              </p:ext>
            </p:extLst>
          </p:nvPr>
        </p:nvGraphicFramePr>
        <p:xfrm>
          <a:off x="2348489" y="2896893"/>
          <a:ext cx="116517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174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entry[4] = </a:t>
                      </a:r>
                    </a:p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0x12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(new)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3BDA6EF8-F841-DFCA-09E0-EC95544DC667}"/>
              </a:ext>
            </a:extLst>
          </p:cNvPr>
          <p:cNvCxnSpPr>
            <a:cxnSpLocks/>
          </p:cNvCxnSpPr>
          <p:nvPr/>
        </p:nvCxnSpPr>
        <p:spPr>
          <a:xfrm>
            <a:off x="3273585" y="3011000"/>
            <a:ext cx="3591873" cy="15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45B44B4-3298-89E7-2254-6E459F8037C2}"/>
              </a:ext>
            </a:extLst>
          </p:cNvPr>
          <p:cNvSpPr txBox="1"/>
          <p:nvPr/>
        </p:nvSpPr>
        <p:spPr>
          <a:xfrm>
            <a:off x="6828256" y="2518245"/>
            <a:ext cx="8082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cs typeface="Calibri" panose="020F0502020204030204" pitchFamily="34" charset="0"/>
              </a:rPr>
              <a:t>entry[4]</a:t>
            </a:r>
            <a:endParaRPr lang="en-US" altLang="ko-K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6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yet</a:t>
            </a:r>
            <a:endParaRPr lang="ko-KR" altLang="en-US" sz="1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A7C5EA-39FC-2957-F868-BE11B2F9D778}"/>
              </a:ext>
            </a:extLst>
          </p:cNvPr>
          <p:cNvSpPr txBox="1"/>
          <p:nvPr/>
        </p:nvSpPr>
        <p:spPr>
          <a:xfrm>
            <a:off x="3677528" y="2560369"/>
            <a:ext cx="260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to flush </a:t>
            </a:r>
            <a:r>
              <a:rPr lang="en-US" altLang="ko-KR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cacheline</a:t>
            </a:r>
            <a:endParaRPr lang="en-US" altLang="ko-KR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E28612E-FD71-D09E-DE76-4D2AF652CCCD}"/>
              </a:ext>
            </a:extLst>
          </p:cNvPr>
          <p:cNvSpPr txBox="1"/>
          <p:nvPr/>
        </p:nvSpPr>
        <p:spPr>
          <a:xfrm>
            <a:off x="10048" y="4007566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Observation: No need for immediate synchronization.</a:t>
            </a: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B4F3E1B-EA11-4180-6BB0-5A192406861D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334784" y="6505707"/>
            <a:ext cx="2845358" cy="365125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7733A29-307A-4381-B103-91C6C15F64CF}"/>
                  </a:ext>
                </a:extLst>
              </p:cNvPr>
              <p:cNvSpPr txBox="1"/>
              <p:nvPr/>
            </p:nvSpPr>
            <p:spPr>
              <a:xfrm>
                <a:off x="2996505" y="5132459"/>
                <a:ext cx="7510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𝑙𝑜𝑐𝑘</m:t>
                      </m:r>
                    </m:oMath>
                  </m:oMathPara>
                </a14:m>
                <a:endParaRPr lang="en-US" altLang="ko-KR" sz="1600" i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7733A29-307A-4381-B103-91C6C15F6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505" y="5132459"/>
                <a:ext cx="75102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그림 61">
            <a:extLst>
              <a:ext uri="{FF2B5EF4-FFF2-40B4-BE49-F238E27FC236}">
                <a16:creationId xmlns:a16="http://schemas.microsoft.com/office/drawing/2014/main" id="{5FFBE076-744D-43D8-8875-A23773B53A2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624" y="5079673"/>
            <a:ext cx="298769" cy="29876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E4B11164-54B5-4FAE-958A-1B128ADAA7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6853" y="5594457"/>
            <a:ext cx="298769" cy="16424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E8D2D061-12DE-4790-8090-A200EAD82C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9999" y="5796295"/>
            <a:ext cx="298769" cy="164240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A4D3149C-E5EB-43EE-A3BB-F09A89401C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8340" y="5795332"/>
            <a:ext cx="298769" cy="164240"/>
          </a:xfrm>
          <a:prstGeom prst="rect">
            <a:avLst/>
          </a:prstGeom>
        </p:spPr>
      </p:pic>
      <p:cxnSp>
        <p:nvCxnSpPr>
          <p:cNvPr id="68" name="구부러진 연결선 294">
            <a:extLst>
              <a:ext uri="{FF2B5EF4-FFF2-40B4-BE49-F238E27FC236}">
                <a16:creationId xmlns:a16="http://schemas.microsoft.com/office/drawing/2014/main" id="{DC7880A8-DD6C-4514-8F24-B02278C1887C}"/>
              </a:ext>
            </a:extLst>
          </p:cNvPr>
          <p:cNvCxnSpPr/>
          <p:nvPr/>
        </p:nvCxnSpPr>
        <p:spPr>
          <a:xfrm rot="5400000">
            <a:off x="3493824" y="5822533"/>
            <a:ext cx="263627" cy="12832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그림 68">
            <a:extLst>
              <a:ext uri="{FF2B5EF4-FFF2-40B4-BE49-F238E27FC236}">
                <a16:creationId xmlns:a16="http://schemas.microsoft.com/office/drawing/2014/main" id="{18315690-40B5-4CD4-B027-C4BF2E506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7468" y="6033333"/>
            <a:ext cx="298769" cy="16424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CA2891-CC3C-49B2-AFE2-25D30AF765B7}"/>
              </a:ext>
            </a:extLst>
          </p:cNvPr>
          <p:cNvSpPr/>
          <p:nvPr/>
        </p:nvSpPr>
        <p:spPr>
          <a:xfrm>
            <a:off x="3516852" y="6040533"/>
            <a:ext cx="141916" cy="145604"/>
          </a:xfrm>
          <a:prstGeom prst="rect">
            <a:avLst/>
          </a:pr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E7D2A78-70ED-437D-83D4-64D237C012D6}"/>
                  </a:ext>
                </a:extLst>
              </p:cNvPr>
              <p:cNvSpPr txBox="1"/>
              <p:nvPr/>
            </p:nvSpPr>
            <p:spPr>
              <a:xfrm>
                <a:off x="3076449" y="6510577"/>
                <a:ext cx="7510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u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𝑛𝑙𝑜𝑐𝑘</m:t>
                      </m:r>
                    </m:oMath>
                  </m:oMathPara>
                </a14:m>
                <a:endParaRPr lang="en-US" altLang="ko-KR" sz="1600" i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E7D2A78-70ED-437D-83D4-64D237C01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49" y="6510577"/>
                <a:ext cx="751024" cy="338554"/>
              </a:xfrm>
              <a:prstGeom prst="rect">
                <a:avLst/>
              </a:prstGeom>
              <a:blipFill>
                <a:blip r:embed="rId9"/>
                <a:stretch>
                  <a:fillRect r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래픽 12" descr="열린 자물쇠">
            <a:extLst>
              <a:ext uri="{FF2B5EF4-FFF2-40B4-BE49-F238E27FC236}">
                <a16:creationId xmlns:a16="http://schemas.microsoft.com/office/drawing/2014/main" id="{1F53CF3C-425B-43FD-A174-DED37D8A178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33501" y="6476649"/>
            <a:ext cx="372634" cy="3726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6020A9-1E12-472F-BEF4-D18CB520A048}"/>
                  </a:ext>
                </a:extLst>
              </p:cNvPr>
              <p:cNvSpPr txBox="1"/>
              <p:nvPr/>
            </p:nvSpPr>
            <p:spPr>
              <a:xfrm>
                <a:off x="3532959" y="5959572"/>
                <a:ext cx="18634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𝑒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𝑛𝑡𝑟𝑦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4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=0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12</m:t>
                      </m:r>
                    </m:oMath>
                  </m:oMathPara>
                </a14:m>
                <a:endParaRPr lang="en-US" altLang="ko-KR" sz="1400" i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6020A9-1E12-472F-BEF4-D18CB520A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959" y="5959572"/>
                <a:ext cx="1863416" cy="307777"/>
              </a:xfrm>
              <a:prstGeom prst="rect">
                <a:avLst/>
              </a:prstGeom>
              <a:blipFill>
                <a:blip r:embed="rId12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직사각형 76">
            <a:extLst>
              <a:ext uri="{FF2B5EF4-FFF2-40B4-BE49-F238E27FC236}">
                <a16:creationId xmlns:a16="http://schemas.microsoft.com/office/drawing/2014/main" id="{A19478C7-DC4C-49A9-AF4A-B7064242A702}"/>
              </a:ext>
            </a:extLst>
          </p:cNvPr>
          <p:cNvSpPr/>
          <p:nvPr/>
        </p:nvSpPr>
        <p:spPr>
          <a:xfrm>
            <a:off x="4023705" y="6476649"/>
            <a:ext cx="79792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❷ </a:t>
            </a: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kswapd don’t choose entry[4] as a victim even after the lock is released</a:t>
            </a:r>
            <a:endParaRPr lang="ko-KR" altLang="en-US" sz="20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502F312-5F5E-4ED8-8548-5C019726A9E6}"/>
              </a:ext>
            </a:extLst>
          </p:cNvPr>
          <p:cNvSpPr/>
          <p:nvPr/>
        </p:nvSpPr>
        <p:spPr>
          <a:xfrm>
            <a:off x="4023705" y="5098819"/>
            <a:ext cx="6830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>
                <a:latin typeface="Calibri" panose="020F0502020204030204" pitchFamily="34" charset="0"/>
                <a:cs typeface="Calibri" panose="020F0502020204030204" pitchFamily="34" charset="0"/>
              </a:rPr>
              <a:t>❶ </a:t>
            </a: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while the lock is hold, nobody can modify Xarray </a:t>
            </a:r>
            <a:endParaRPr lang="ko-KR" altLang="en-US" sz="2000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그래픽 14" descr="아기">
            <a:extLst>
              <a:ext uri="{FF2B5EF4-FFF2-40B4-BE49-F238E27FC236}">
                <a16:creationId xmlns:a16="http://schemas.microsoft.com/office/drawing/2014/main" id="{FE40CFCA-55C8-4905-8C38-0D43AE583ED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16995" y="6038944"/>
            <a:ext cx="341629" cy="341629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08D92D6-46BF-4144-B6C2-D852E062EFDE}"/>
              </a:ext>
            </a:extLst>
          </p:cNvPr>
          <p:cNvCxnSpPr>
            <a:stCxn id="62" idx="2"/>
            <a:endCxn id="13" idx="0"/>
          </p:cNvCxnSpPr>
          <p:nvPr/>
        </p:nvCxnSpPr>
        <p:spPr>
          <a:xfrm>
            <a:off x="2907009" y="5378442"/>
            <a:ext cx="12809" cy="10982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33CDB4A-242F-4911-8A40-A77755807C7A}"/>
              </a:ext>
            </a:extLst>
          </p:cNvPr>
          <p:cNvCxnSpPr/>
          <p:nvPr/>
        </p:nvCxnSpPr>
        <p:spPr>
          <a:xfrm>
            <a:off x="1967696" y="5321095"/>
            <a:ext cx="910106" cy="355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21" name="그래픽 20" descr="닫기">
            <a:extLst>
              <a:ext uri="{FF2B5EF4-FFF2-40B4-BE49-F238E27FC236}">
                <a16:creationId xmlns:a16="http://schemas.microsoft.com/office/drawing/2014/main" id="{D1ACF633-AAA3-496B-B0EB-DB61C723B11C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95071" y="5241338"/>
            <a:ext cx="461665" cy="461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5B073F5-B3F0-4758-B290-D4DD0DC4C4B6}"/>
                  </a:ext>
                </a:extLst>
              </p:cNvPr>
              <p:cNvSpPr txBox="1"/>
              <p:nvPr/>
            </p:nvSpPr>
            <p:spPr>
              <a:xfrm>
                <a:off x="763260" y="4963784"/>
                <a:ext cx="12414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𝑘𝑠𝑤𝑎𝑝𝑑</m:t>
                      </m:r>
                    </m:oMath>
                  </m:oMathPara>
                </a14:m>
                <a:endParaRPr lang="en-US" altLang="ko-KR" sz="1600" b="0" i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ko-KR" sz="1600" i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(CXL DRAM)</a:t>
                </a: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5B073F5-B3F0-4758-B290-D4DD0DC4C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60" y="4963784"/>
                <a:ext cx="1241411" cy="584775"/>
              </a:xfrm>
              <a:prstGeom prst="rect">
                <a:avLst/>
              </a:prstGeom>
              <a:blipFill>
                <a:blip r:embed="rId17"/>
                <a:stretch>
                  <a:fillRect l="-2451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741F301-4783-4C84-9710-FCEE3BFFD4F7}"/>
                  </a:ext>
                </a:extLst>
              </p:cNvPr>
              <p:cNvSpPr txBox="1"/>
              <p:nvPr/>
            </p:nvSpPr>
            <p:spPr>
              <a:xfrm>
                <a:off x="2348489" y="4456744"/>
                <a:ext cx="12414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𝐴𝑝𝑝𝑙𝑖𝑐𝑎𝑡𝑖𝑜𝑛</m:t>
                      </m:r>
                    </m:oMath>
                  </m:oMathPara>
                </a14:m>
                <a:endParaRPr lang="en-US" altLang="ko-KR" sz="1600" b="0" i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altLang="ko-KR" sz="1600" i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(Host CPU)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741F301-4783-4C84-9710-FCEE3BFFD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489" y="4456744"/>
                <a:ext cx="1241411" cy="584775"/>
              </a:xfrm>
              <a:prstGeom prst="rect">
                <a:avLst/>
              </a:prstGeom>
              <a:blipFill>
                <a:blip r:embed="rId18"/>
                <a:stretch>
                  <a:fillRect l="-2451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1F5BB84D-BCF5-4A4D-A709-C80E013FE3BF}"/>
              </a:ext>
            </a:extLst>
          </p:cNvPr>
          <p:cNvSpPr txBox="1"/>
          <p:nvPr/>
        </p:nvSpPr>
        <p:spPr>
          <a:xfrm>
            <a:off x="8013994" y="3365905"/>
            <a:ext cx="1241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</a:t>
            </a:r>
          </a:p>
        </p:txBody>
      </p:sp>
    </p:spTree>
    <p:extLst>
      <p:ext uri="{BB962C8B-B14F-4D97-AF65-F5344CB8AC3E}">
        <p14:creationId xmlns:p14="http://schemas.microsoft.com/office/powerpoint/2010/main" val="184716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29" grpId="0"/>
      <p:bldP spid="59" grpId="0"/>
      <p:bldP spid="11" grpId="0" animBg="1"/>
      <p:bldP spid="71" grpId="0"/>
      <p:bldP spid="75" grpId="0"/>
      <p:bldP spid="77" grpId="0"/>
      <p:bldP spid="78" grpId="0"/>
      <p:bldP spid="87" grpId="0"/>
      <p:bldP spid="88" grpId="0"/>
      <p:bldP spid="8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0" y="205038"/>
            <a:ext cx="11980109" cy="559666"/>
          </a:xfrm>
        </p:spPr>
        <p:txBody>
          <a:bodyPr>
            <a:noAutofit/>
          </a:bodyPr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Challenge2: Cache Coherency Overhead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EC0CB-C1A3-FC91-299C-6D732CEBAC8A}"/>
              </a:ext>
            </a:extLst>
          </p:cNvPr>
          <p:cNvSpPr txBox="1"/>
          <p:nvPr/>
        </p:nvSpPr>
        <p:spPr>
          <a:xfrm>
            <a:off x="24056" y="845603"/>
            <a:ext cx="11761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Case1: 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CPU (application) 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updated the </a:t>
            </a:r>
            <a:r>
              <a:rPr lang="en-US" altLang="ko-K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</a:t>
            </a: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new file page is read by the application, the updated </a:t>
            </a:r>
            <a:r>
              <a:rPr lang="en-US" altLang="ko-KR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Xarray’s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entry is only in the CPU cache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B03DFD9-DA79-EF73-E5AF-939371833EF9}"/>
              </a:ext>
            </a:extLst>
          </p:cNvPr>
          <p:cNvSpPr/>
          <p:nvPr/>
        </p:nvSpPr>
        <p:spPr>
          <a:xfrm>
            <a:off x="6357948" y="1642245"/>
            <a:ext cx="3747623" cy="1752000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775E858-E6E6-817D-B78F-7980F361B771}"/>
              </a:ext>
            </a:extLst>
          </p:cNvPr>
          <p:cNvSpPr txBox="1"/>
          <p:nvPr/>
        </p:nvSpPr>
        <p:spPr>
          <a:xfrm>
            <a:off x="7654472" y="3394245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CXL DRAM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3C6EEB3-1DC5-F8D3-C71F-C9AB9B74BFD3}"/>
              </a:ext>
            </a:extLst>
          </p:cNvPr>
          <p:cNvSpPr/>
          <p:nvPr/>
        </p:nvSpPr>
        <p:spPr>
          <a:xfrm>
            <a:off x="6561749" y="1924338"/>
            <a:ext cx="3093638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0A2AA28-C507-8DF8-6856-7E361C4249F7}"/>
                  </a:ext>
                </a:extLst>
              </p:cNvPr>
              <p:cNvSpPr txBox="1"/>
              <p:nvPr/>
            </p:nvSpPr>
            <p:spPr>
              <a:xfrm>
                <a:off x="9048677" y="1955687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0A2AA28-C507-8DF8-6856-7E361C424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677" y="1955687"/>
                <a:ext cx="71058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0AFE4CE2-37E9-B5ED-2F66-6EAEEF5C432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620677" y="1974969"/>
          <a:ext cx="2448784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8E561A4-0D15-D29F-A5E5-4FBF73441C29}"/>
              </a:ext>
            </a:extLst>
          </p:cNvPr>
          <p:cNvSpPr/>
          <p:nvPr/>
        </p:nvSpPr>
        <p:spPr>
          <a:xfrm>
            <a:off x="6806529" y="2790369"/>
            <a:ext cx="3197515" cy="5788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6971F43-6232-139F-E4CC-DEB4148EB5C3}"/>
                  </a:ext>
                </a:extLst>
              </p:cNvPr>
              <p:cNvSpPr txBox="1"/>
              <p:nvPr/>
            </p:nvSpPr>
            <p:spPr>
              <a:xfrm>
                <a:off x="9337000" y="2821719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6971F43-6232-139F-E4CC-DEB4148EB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000" y="2821719"/>
                <a:ext cx="710587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D9D57E78-7F06-3D8F-5A34-04060DEB53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865458" y="2841001"/>
          <a:ext cx="2541616" cy="4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04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474272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pic>
        <p:nvPicPr>
          <p:cNvPr id="115" name="그림 114">
            <a:extLst>
              <a:ext uri="{FF2B5EF4-FFF2-40B4-BE49-F238E27FC236}">
                <a16:creationId xmlns:a16="http://schemas.microsoft.com/office/drawing/2014/main" id="{356FE6E8-5F41-1E7D-0B51-8555188C8AA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369" y="2176690"/>
            <a:ext cx="640306" cy="640306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4AEE2F03-76DA-0BA3-4C85-884DE9810269}"/>
              </a:ext>
            </a:extLst>
          </p:cNvPr>
          <p:cNvSpPr txBox="1"/>
          <p:nvPr/>
        </p:nvSpPr>
        <p:spPr>
          <a:xfrm rot="5400000">
            <a:off x="8033551" y="2325744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37E399D-1332-7809-2D7A-DE9BD6863073}"/>
              </a:ext>
            </a:extLst>
          </p:cNvPr>
          <p:cNvSpPr/>
          <p:nvPr/>
        </p:nvSpPr>
        <p:spPr>
          <a:xfrm>
            <a:off x="2275919" y="2872634"/>
            <a:ext cx="1265730" cy="516307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F2567A8-FFBE-D38D-3467-AB6529EC65DE}"/>
              </a:ext>
            </a:extLst>
          </p:cNvPr>
          <p:cNvSpPr txBox="1"/>
          <p:nvPr/>
        </p:nvSpPr>
        <p:spPr>
          <a:xfrm>
            <a:off x="2315040" y="3455055"/>
            <a:ext cx="118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Cache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988BE4E4-045F-250B-1748-B195089AB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953353"/>
              </p:ext>
            </p:extLst>
          </p:nvPr>
        </p:nvGraphicFramePr>
        <p:xfrm>
          <a:off x="2348489" y="2896893"/>
          <a:ext cx="1165174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174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entry[4] = </a:t>
                      </a:r>
                    </a:p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0x12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(new)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3BDA6EF8-F841-DFCA-09E0-EC95544DC667}"/>
              </a:ext>
            </a:extLst>
          </p:cNvPr>
          <p:cNvCxnSpPr>
            <a:cxnSpLocks/>
          </p:cNvCxnSpPr>
          <p:nvPr/>
        </p:nvCxnSpPr>
        <p:spPr>
          <a:xfrm>
            <a:off x="3273585" y="3011000"/>
            <a:ext cx="3591873" cy="15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45B44B4-3298-89E7-2254-6E459F8037C2}"/>
              </a:ext>
            </a:extLst>
          </p:cNvPr>
          <p:cNvSpPr txBox="1"/>
          <p:nvPr/>
        </p:nvSpPr>
        <p:spPr>
          <a:xfrm>
            <a:off x="6828256" y="2518245"/>
            <a:ext cx="8082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cs typeface="Calibri" panose="020F0502020204030204" pitchFamily="34" charset="0"/>
              </a:rPr>
              <a:t>entry[4]</a:t>
            </a:r>
            <a:endParaRPr lang="en-US" altLang="ko-KR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6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yet</a:t>
            </a:r>
            <a:endParaRPr lang="ko-KR" altLang="en-US" sz="1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A7C5EA-39FC-2957-F868-BE11B2F9D778}"/>
              </a:ext>
            </a:extLst>
          </p:cNvPr>
          <p:cNvSpPr txBox="1"/>
          <p:nvPr/>
        </p:nvSpPr>
        <p:spPr>
          <a:xfrm>
            <a:off x="3677528" y="2560369"/>
            <a:ext cx="260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to flush </a:t>
            </a:r>
            <a:r>
              <a:rPr lang="en-US" altLang="ko-KR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cacheline</a:t>
            </a:r>
            <a:endParaRPr lang="en-US" altLang="ko-KR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E28612E-FD71-D09E-DE76-4D2AF652CCCD}"/>
              </a:ext>
            </a:extLst>
          </p:cNvPr>
          <p:cNvSpPr txBox="1"/>
          <p:nvPr/>
        </p:nvSpPr>
        <p:spPr>
          <a:xfrm>
            <a:off x="0" y="4007566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Asynchronous </a:t>
            </a:r>
            <a:r>
              <a:rPr lang="en-US" altLang="ko-KR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clwb</a:t>
            </a:r>
            <a:r>
              <a:rPr lang="ko-KR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ache </a:t>
            </a:r>
            <a:r>
              <a:rPr lang="en-US" altLang="ko-K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 </a:t>
            </a:r>
            <a:r>
              <a:rPr lang="en-US" altLang="ko-KR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rite</a:t>
            </a:r>
            <a:r>
              <a:rPr lang="en-US" altLang="ko-KR" sz="2400" u="sng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ack)</a:t>
            </a: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086AFE-F926-2430-B594-1EA31AC35314}"/>
              </a:ext>
            </a:extLst>
          </p:cNvPr>
          <p:cNvGrpSpPr/>
          <p:nvPr/>
        </p:nvGrpSpPr>
        <p:grpSpPr>
          <a:xfrm>
            <a:off x="3508125" y="4757696"/>
            <a:ext cx="4793406" cy="2967350"/>
            <a:chOff x="8913783" y="4970337"/>
            <a:chExt cx="3598484" cy="2665128"/>
          </a:xfrm>
        </p:grpSpPr>
        <p:graphicFrame>
          <p:nvGraphicFramePr>
            <p:cNvPr id="166" name="차트 165">
              <a:extLst>
                <a:ext uri="{FF2B5EF4-FFF2-40B4-BE49-F238E27FC236}">
                  <a16:creationId xmlns:a16="http://schemas.microsoft.com/office/drawing/2014/main" id="{28FDF5D3-7773-A969-7DCD-72EFEFDAE99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13670764"/>
                </p:ext>
              </p:extLst>
            </p:nvPr>
          </p:nvGraphicFramePr>
          <p:xfrm>
            <a:off x="8913783" y="4970337"/>
            <a:ext cx="3598484" cy="266512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209631F-DD9C-79C7-D14B-CA39D3350F65}"/>
                </a:ext>
              </a:extLst>
            </p:cNvPr>
            <p:cNvSpPr txBox="1"/>
            <p:nvPr/>
          </p:nvSpPr>
          <p:spPr>
            <a:xfrm flipH="1">
              <a:off x="9309893" y="6157113"/>
              <a:ext cx="27528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>
                  <a:latin typeface="Calibri" panose="020F0502020204030204" pitchFamily="34" charset="0"/>
                  <a:cs typeface="Calibri" panose="020F0502020204030204" pitchFamily="34" charset="0"/>
                </a:rPr>
                <a:t>Overhead breakdown of query (us)</a:t>
              </a:r>
              <a:endParaRPr lang="ko-KR" altLang="en-US" sz="14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B4F3E1B-EA11-4180-6BB0-5A192406861D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E719B1-5BE6-445D-A564-95E024B2C540}"/>
              </a:ext>
            </a:extLst>
          </p:cNvPr>
          <p:cNvSpPr txBox="1"/>
          <p:nvPr/>
        </p:nvSpPr>
        <p:spPr>
          <a:xfrm>
            <a:off x="7463980" y="5061744"/>
            <a:ext cx="118839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negligible 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E1667C6-0AD9-40F8-BDD0-889993EAB057}"/>
              </a:ext>
            </a:extLst>
          </p:cNvPr>
          <p:cNvCxnSpPr>
            <a:cxnSpLocks/>
          </p:cNvCxnSpPr>
          <p:nvPr/>
        </p:nvCxnSpPr>
        <p:spPr>
          <a:xfrm>
            <a:off x="7232365" y="5242560"/>
            <a:ext cx="71405" cy="685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A7051D5-49E5-4C68-A3DE-98FB31FAD2C9}"/>
              </a:ext>
            </a:extLst>
          </p:cNvPr>
          <p:cNvCxnSpPr>
            <a:cxnSpLocks/>
          </p:cNvCxnSpPr>
          <p:nvPr/>
        </p:nvCxnSpPr>
        <p:spPr>
          <a:xfrm>
            <a:off x="7338060" y="5215754"/>
            <a:ext cx="0" cy="953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B3759730-E8B7-4B9B-92E3-4BD256F33E38}"/>
              </a:ext>
            </a:extLst>
          </p:cNvPr>
          <p:cNvCxnSpPr>
            <a:cxnSpLocks/>
          </p:cNvCxnSpPr>
          <p:nvPr/>
        </p:nvCxnSpPr>
        <p:spPr>
          <a:xfrm flipH="1">
            <a:off x="7372378" y="5227549"/>
            <a:ext cx="57284" cy="87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57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/>
      <p:bldP spid="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0" y="205038"/>
            <a:ext cx="11980109" cy="559666"/>
          </a:xfrm>
        </p:spPr>
        <p:txBody>
          <a:bodyPr>
            <a:noAutofit/>
          </a:bodyPr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Challenge2: Cache Coherency Overhead </a:t>
            </a:r>
            <a:r>
              <a:rPr lang="en-US" altLang="ko-KR" sz="3200">
                <a:latin typeface="Calibri" panose="020F0502020204030204" pitchFamily="34" charset="0"/>
                <a:cs typeface="Calibri" panose="020F0502020204030204" pitchFamily="34" charset="0"/>
              </a:rPr>
              <a:t>(Cont.)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463A66-E30F-60A9-A680-E9B513C4F971}"/>
              </a:ext>
            </a:extLst>
          </p:cNvPr>
          <p:cNvSpPr txBox="1"/>
          <p:nvPr/>
        </p:nvSpPr>
        <p:spPr>
          <a:xfrm>
            <a:off x="0" y="945964"/>
            <a:ext cx="6733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Case2: CXL-DRAM update the </a:t>
            </a:r>
            <a:r>
              <a:rPr lang="en-US" altLang="ko-K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Xarray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1163D7-D482-95E1-2256-AF790CFFFEA2}"/>
              </a:ext>
            </a:extLst>
          </p:cNvPr>
          <p:cNvSpPr/>
          <p:nvPr/>
        </p:nvSpPr>
        <p:spPr>
          <a:xfrm>
            <a:off x="3619698" y="1677000"/>
            <a:ext cx="817226" cy="1714499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66D3F-4F78-B997-DE57-24C72FF82111}"/>
              </a:ext>
            </a:extLst>
          </p:cNvPr>
          <p:cNvSpPr txBox="1"/>
          <p:nvPr/>
        </p:nvSpPr>
        <p:spPr>
          <a:xfrm rot="16200000">
            <a:off x="4007462" y="2041968"/>
            <a:ext cx="1265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 DRAM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5067A2-AA8F-9B0D-D5DF-E572D356658C}"/>
              </a:ext>
            </a:extLst>
          </p:cNvPr>
          <p:cNvSpPr/>
          <p:nvPr/>
        </p:nvSpPr>
        <p:spPr>
          <a:xfrm>
            <a:off x="6285376" y="1677000"/>
            <a:ext cx="3747623" cy="1752000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8D7EB-4947-EBB5-E8B8-48DCCB0C808B}"/>
              </a:ext>
            </a:extLst>
          </p:cNvPr>
          <p:cNvSpPr txBox="1"/>
          <p:nvPr/>
        </p:nvSpPr>
        <p:spPr>
          <a:xfrm rot="16200000">
            <a:off x="5450531" y="1974722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CXL DRAM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AE64CED-C3D0-F350-A7B8-934003D5281B}"/>
              </a:ext>
            </a:extLst>
          </p:cNvPr>
          <p:cNvSpPr/>
          <p:nvPr/>
        </p:nvSpPr>
        <p:spPr>
          <a:xfrm>
            <a:off x="6489177" y="1959093"/>
            <a:ext cx="3093638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E983075-C7D7-0458-EEA8-446209E83232}"/>
                  </a:ext>
                </a:extLst>
              </p:cNvPr>
              <p:cNvSpPr txBox="1"/>
              <p:nvPr/>
            </p:nvSpPr>
            <p:spPr>
              <a:xfrm>
                <a:off x="8976105" y="1990442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E983075-C7D7-0458-EEA8-446209E83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105" y="1990442"/>
                <a:ext cx="71058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AD9D57DC-5D32-6AA8-38F1-D07ABD4792A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48105" y="2009724"/>
          <a:ext cx="2448784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ABCE2A40-B6D1-EE71-A508-65E45F29BD0F}"/>
              </a:ext>
            </a:extLst>
          </p:cNvPr>
          <p:cNvSpPr/>
          <p:nvPr/>
        </p:nvSpPr>
        <p:spPr>
          <a:xfrm>
            <a:off x="6733957" y="2825124"/>
            <a:ext cx="3197515" cy="5788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C679915-B8A0-EDD1-5084-6E914E4B882C}"/>
                  </a:ext>
                </a:extLst>
              </p:cNvPr>
              <p:cNvSpPr txBox="1"/>
              <p:nvPr/>
            </p:nvSpPr>
            <p:spPr>
              <a:xfrm>
                <a:off x="9314831" y="2939898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C679915-B8A0-EDD1-5084-6E914E4B8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831" y="2939898"/>
                <a:ext cx="710587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29CB7C2F-E1BB-2461-2BFE-C7C0D7EBFE5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92886" y="2875756"/>
          <a:ext cx="2541616" cy="4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04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474272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B221ED50-9EA7-864F-13B1-9812A497BB6F}"/>
              </a:ext>
            </a:extLst>
          </p:cNvPr>
          <p:cNvSpPr txBox="1"/>
          <p:nvPr/>
        </p:nvSpPr>
        <p:spPr>
          <a:xfrm>
            <a:off x="7991108" y="2851751"/>
            <a:ext cx="808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entry[3]</a:t>
            </a:r>
          </a:p>
          <a:p>
            <a:r>
              <a:rPr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invalid</a:t>
            </a:r>
            <a:endParaRPr lang="ko-KR" alt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F3285876-04CE-CF2B-53EB-5927E8ED2BE3}"/>
              </a:ext>
            </a:extLst>
          </p:cNvPr>
          <p:cNvCxnSpPr>
            <a:cxnSpLocks/>
            <a:endCxn id="90" idx="0"/>
          </p:cNvCxnSpPr>
          <p:nvPr/>
        </p:nvCxnSpPr>
        <p:spPr>
          <a:xfrm rot="5400000">
            <a:off x="8285240" y="2437001"/>
            <a:ext cx="524728" cy="304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3" name="그림 92">
            <a:extLst>
              <a:ext uri="{FF2B5EF4-FFF2-40B4-BE49-F238E27FC236}">
                <a16:creationId xmlns:a16="http://schemas.microsoft.com/office/drawing/2014/main" id="{77982627-1CCD-A38C-3385-5F985146476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97" y="2211445"/>
            <a:ext cx="640306" cy="640306"/>
          </a:xfrm>
          <a:prstGeom prst="rect">
            <a:avLst/>
          </a:prstGeom>
        </p:spPr>
      </p:pic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D989C951-7D63-09C4-5806-6946E09E7D64}"/>
              </a:ext>
            </a:extLst>
          </p:cNvPr>
          <p:cNvCxnSpPr>
            <a:cxnSpLocks/>
            <a:stCxn id="93" idx="3"/>
            <a:endCxn id="3" idx="1"/>
          </p:cNvCxnSpPr>
          <p:nvPr/>
        </p:nvCxnSpPr>
        <p:spPr>
          <a:xfrm>
            <a:off x="3212103" y="2531598"/>
            <a:ext cx="407595" cy="2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50899C5E-6236-0498-E8FF-D4AE0D2E41F7}"/>
              </a:ext>
            </a:extLst>
          </p:cNvPr>
          <p:cNvSpPr txBox="1"/>
          <p:nvPr/>
        </p:nvSpPr>
        <p:spPr>
          <a:xfrm rot="5400000">
            <a:off x="7960979" y="2360499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1DB5931E-B4FC-22B6-52AA-5D5B67976BEE}"/>
              </a:ext>
            </a:extLst>
          </p:cNvPr>
          <p:cNvSpPr/>
          <p:nvPr/>
        </p:nvSpPr>
        <p:spPr>
          <a:xfrm>
            <a:off x="2505811" y="2907389"/>
            <a:ext cx="821354" cy="461665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E4920C5-B9D6-BA62-1ACA-7DA3EE6E6CE6}"/>
              </a:ext>
            </a:extLst>
          </p:cNvPr>
          <p:cNvSpPr txBox="1"/>
          <p:nvPr/>
        </p:nvSpPr>
        <p:spPr>
          <a:xfrm>
            <a:off x="2401326" y="3380881"/>
            <a:ext cx="1728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Cache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FEB88144-C469-98E5-62A1-E62D8873CA1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539039" y="3017467"/>
          <a:ext cx="77499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990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entry[3]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321796F3-E593-1FF4-847A-F6F6F9624D79}"/>
              </a:ext>
            </a:extLst>
          </p:cNvPr>
          <p:cNvCxnSpPr>
            <a:cxnSpLocks/>
            <a:stCxn id="90" idx="1"/>
            <a:endCxn id="98" idx="3"/>
          </p:cNvCxnSpPr>
          <p:nvPr/>
        </p:nvCxnSpPr>
        <p:spPr>
          <a:xfrm flipH="1">
            <a:off x="3314029" y="3113361"/>
            <a:ext cx="4677079" cy="41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94CCA7D-94AF-871C-4963-B67D7BF27E1E}"/>
              </a:ext>
            </a:extLst>
          </p:cNvPr>
          <p:cNvSpPr txBox="1"/>
          <p:nvPr/>
        </p:nvSpPr>
        <p:spPr>
          <a:xfrm>
            <a:off x="4404190" y="2799229"/>
            <a:ext cx="189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to invalidate</a:t>
            </a:r>
            <a:endParaRPr lang="ko-KR" alt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B5EA6C-608E-6926-C603-0FEA39DE7D6F}"/>
              </a:ext>
            </a:extLst>
          </p:cNvPr>
          <p:cNvSpPr txBox="1"/>
          <p:nvPr/>
        </p:nvSpPr>
        <p:spPr>
          <a:xfrm>
            <a:off x="0" y="4066427"/>
            <a:ext cx="839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 Utilize </a:t>
            </a:r>
            <a:r>
              <a:rPr lang="en-US" altLang="ko-K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BISnp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altLang="ko-K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 </a:t>
            </a:r>
            <a:r>
              <a:rPr lang="en-US" altLang="ko-K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nvalidation </a:t>
            </a:r>
            <a:r>
              <a:rPr lang="en-US" altLang="ko-K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oop </a:t>
            </a:r>
            <a:r>
              <a:rPr lang="en-US" altLang="ko-K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rotocol)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D8D2C0-7FA9-5AC7-7AE9-A916F8C2590F}"/>
              </a:ext>
            </a:extLst>
          </p:cNvPr>
          <p:cNvSpPr/>
          <p:nvPr/>
        </p:nvSpPr>
        <p:spPr>
          <a:xfrm>
            <a:off x="4037546" y="4550014"/>
            <a:ext cx="2451632" cy="1752000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21D4E-717B-FC90-735F-83227D32B17C}"/>
              </a:ext>
            </a:extLst>
          </p:cNvPr>
          <p:cNvSpPr txBox="1"/>
          <p:nvPr/>
        </p:nvSpPr>
        <p:spPr>
          <a:xfrm>
            <a:off x="5334069" y="6302014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CXL DRAM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0AAF4B-F823-DDA7-D3C2-D16356834BF2}"/>
              </a:ext>
            </a:extLst>
          </p:cNvPr>
          <p:cNvSpPr/>
          <p:nvPr/>
        </p:nvSpPr>
        <p:spPr>
          <a:xfrm>
            <a:off x="4241346" y="4832107"/>
            <a:ext cx="2007593" cy="39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74F64C-D45C-9E3C-8662-3C58B3DF202E}"/>
                  </a:ext>
                </a:extLst>
              </p:cNvPr>
              <p:cNvSpPr txBox="1"/>
              <p:nvPr/>
            </p:nvSpPr>
            <p:spPr>
              <a:xfrm>
                <a:off x="5538352" y="4837907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74F64C-D45C-9E3C-8662-3C58B3DF2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352" y="4837907"/>
                <a:ext cx="71058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7371B07-BD07-5A04-909E-172EBD51CBF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00274" y="4882738"/>
          <a:ext cx="1224392" cy="25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6">
                  <a:extLst>
                    <a:ext uri="{9D8B030D-6E8A-4147-A177-3AD203B41FA5}">
                      <a16:colId xmlns:a16="http://schemas.microsoft.com/office/drawing/2014/main" val="2482066288"/>
                    </a:ext>
                  </a:extLst>
                </a:gridCol>
                <a:gridCol w="612196">
                  <a:extLst>
                    <a:ext uri="{9D8B030D-6E8A-4147-A177-3AD203B41FA5}">
                      <a16:colId xmlns:a16="http://schemas.microsoft.com/office/drawing/2014/main" val="1811718669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endParaRPr lang="ko-KR" altLang="en-US" sz="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275E8B71-E074-BD6D-0763-5EBC3D3727C9}"/>
              </a:ext>
            </a:extLst>
          </p:cNvPr>
          <p:cNvSpPr/>
          <p:nvPr/>
        </p:nvSpPr>
        <p:spPr>
          <a:xfrm>
            <a:off x="4267052" y="5698138"/>
            <a:ext cx="2152434" cy="5788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B298842-4E4B-11E1-1899-74D1A1CE0F0A}"/>
                  </a:ext>
                </a:extLst>
              </p:cNvPr>
              <p:cNvSpPr txBox="1"/>
              <p:nvPr/>
            </p:nvSpPr>
            <p:spPr>
              <a:xfrm>
                <a:off x="5573546" y="5815207"/>
                <a:ext cx="7105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𝑛𝑜𝑑𝑒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B298842-4E4B-11E1-1899-74D1A1CE0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546" y="5815207"/>
                <a:ext cx="71058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1623FF42-37C6-3AE4-9ECD-7977A8468E0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5980" y="5748770"/>
          <a:ext cx="1270808" cy="474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04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  <a:gridCol w="635404">
                  <a:extLst>
                    <a:ext uri="{9D8B030D-6E8A-4147-A177-3AD203B41FA5}">
                      <a16:colId xmlns:a16="http://schemas.microsoft.com/office/drawing/2014/main" val="3972661012"/>
                    </a:ext>
                  </a:extLst>
                </a:gridCol>
              </a:tblGrid>
              <a:tr h="474272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8098D851-42FD-B768-FEC0-17B5B68DE095}"/>
              </a:ext>
            </a:extLst>
          </p:cNvPr>
          <p:cNvSpPr txBox="1"/>
          <p:nvPr/>
        </p:nvSpPr>
        <p:spPr>
          <a:xfrm>
            <a:off x="4229839" y="5847620"/>
            <a:ext cx="80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entry[3]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D6A588E-C747-F4FC-708B-F117E626644C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4548411" y="5230994"/>
            <a:ext cx="702164" cy="5310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72F6E517-C8A5-053A-61A2-9B2E9080A61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116" y="5005666"/>
            <a:ext cx="640306" cy="64030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F6C39D1-A303-52E9-93E2-D2B3328315A9}"/>
              </a:ext>
            </a:extLst>
          </p:cNvPr>
          <p:cNvSpPr txBox="1"/>
          <p:nvPr/>
        </p:nvSpPr>
        <p:spPr>
          <a:xfrm rot="5400000">
            <a:off x="5713148" y="5233513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CB4BA0-A7A1-E95F-E6A4-FC542EADD46D}"/>
              </a:ext>
            </a:extLst>
          </p:cNvPr>
          <p:cNvSpPr/>
          <p:nvPr/>
        </p:nvSpPr>
        <p:spPr>
          <a:xfrm>
            <a:off x="1405130" y="5701610"/>
            <a:ext cx="821354" cy="461665"/>
          </a:xfrm>
          <a:prstGeom prst="rect">
            <a:avLst/>
          </a:prstGeom>
          <a:solidFill>
            <a:schemeClr val="bg1"/>
          </a:solidFill>
          <a:ln w="12700">
            <a:solidFill>
              <a:srgbClr val="1D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753DD4-9E60-9C8B-07F6-9BA223B4EF00}"/>
              </a:ext>
            </a:extLst>
          </p:cNvPr>
          <p:cNvSpPr txBox="1"/>
          <p:nvPr/>
        </p:nvSpPr>
        <p:spPr>
          <a:xfrm>
            <a:off x="1448459" y="6196053"/>
            <a:ext cx="753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</a:t>
            </a:r>
          </a:p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893C756B-C71C-0B9E-736B-87B5010D537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38358" y="5811688"/>
          <a:ext cx="77499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990">
                  <a:extLst>
                    <a:ext uri="{9D8B030D-6E8A-4147-A177-3AD203B41FA5}">
                      <a16:colId xmlns:a16="http://schemas.microsoft.com/office/drawing/2014/main" val="503144659"/>
                    </a:ext>
                  </a:extLst>
                </a:gridCol>
              </a:tblGrid>
              <a:tr h="2553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entry[3]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709769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7CDFD6FE-DFD4-9E36-A114-A5DD2AC0A88D}"/>
              </a:ext>
            </a:extLst>
          </p:cNvPr>
          <p:cNvGrpSpPr/>
          <p:nvPr/>
        </p:nvGrpSpPr>
        <p:grpSpPr>
          <a:xfrm>
            <a:off x="2111422" y="5144422"/>
            <a:ext cx="2289468" cy="772413"/>
            <a:chOff x="2111422" y="5144422"/>
            <a:chExt cx="2289468" cy="772413"/>
          </a:xfrm>
        </p:grpSpPr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D5ED7BA4-2B75-64C2-8464-CDD48A15769A}"/>
                </a:ext>
              </a:extLst>
            </p:cNvPr>
            <p:cNvCxnSpPr>
              <a:cxnSpLocks/>
              <a:endCxn id="30" idx="3"/>
            </p:cNvCxnSpPr>
            <p:nvPr/>
          </p:nvCxnSpPr>
          <p:spPr>
            <a:xfrm flipH="1" flipV="1">
              <a:off x="2111422" y="5325819"/>
              <a:ext cx="2115221" cy="5910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E7C8289-58C9-F9B3-7417-77E0B603A6BB}"/>
                </a:ext>
              </a:extLst>
            </p:cNvPr>
            <p:cNvSpPr txBox="1"/>
            <p:nvPr/>
          </p:nvSpPr>
          <p:spPr>
            <a:xfrm>
              <a:off x="2679083" y="5144422"/>
              <a:ext cx="17218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</a:t>
              </a:r>
              <a:r>
                <a:rPr lang="en-US" altLang="ko-KR" sz="1600" dirty="0" err="1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BISnp</a:t>
              </a:r>
              <a:r>
                <a:rPr lang="en-US" altLang="ko-KR" sz="16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(CXL 3.0) </a:t>
              </a:r>
              <a:endParaRPr lang="ko-KR" altLang="en-US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4A49BD5-A2E5-50A1-0802-2672731A23D7}"/>
              </a:ext>
            </a:extLst>
          </p:cNvPr>
          <p:cNvSpPr txBox="1"/>
          <p:nvPr/>
        </p:nvSpPr>
        <p:spPr>
          <a:xfrm>
            <a:off x="58895" y="5506110"/>
            <a:ext cx="142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Snoop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(invalidation)</a:t>
            </a:r>
            <a:endParaRPr lang="ko-KR" altLang="en-US"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B1C2857-CE59-1AFF-0072-29EDC199D8FC}"/>
              </a:ext>
            </a:extLst>
          </p:cNvPr>
          <p:cNvCxnSpPr>
            <a:cxnSpLocks/>
          </p:cNvCxnSpPr>
          <p:nvPr/>
        </p:nvCxnSpPr>
        <p:spPr>
          <a:xfrm>
            <a:off x="2108226" y="5535676"/>
            <a:ext cx="2158825" cy="5898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15927E2-5E3C-E2F2-0E43-CB2471592C92}"/>
              </a:ext>
            </a:extLst>
          </p:cNvPr>
          <p:cNvSpPr txBox="1"/>
          <p:nvPr/>
        </p:nvSpPr>
        <p:spPr>
          <a:xfrm>
            <a:off x="2673415" y="5978609"/>
            <a:ext cx="1184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Response</a:t>
            </a:r>
            <a:endParaRPr lang="ko-KR" altLang="en-US"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632C4F-7779-C732-4EA1-EEFCBEB3838D}"/>
              </a:ext>
            </a:extLst>
          </p:cNvPr>
          <p:cNvSpPr txBox="1"/>
          <p:nvPr/>
        </p:nvSpPr>
        <p:spPr>
          <a:xfrm>
            <a:off x="4037546" y="6298486"/>
            <a:ext cx="9740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update</a:t>
            </a:r>
            <a:endParaRPr lang="ko-KR" altLang="en-US"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981F04-62F8-FF0B-C735-04F07E4F3EBB}"/>
              </a:ext>
            </a:extLst>
          </p:cNvPr>
          <p:cNvGrpSpPr/>
          <p:nvPr/>
        </p:nvGrpSpPr>
        <p:grpSpPr>
          <a:xfrm>
            <a:off x="8177867" y="4528092"/>
            <a:ext cx="2818289" cy="2150950"/>
            <a:chOff x="8177867" y="4528092"/>
            <a:chExt cx="2818289" cy="2150950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06C49639-1FC6-9F59-2D42-E271B6B2B5BC}"/>
                </a:ext>
              </a:extLst>
            </p:cNvPr>
            <p:cNvSpPr/>
            <p:nvPr/>
          </p:nvSpPr>
          <p:spPr>
            <a:xfrm>
              <a:off x="9500737" y="5353783"/>
              <a:ext cx="1093898" cy="216322"/>
            </a:xfrm>
            <a:prstGeom prst="rect">
              <a:avLst/>
            </a:prstGeom>
            <a:solidFill>
              <a:srgbClr val="FBE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684087-92B4-FE1F-F0E4-1DF3928C73E8}"/>
                </a:ext>
              </a:extLst>
            </p:cNvPr>
            <p:cNvSpPr txBox="1"/>
            <p:nvPr/>
          </p:nvSpPr>
          <p:spPr>
            <a:xfrm>
              <a:off x="9498571" y="5314877"/>
              <a:ext cx="9108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BISnpBlk0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0648B3AC-9D25-D98D-2749-8B5B3862C51F}"/>
                </a:ext>
              </a:extLst>
            </p:cNvPr>
            <p:cNvSpPr/>
            <p:nvPr/>
          </p:nvSpPr>
          <p:spPr>
            <a:xfrm>
              <a:off x="8234805" y="5373820"/>
              <a:ext cx="1206892" cy="2322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2C32C78-56A9-72BF-F9F9-4699F8B7BBC2}"/>
                </a:ext>
              </a:extLst>
            </p:cNvPr>
            <p:cNvSpPr txBox="1"/>
            <p:nvPr/>
          </p:nvSpPr>
          <p:spPr>
            <a:xfrm>
              <a:off x="8177867" y="5332949"/>
              <a:ext cx="13474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Xarr0 walk 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D121D5FD-B14C-05CA-B9C4-9CB951C00F74}"/>
                </a:ext>
              </a:extLst>
            </p:cNvPr>
            <p:cNvSpPr/>
            <p:nvPr/>
          </p:nvSpPr>
          <p:spPr>
            <a:xfrm>
              <a:off x="8244732" y="5907160"/>
              <a:ext cx="1206892" cy="2322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2A13205-3E1B-CC36-E1B4-5EBAD10A5702}"/>
                </a:ext>
              </a:extLst>
            </p:cNvPr>
            <p:cNvSpPr txBox="1"/>
            <p:nvPr/>
          </p:nvSpPr>
          <p:spPr>
            <a:xfrm>
              <a:off x="8187794" y="5866289"/>
              <a:ext cx="13474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Xarr31 walk 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F272DEB-9461-6BDD-8DA2-C0409ECB0B16}"/>
                </a:ext>
              </a:extLst>
            </p:cNvPr>
            <p:cNvSpPr txBox="1"/>
            <p:nvPr/>
          </p:nvSpPr>
          <p:spPr>
            <a:xfrm rot="5400000">
              <a:off x="8757709" y="5591018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  <a:endParaRPr lang="ko-KR" altLang="en-US" sz="1600" b="1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5C0809B-BE5A-D59A-5CB5-0EDA10D39449}"/>
                </a:ext>
              </a:extLst>
            </p:cNvPr>
            <p:cNvSpPr txBox="1"/>
            <p:nvPr/>
          </p:nvSpPr>
          <p:spPr>
            <a:xfrm>
              <a:off x="8332743" y="4966705"/>
              <a:ext cx="10326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300 - 500ns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A73431E-9611-2A0E-2272-C3C7DFF57C88}"/>
                </a:ext>
              </a:extLst>
            </p:cNvPr>
            <p:cNvSpPr txBox="1"/>
            <p:nvPr/>
          </p:nvSpPr>
          <p:spPr>
            <a:xfrm>
              <a:off x="9652651" y="4945293"/>
              <a:ext cx="10679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cs typeface="Calibri" panose="020F0502020204030204" pitchFamily="34" charset="0"/>
                </a:rPr>
                <a:t>500 – 700ns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2D4F35D-2C3C-D546-EE03-E53C7B011D6A}"/>
                </a:ext>
              </a:extLst>
            </p:cNvPr>
            <p:cNvSpPr txBox="1"/>
            <p:nvPr/>
          </p:nvSpPr>
          <p:spPr>
            <a:xfrm>
              <a:off x="10563478" y="5236188"/>
              <a:ext cx="348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/>
                <a:t>...</a:t>
              </a:r>
              <a:endParaRPr lang="ko-KR" altLang="en-US" sz="1600" b="1"/>
            </a:p>
          </p:txBody>
        </p:sp>
        <p:sp>
          <p:nvSpPr>
            <p:cNvPr id="118" name="왼쪽 중괄호 117">
              <a:extLst>
                <a:ext uri="{FF2B5EF4-FFF2-40B4-BE49-F238E27FC236}">
                  <a16:creationId xmlns:a16="http://schemas.microsoft.com/office/drawing/2014/main" id="{0C19FD9B-A57C-CFDA-85C9-AA93063A0230}"/>
                </a:ext>
              </a:extLst>
            </p:cNvPr>
            <p:cNvSpPr/>
            <p:nvPr/>
          </p:nvSpPr>
          <p:spPr>
            <a:xfrm rot="5400000">
              <a:off x="10113112" y="4640495"/>
              <a:ext cx="56193" cy="1286867"/>
            </a:xfrm>
            <a:prstGeom prst="leftBrace">
              <a:avLst>
                <a:gd name="adj1" fmla="val 8333"/>
                <a:gd name="adj2" fmla="val 50158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왼쪽 중괄호 121">
              <a:extLst>
                <a:ext uri="{FF2B5EF4-FFF2-40B4-BE49-F238E27FC236}">
                  <a16:creationId xmlns:a16="http://schemas.microsoft.com/office/drawing/2014/main" id="{456B11CA-ADBD-F27B-843C-FE515804EC03}"/>
                </a:ext>
              </a:extLst>
            </p:cNvPr>
            <p:cNvSpPr/>
            <p:nvPr/>
          </p:nvSpPr>
          <p:spPr>
            <a:xfrm rot="5400000">
              <a:off x="9423081" y="3686499"/>
              <a:ext cx="174144" cy="2550696"/>
            </a:xfrm>
            <a:prstGeom prst="leftBrace">
              <a:avLst>
                <a:gd name="adj1" fmla="val 8333"/>
                <a:gd name="adj2" fmla="val 50158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2E24B62-BD3C-F53A-7704-39AD33810583}"/>
                </a:ext>
              </a:extLst>
            </p:cNvPr>
            <p:cNvSpPr txBox="1"/>
            <p:nvPr/>
          </p:nvSpPr>
          <p:spPr>
            <a:xfrm>
              <a:off x="9292069" y="4528092"/>
              <a:ext cx="4812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2 us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08FBD2EE-84FC-BFD9-FA4F-F0A1CD8162E5}"/>
                </a:ext>
              </a:extLst>
            </p:cNvPr>
            <p:cNvSpPr/>
            <p:nvPr/>
          </p:nvSpPr>
          <p:spPr>
            <a:xfrm>
              <a:off x="9526666" y="5581762"/>
              <a:ext cx="1093898" cy="216322"/>
            </a:xfrm>
            <a:prstGeom prst="rect">
              <a:avLst/>
            </a:prstGeom>
            <a:solidFill>
              <a:srgbClr val="FBE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169D693-9137-40C7-6B82-DC9AC999FFC9}"/>
                </a:ext>
              </a:extLst>
            </p:cNvPr>
            <p:cNvSpPr txBox="1"/>
            <p:nvPr/>
          </p:nvSpPr>
          <p:spPr>
            <a:xfrm>
              <a:off x="9524500" y="5542856"/>
              <a:ext cx="9108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BISnpBlk1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159DEAF4-8DD5-DD47-A8FB-3DB2F593903D}"/>
                </a:ext>
              </a:extLst>
            </p:cNvPr>
            <p:cNvSpPr/>
            <p:nvPr/>
          </p:nvSpPr>
          <p:spPr>
            <a:xfrm>
              <a:off x="9558449" y="5803059"/>
              <a:ext cx="1093898" cy="216322"/>
            </a:xfrm>
            <a:prstGeom prst="rect">
              <a:avLst/>
            </a:prstGeom>
            <a:solidFill>
              <a:srgbClr val="FBE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FDE3485-3F1F-014E-E6F9-A67E83604AAB}"/>
                </a:ext>
              </a:extLst>
            </p:cNvPr>
            <p:cNvSpPr txBox="1"/>
            <p:nvPr/>
          </p:nvSpPr>
          <p:spPr>
            <a:xfrm>
              <a:off x="9556283" y="5764153"/>
              <a:ext cx="9108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BISnpBlk2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919A5676-3224-BF1C-1880-B2A7F80F30B0}"/>
                </a:ext>
              </a:extLst>
            </p:cNvPr>
            <p:cNvSpPr/>
            <p:nvPr/>
          </p:nvSpPr>
          <p:spPr>
            <a:xfrm>
              <a:off x="9603128" y="6024130"/>
              <a:ext cx="1093898" cy="216322"/>
            </a:xfrm>
            <a:prstGeom prst="rect">
              <a:avLst/>
            </a:prstGeom>
            <a:solidFill>
              <a:srgbClr val="FBE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425B486B-711A-0D04-24CD-D606B6346D5B}"/>
                </a:ext>
              </a:extLst>
            </p:cNvPr>
            <p:cNvSpPr txBox="1"/>
            <p:nvPr/>
          </p:nvSpPr>
          <p:spPr>
            <a:xfrm>
              <a:off x="9600962" y="5985224"/>
              <a:ext cx="9108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BISnpBlk3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1" name="왼쪽 중괄호 130">
              <a:extLst>
                <a:ext uri="{FF2B5EF4-FFF2-40B4-BE49-F238E27FC236}">
                  <a16:creationId xmlns:a16="http://schemas.microsoft.com/office/drawing/2014/main" id="{9FCDE36F-3C92-74BF-9334-472019B0A1AB}"/>
                </a:ext>
              </a:extLst>
            </p:cNvPr>
            <p:cNvSpPr/>
            <p:nvPr/>
          </p:nvSpPr>
          <p:spPr>
            <a:xfrm rot="5400000">
              <a:off x="8820081" y="4640091"/>
              <a:ext cx="56193" cy="1286867"/>
            </a:xfrm>
            <a:prstGeom prst="leftBrace">
              <a:avLst>
                <a:gd name="adj1" fmla="val 8333"/>
                <a:gd name="adj2" fmla="val 50158"/>
              </a:avLst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AF200F7-414B-CC49-D6A9-CE33A5F832DE}"/>
                </a:ext>
              </a:extLst>
            </p:cNvPr>
            <p:cNvSpPr txBox="1"/>
            <p:nvPr/>
          </p:nvSpPr>
          <p:spPr>
            <a:xfrm>
              <a:off x="8455237" y="6309710"/>
              <a:ext cx="254091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Pipelined </a:t>
              </a:r>
              <a:r>
                <a:rPr lang="en-US" altLang="ko-KR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BISnp</a:t>
              </a:r>
              <a:endParaRPr lang="ko-KR" altLang="en-US" b="1" dirty="0"/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865814D-8C02-5ACD-FC25-1ED58BA94ED0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80E4C0A-BCBF-41F0-92FF-6F513F7C61BE}"/>
                  </a:ext>
                </a:extLst>
              </p:cNvPr>
              <p:cNvSpPr txBox="1"/>
              <p:nvPr/>
            </p:nvSpPr>
            <p:spPr>
              <a:xfrm>
                <a:off x="8239218" y="1310420"/>
                <a:ext cx="7510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𝑙𝑜𝑐𝑘</m:t>
                      </m:r>
                    </m:oMath>
                  </m:oMathPara>
                </a14:m>
                <a:endParaRPr lang="en-US" altLang="ko-KR" sz="1600" i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80E4C0A-BCBF-41F0-92FF-6F513F7C6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218" y="1310420"/>
                <a:ext cx="751024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그림 74">
            <a:extLst>
              <a:ext uri="{FF2B5EF4-FFF2-40B4-BE49-F238E27FC236}">
                <a16:creationId xmlns:a16="http://schemas.microsoft.com/office/drawing/2014/main" id="{245AF278-9B71-401E-B022-5563FF0469B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337" y="1329826"/>
            <a:ext cx="298769" cy="2987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7C672F1-795C-4C84-AEEE-DFBAB3612FA6}"/>
                  </a:ext>
                </a:extLst>
              </p:cNvPr>
              <p:cNvSpPr txBox="1"/>
              <p:nvPr/>
            </p:nvSpPr>
            <p:spPr>
              <a:xfrm>
                <a:off x="8324478" y="3533877"/>
                <a:ext cx="7510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u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𝑛𝑙𝑜𝑐𝑘</m:t>
                      </m:r>
                    </m:oMath>
                  </m:oMathPara>
                </a14:m>
                <a:endParaRPr lang="en-US" altLang="ko-KR" sz="1600" i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7C672F1-795C-4C84-AEEE-DFBAB3612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478" y="3533877"/>
                <a:ext cx="751024" cy="338554"/>
              </a:xfrm>
              <a:prstGeom prst="rect">
                <a:avLst/>
              </a:prstGeom>
              <a:blipFill>
                <a:blip r:embed="rId12"/>
                <a:stretch>
                  <a:fillRect r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7" name="그래픽 76" descr="열린 자물쇠">
            <a:extLst>
              <a:ext uri="{FF2B5EF4-FFF2-40B4-BE49-F238E27FC236}">
                <a16:creationId xmlns:a16="http://schemas.microsoft.com/office/drawing/2014/main" id="{9BE870ED-B032-454E-8BB8-387B368527E8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81530" y="3499949"/>
            <a:ext cx="372634" cy="372634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0FA1B412-BC69-4869-83ED-588581F5AFD7}"/>
              </a:ext>
            </a:extLst>
          </p:cNvPr>
          <p:cNvSpPr txBox="1"/>
          <p:nvPr/>
        </p:nvSpPr>
        <p:spPr>
          <a:xfrm>
            <a:off x="7523740" y="931011"/>
            <a:ext cx="191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Kswapd (CXL-DRAM)</a:t>
            </a:r>
          </a:p>
        </p:txBody>
      </p:sp>
    </p:spTree>
    <p:extLst>
      <p:ext uri="{BB962C8B-B14F-4D97-AF65-F5344CB8AC3E}">
        <p14:creationId xmlns:p14="http://schemas.microsoft.com/office/powerpoint/2010/main" val="344306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7" grpId="0"/>
      <p:bldP spid="20" grpId="0" animBg="1"/>
      <p:bldP spid="21" grpId="0"/>
      <p:bldP spid="22" grpId="0" animBg="1"/>
      <p:bldP spid="23" grpId="0"/>
      <p:bldP spid="25" grpId="0" animBg="1"/>
      <p:bldP spid="26" grpId="0"/>
      <p:bldP spid="28" grpId="0"/>
      <p:bldP spid="32" grpId="0"/>
      <p:bldP spid="33" grpId="0" animBg="1"/>
      <p:bldP spid="34" grpId="0"/>
      <p:bldP spid="38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41440C-E2F2-4033-B3D2-9026F063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151"/>
            <a:ext cx="10515600" cy="4351338"/>
          </a:xfrm>
        </p:spPr>
        <p:txBody>
          <a:bodyPr/>
          <a:lstStyle/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lvl="1"/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Rise of CXL DRAM Systems and Their Challenges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Motivation: </a:t>
            </a:r>
          </a:p>
          <a:p>
            <a:pPr lvl="1"/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reclamation slowdown and latency spikes in CXL DRAM systems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 Design &amp; Challenges</a:t>
            </a:r>
          </a:p>
          <a:p>
            <a:endParaRPr lang="en-US" altLang="ko-KR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b="1">
                <a:latin typeface="Calibri" panose="020F0502020204030204" pitchFamily="34" charset="0"/>
                <a:cs typeface="Calibri" panose="020F0502020204030204" pitchFamily="34" charset="0"/>
              </a:rPr>
              <a:t>Experimental Evaluations</a:t>
            </a:r>
            <a:endParaRPr lang="ko-KR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960BD8-1667-451C-84BF-5EDD3FEB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16</a:t>
            </a:fld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99EA01C-FE7F-49F3-9596-941DA764AAC5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48688BE9-FD2C-4CCB-8814-0AE29813BE93}"/>
              </a:ext>
            </a:extLst>
          </p:cNvPr>
          <p:cNvSpPr txBox="1">
            <a:spLocks/>
          </p:cNvSpPr>
          <p:nvPr/>
        </p:nvSpPr>
        <p:spPr>
          <a:xfrm>
            <a:off x="174066" y="87094"/>
            <a:ext cx="3124200" cy="662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Outline</a:t>
            </a:r>
            <a:endParaRPr lang="ko-KR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274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>
            <a:extLst>
              <a:ext uri="{FF2B5EF4-FFF2-40B4-BE49-F238E27FC236}">
                <a16:creationId xmlns:a16="http://schemas.microsoft.com/office/drawing/2014/main" id="{8C86B71C-C7ED-7423-8D2C-11376CB2D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2" y="205038"/>
            <a:ext cx="11141529" cy="559666"/>
          </a:xfrm>
        </p:spPr>
        <p:txBody>
          <a:bodyPr>
            <a:noAutofit/>
          </a:bodyPr>
          <a:lstStyle/>
          <a:p>
            <a:r>
              <a:rPr lang="en-US" altLang="ko-KR" sz="3200">
                <a:latin typeface="Calibri" panose="020F0502020204030204" pitchFamily="34" charset="0"/>
                <a:cs typeface="Calibri" panose="020F0502020204030204" pitchFamily="34" charset="0"/>
              </a:rPr>
              <a:t>Experimental Setup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66FA99-145F-1FAF-BBD7-B59F1F03AF9D}"/>
              </a:ext>
            </a:extLst>
          </p:cNvPr>
          <p:cNvSpPr txBox="1"/>
          <p:nvPr/>
        </p:nvSpPr>
        <p:spPr>
          <a:xfrm>
            <a:off x="10046" y="839961"/>
            <a:ext cx="12216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Platform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1738F5-95CB-A112-9902-E2654A919B44}"/>
              </a:ext>
            </a:extLst>
          </p:cNvPr>
          <p:cNvSpPr txBox="1"/>
          <p:nvPr/>
        </p:nvSpPr>
        <p:spPr>
          <a:xfrm>
            <a:off x="0" y="1209204"/>
            <a:ext cx="122166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Linux Server (Kernel 6.14)</a:t>
            </a: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Intel Xeon 6</a:t>
            </a:r>
            <a:r>
              <a:rPr lang="en-US" altLang="ko-KR" sz="2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128 cores </a:t>
            </a: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256 GiB DRAM, 8-TiB </a:t>
            </a:r>
            <a:r>
              <a:rPr lang="en-US" altLang="ko-KR" sz="2000" err="1">
                <a:latin typeface="Calibri" panose="020F0502020204030204" pitchFamily="34" charset="0"/>
                <a:cs typeface="Calibri" panose="020F0502020204030204" pitchFamily="34" charset="0"/>
              </a:rPr>
              <a:t>NVMe</a:t>
            </a: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 SSD</a:t>
            </a: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  <a:cs typeface="Calibri" panose="020F0502020204030204" pitchFamily="34" charset="0"/>
              </a:rPr>
              <a:t>UPI frequency is controlled </a:t>
            </a:r>
          </a:p>
          <a:p>
            <a:pPr lvl="1"/>
            <a:r>
              <a:rPr lang="en-US" altLang="ko-KR" sz="2000" b="1">
                <a:latin typeface="Calibri" panose="020F0502020204030204" pitchFamily="34" charset="0"/>
                <a:cs typeface="Calibri" panose="020F0502020204030204" pitchFamily="34" charset="0"/>
              </a:rPr>
              <a:t>       to emulate CXL-DRAM</a:t>
            </a: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66FA99-145F-1FAF-BBD7-B59F1F03AF9D}"/>
              </a:ext>
            </a:extLst>
          </p:cNvPr>
          <p:cNvSpPr txBox="1"/>
          <p:nvPr/>
        </p:nvSpPr>
        <p:spPr>
          <a:xfrm>
            <a:off x="73312" y="3590933"/>
            <a:ext cx="12216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Workloads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1738F5-95CB-A112-9902-E2654A919B44}"/>
              </a:ext>
            </a:extLst>
          </p:cNvPr>
          <p:cNvSpPr txBox="1"/>
          <p:nvPr/>
        </p:nvSpPr>
        <p:spPr>
          <a:xfrm>
            <a:off x="63266" y="4123462"/>
            <a:ext cx="126537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Databases: PostgreSQL, </a:t>
            </a:r>
            <a:r>
              <a:rPr lang="en-US" altLang="ko-K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RocksDB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LMDB (key-value </a:t>
            </a: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store), and Neo4j</a:t>
            </a: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Workloads: YCSB (read/write intensive), pgbench, </a:t>
            </a:r>
            <a:r>
              <a:rPr lang="en-US" altLang="ko-KR" sz="2000" i="1">
                <a:latin typeface="Calibri" panose="020F0502020204030204" pitchFamily="34" charset="0"/>
                <a:cs typeface="Calibri" panose="020F0502020204030204" pitchFamily="34" charset="0"/>
              </a:rPr>
              <a:t>mmap</a:t>
            </a: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-based GET, and Interactive Short/Complex Queries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66FA99-145F-1FAF-BBD7-B59F1F03AF9D}"/>
              </a:ext>
            </a:extLst>
          </p:cNvPr>
          <p:cNvSpPr txBox="1"/>
          <p:nvPr/>
        </p:nvSpPr>
        <p:spPr>
          <a:xfrm>
            <a:off x="53220" y="5145033"/>
            <a:ext cx="12216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 Schemes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1738F5-95CB-A112-9902-E2654A919B44}"/>
              </a:ext>
            </a:extLst>
          </p:cNvPr>
          <p:cNvSpPr txBox="1"/>
          <p:nvPr/>
        </p:nvSpPr>
        <p:spPr>
          <a:xfrm>
            <a:off x="73312" y="5624341"/>
            <a:ext cx="12216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Baseline</a:t>
            </a: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: Default kernel (preferentially allocate metadata on DDR, but spill over under DDR pressure)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b="1">
                <a:latin typeface="Calibri" panose="020F0502020204030204" pitchFamily="34" charset="0"/>
                <a:cs typeface="Calibri" panose="020F0502020204030204" pitchFamily="34" charset="0"/>
              </a:rPr>
              <a:t>MAC</a:t>
            </a: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: +NMP-based page reclamation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76770FE-5215-D43E-AB2C-1DE69C1E2A6A}"/>
              </a:ext>
            </a:extLst>
          </p:cNvPr>
          <p:cNvGrpSpPr/>
          <p:nvPr/>
        </p:nvGrpSpPr>
        <p:grpSpPr>
          <a:xfrm>
            <a:off x="5192224" y="174118"/>
            <a:ext cx="6407624" cy="3445748"/>
            <a:chOff x="1126182" y="776931"/>
            <a:chExt cx="6407624" cy="3445748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77B0DAA-2A35-D242-85FA-8C490A777792}"/>
                </a:ext>
              </a:extLst>
            </p:cNvPr>
            <p:cNvSpPr/>
            <p:nvPr/>
          </p:nvSpPr>
          <p:spPr>
            <a:xfrm>
              <a:off x="1126182" y="783713"/>
              <a:ext cx="6407624" cy="34389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1BEAEA-D495-6F43-493E-B02053A173C7}"/>
                </a:ext>
              </a:extLst>
            </p:cNvPr>
            <p:cNvSpPr txBox="1"/>
            <p:nvPr/>
          </p:nvSpPr>
          <p:spPr>
            <a:xfrm>
              <a:off x="1474681" y="776931"/>
              <a:ext cx="2046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CXL-EMULATION SYSTEM</a:t>
              </a:r>
              <a:endParaRPr lang="ko-KR" altLang="en-US" sz="14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2A06F58-B60E-2053-6D8E-FF67A92FE747}"/>
                </a:ext>
              </a:extLst>
            </p:cNvPr>
            <p:cNvSpPr/>
            <p:nvPr/>
          </p:nvSpPr>
          <p:spPr>
            <a:xfrm>
              <a:off x="1244960" y="1080713"/>
              <a:ext cx="2542241" cy="2833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CC434E3-D90B-1D1F-1367-EB1CA7A6E337}"/>
                </a:ext>
              </a:extLst>
            </p:cNvPr>
            <p:cNvSpPr/>
            <p:nvPr/>
          </p:nvSpPr>
          <p:spPr>
            <a:xfrm>
              <a:off x="4329994" y="1080712"/>
              <a:ext cx="3060819" cy="2844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D737F7-C119-1EFF-07C3-8CF22651314D}"/>
                </a:ext>
              </a:extLst>
            </p:cNvPr>
            <p:cNvSpPr txBox="1"/>
            <p:nvPr/>
          </p:nvSpPr>
          <p:spPr>
            <a:xfrm>
              <a:off x="4329995" y="1049791"/>
              <a:ext cx="22769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NODE1 (CPU1 (cores 64-96))</a:t>
              </a:r>
              <a:endParaRPr lang="ko-KR" altLang="en-US" sz="1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2B14B521-8C00-A449-EF6D-83DD123AA99E}"/>
                </a:ext>
              </a:extLst>
            </p:cNvPr>
            <p:cNvSpPr/>
            <p:nvPr/>
          </p:nvSpPr>
          <p:spPr>
            <a:xfrm>
              <a:off x="4389383" y="1367958"/>
              <a:ext cx="2916074" cy="18197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411770C-CF15-5C15-4B4E-9A10B36CA969}"/>
                </a:ext>
              </a:extLst>
            </p:cNvPr>
            <p:cNvSpPr/>
            <p:nvPr/>
          </p:nvSpPr>
          <p:spPr>
            <a:xfrm>
              <a:off x="4389383" y="3220711"/>
              <a:ext cx="2916074" cy="400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5664955-90BA-5CEC-98C4-62CC01C5F620}"/>
                </a:ext>
              </a:extLst>
            </p:cNvPr>
            <p:cNvSpPr txBox="1"/>
            <p:nvPr/>
          </p:nvSpPr>
          <p:spPr>
            <a:xfrm>
              <a:off x="5429099" y="3900403"/>
              <a:ext cx="10150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CXL DRAM </a:t>
              </a:r>
              <a:endParaRPr lang="ko-KR" altLang="en-US" sz="14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14F0FDF-23B4-241B-11F4-5F6CA8672ADF}"/>
                </a:ext>
              </a:extLst>
            </p:cNvPr>
            <p:cNvCxnSpPr>
              <a:cxnSpLocks/>
            </p:cNvCxnSpPr>
            <p:nvPr/>
          </p:nvCxnSpPr>
          <p:spPr>
            <a:xfrm>
              <a:off x="3795484" y="2275932"/>
              <a:ext cx="53451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996DC48-9174-DE7C-1F2C-8801A2F7DD1E}"/>
                </a:ext>
              </a:extLst>
            </p:cNvPr>
            <p:cNvSpPr/>
            <p:nvPr/>
          </p:nvSpPr>
          <p:spPr>
            <a:xfrm>
              <a:off x="4553949" y="2625511"/>
              <a:ext cx="1002558" cy="4445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4CD9E0-3C1D-606B-9141-6E4DFD979693}"/>
                </a:ext>
              </a:extLst>
            </p:cNvPr>
            <p:cNvSpPr txBox="1"/>
            <p:nvPr/>
          </p:nvSpPr>
          <p:spPr>
            <a:xfrm>
              <a:off x="4550361" y="2591339"/>
              <a:ext cx="10031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accelerator</a:t>
              </a:r>
            </a:p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(core65)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1282E5D-E3DD-14FF-0D5D-1EF1F5A8D016}"/>
                </a:ext>
              </a:extLst>
            </p:cNvPr>
            <p:cNvSpPr/>
            <p:nvPr/>
          </p:nvSpPr>
          <p:spPr>
            <a:xfrm>
              <a:off x="5493746" y="1573554"/>
              <a:ext cx="819803" cy="6945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8D45CD8-4495-9664-273E-2E8E5528DB1A}"/>
                </a:ext>
              </a:extLst>
            </p:cNvPr>
            <p:cNvSpPr txBox="1"/>
            <p:nvPr/>
          </p:nvSpPr>
          <p:spPr>
            <a:xfrm>
              <a:off x="5490511" y="1535552"/>
              <a:ext cx="89678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NDP</a:t>
              </a:r>
            </a:p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controller</a:t>
              </a:r>
            </a:p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(core64)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E73DAA-70F5-4F1E-11EA-79B2F7B3520D}"/>
                </a:ext>
              </a:extLst>
            </p:cNvPr>
            <p:cNvSpPr txBox="1"/>
            <p:nvPr/>
          </p:nvSpPr>
          <p:spPr>
            <a:xfrm rot="16200000">
              <a:off x="3555610" y="2522544"/>
              <a:ext cx="10378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UPI link</a:t>
              </a:r>
            </a:p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ko-KR" sz="14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controlled</a:t>
              </a:r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1499DCA-A1C3-4D38-B016-3D78E62F1E14}"/>
                </a:ext>
              </a:extLst>
            </p:cNvPr>
            <p:cNvSpPr/>
            <p:nvPr/>
          </p:nvSpPr>
          <p:spPr>
            <a:xfrm>
              <a:off x="6168887" y="2625511"/>
              <a:ext cx="1003160" cy="4445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6E1E480-E59B-236B-DA85-B33147F6E4DB}"/>
                </a:ext>
              </a:extLst>
            </p:cNvPr>
            <p:cNvSpPr txBox="1"/>
            <p:nvPr/>
          </p:nvSpPr>
          <p:spPr>
            <a:xfrm>
              <a:off x="6194879" y="2591339"/>
              <a:ext cx="10031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accelerator</a:t>
              </a:r>
            </a:p>
            <a:p>
              <a:r>
                <a:rPr lang="en-US" altLang="ko-KR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(core96)</a:t>
              </a:r>
              <a:endParaRPr lang="ko-KR" alt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01FBC5-3232-0741-3FC3-3E566F5CC03C}"/>
                </a:ext>
              </a:extLst>
            </p:cNvPr>
            <p:cNvSpPr txBox="1"/>
            <p:nvPr/>
          </p:nvSpPr>
          <p:spPr>
            <a:xfrm>
              <a:off x="5696586" y="2610967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...</a:t>
              </a:r>
              <a:endParaRPr lang="ko-KR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B914CDA-F60D-5974-9F6B-9FE17D6D895C}"/>
                </a:ext>
              </a:extLst>
            </p:cNvPr>
            <p:cNvSpPr/>
            <p:nvPr/>
          </p:nvSpPr>
          <p:spPr>
            <a:xfrm>
              <a:off x="4562958" y="3274536"/>
              <a:ext cx="989531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C19A78BE-F038-7DB0-574D-8F967ED4CA5F}"/>
                    </a:ext>
                  </a:extLst>
                </p:cNvPr>
                <p:cNvSpPr/>
                <p:nvPr/>
              </p:nvSpPr>
              <p:spPr>
                <a:xfrm>
                  <a:off x="4611324" y="3274693"/>
                  <a:ext cx="887807" cy="32816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𝑴𝑨𝑪</m:t>
                            </m:r>
                          </m:e>
                          <m:sub>
                            <m:r>
                              <a:rPr lang="en-US" altLang="ko-KR" sz="1400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𝒃𝒖𝒇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2954D330-5B17-46E3-9136-136C7A2A82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1324" y="3274693"/>
                  <a:ext cx="887807" cy="328167"/>
                </a:xfrm>
                <a:prstGeom prst="rect">
                  <a:avLst/>
                </a:prstGeom>
                <a:blipFill>
                  <a:blip r:embed="rId5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0A9010-46C0-ECF1-080B-8B9E461F4AD3}"/>
                </a:ext>
              </a:extLst>
            </p:cNvPr>
            <p:cNvSpPr txBox="1"/>
            <p:nvPr/>
          </p:nvSpPr>
          <p:spPr>
            <a:xfrm>
              <a:off x="5588905" y="3603176"/>
              <a:ext cx="6511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DRAM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A9A4C377-2122-C5E0-3DEF-DA893180E2D7}"/>
                </a:ext>
              </a:extLst>
            </p:cNvPr>
            <p:cNvSpPr/>
            <p:nvPr/>
          </p:nvSpPr>
          <p:spPr>
            <a:xfrm>
              <a:off x="1280182" y="1367958"/>
              <a:ext cx="2444527" cy="18197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04B8AA1-99E2-4558-D144-4FACCABF2067}"/>
                </a:ext>
              </a:extLst>
            </p:cNvPr>
            <p:cNvSpPr txBox="1"/>
            <p:nvPr/>
          </p:nvSpPr>
          <p:spPr>
            <a:xfrm>
              <a:off x="1460718" y="1051285"/>
              <a:ext cx="22262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 0 (CPU0 (cores 0-63))</a:t>
              </a:r>
              <a:endParaRPr lang="ko-KR" altLang="en-US" sz="14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F39569-E1B7-121C-9B50-9C8F2B30F1B9}"/>
                </a:ext>
              </a:extLst>
            </p:cNvPr>
            <p:cNvSpPr txBox="1"/>
            <p:nvPr/>
          </p:nvSpPr>
          <p:spPr>
            <a:xfrm>
              <a:off x="2250106" y="3909989"/>
              <a:ext cx="5273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Host</a:t>
              </a:r>
              <a:endParaRPr lang="ko-KR" altLang="en-US" sz="14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D516F3-CCF8-C898-7CB7-4BFDBE646BEB}"/>
                </a:ext>
              </a:extLst>
            </p:cNvPr>
            <p:cNvSpPr txBox="1"/>
            <p:nvPr/>
          </p:nvSpPr>
          <p:spPr>
            <a:xfrm>
              <a:off x="3714350" y="1473258"/>
              <a:ext cx="7039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cs typeface="Calibri" panose="020F0502020204030204" pitchFamily="34" charset="0"/>
                </a:rPr>
                <a:t>offload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AA802AC-4F4B-51BD-3644-17FEFCE35FC3}"/>
                </a:ext>
              </a:extLst>
            </p:cNvPr>
            <p:cNvSpPr/>
            <p:nvPr/>
          </p:nvSpPr>
          <p:spPr>
            <a:xfrm>
              <a:off x="1310496" y="3221773"/>
              <a:ext cx="2414213" cy="4136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42B8187-F6BF-EFC1-DC7D-D61FC68F3284}"/>
                </a:ext>
              </a:extLst>
            </p:cNvPr>
            <p:cNvSpPr/>
            <p:nvPr/>
          </p:nvSpPr>
          <p:spPr>
            <a:xfrm>
              <a:off x="1605889" y="3276943"/>
              <a:ext cx="2002174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E71F714-30AA-A143-8C85-138EC8D1C0AD}"/>
                </a:ext>
              </a:extLst>
            </p:cNvPr>
            <p:cNvSpPr/>
            <p:nvPr/>
          </p:nvSpPr>
          <p:spPr>
            <a:xfrm>
              <a:off x="1605890" y="3299824"/>
              <a:ext cx="266480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NDP info. (tager file idx, ..)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E60BEC9-296E-9151-9F09-2FF66F8BB5C9}"/>
                </a:ext>
              </a:extLst>
            </p:cNvPr>
            <p:cNvSpPr txBox="1"/>
            <p:nvPr/>
          </p:nvSpPr>
          <p:spPr>
            <a:xfrm>
              <a:off x="2225348" y="3592626"/>
              <a:ext cx="6511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DRAM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3660134-9566-3F17-27DF-D01CE7CB8B15}"/>
                </a:ext>
              </a:extLst>
            </p:cNvPr>
            <p:cNvSpPr/>
            <p:nvPr/>
          </p:nvSpPr>
          <p:spPr>
            <a:xfrm>
              <a:off x="1447690" y="1435672"/>
              <a:ext cx="1923123" cy="9447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0758F99-F1CA-F42A-FEA4-05D474936B50}"/>
                </a:ext>
              </a:extLst>
            </p:cNvPr>
            <p:cNvSpPr/>
            <p:nvPr/>
          </p:nvSpPr>
          <p:spPr>
            <a:xfrm>
              <a:off x="1488953" y="1584884"/>
              <a:ext cx="994142" cy="3060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B3889F4-F812-C2E7-A307-AFA956F7ABD3}"/>
                </a:ext>
              </a:extLst>
            </p:cNvPr>
            <p:cNvSpPr txBox="1"/>
            <p:nvPr/>
          </p:nvSpPr>
          <p:spPr>
            <a:xfrm>
              <a:off x="1471215" y="1574290"/>
              <a:ext cx="10824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Applications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450EB900-FFDC-1D19-6092-095358878C99}"/>
                </a:ext>
              </a:extLst>
            </p:cNvPr>
            <p:cNvSpPr/>
            <p:nvPr/>
          </p:nvSpPr>
          <p:spPr>
            <a:xfrm>
              <a:off x="1485971" y="1964050"/>
              <a:ext cx="994142" cy="2895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B9A2881-3E90-F606-0475-216D22395254}"/>
                </a:ext>
              </a:extLst>
            </p:cNvPr>
            <p:cNvSpPr txBox="1"/>
            <p:nvPr/>
          </p:nvSpPr>
          <p:spPr>
            <a:xfrm>
              <a:off x="1468233" y="1953456"/>
              <a:ext cx="8068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kswapds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4C0B676-E765-81FB-25C3-3EDC20C2211A}"/>
                </a:ext>
              </a:extLst>
            </p:cNvPr>
            <p:cNvSpPr/>
            <p:nvPr/>
          </p:nvSpPr>
          <p:spPr>
            <a:xfrm>
              <a:off x="2720579" y="1473258"/>
              <a:ext cx="446405" cy="8821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611A59-1BA3-285D-7CA9-5F2E00BA22DE}"/>
                </a:ext>
              </a:extLst>
            </p:cNvPr>
            <p:cNvSpPr txBox="1"/>
            <p:nvPr/>
          </p:nvSpPr>
          <p:spPr>
            <a:xfrm rot="16200000">
              <a:off x="2517145" y="1747468"/>
              <a:ext cx="8561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offloader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CE961FAB-B8B0-D054-CECA-A66AB098922D}"/>
                </a:ext>
              </a:extLst>
            </p:cNvPr>
            <p:cNvCxnSpPr>
              <a:cxnSpLocks/>
              <a:stCxn id="30" idx="3"/>
              <a:endCxn id="22" idx="1"/>
            </p:cNvCxnSpPr>
            <p:nvPr/>
          </p:nvCxnSpPr>
          <p:spPr>
            <a:xfrm flipV="1">
              <a:off x="3608063" y="3428425"/>
              <a:ext cx="954895" cy="240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CC6DAAA4-50D6-9AA9-5CB4-42CDC9F67C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3782" y="2345092"/>
              <a:ext cx="0" cy="94392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9DFC4739-EE7D-7D6A-1890-ED3A3B6FD5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9752" y="1918990"/>
              <a:ext cx="2313993" cy="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C06E97E-7E61-C3F2-182E-ABE7808876B5}"/>
                </a:ext>
              </a:extLst>
            </p:cNvPr>
            <p:cNvSpPr/>
            <p:nvPr/>
          </p:nvSpPr>
          <p:spPr>
            <a:xfrm>
              <a:off x="4536507" y="1833348"/>
              <a:ext cx="782584" cy="4323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7FE68C1-4E2E-0F35-3807-B4C8492CBF24}"/>
                </a:ext>
              </a:extLst>
            </p:cNvPr>
            <p:cNvSpPr txBox="1"/>
            <p:nvPr/>
          </p:nvSpPr>
          <p:spPr>
            <a:xfrm>
              <a:off x="4620680" y="1794896"/>
              <a:ext cx="6527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BISnp</a:t>
              </a:r>
            </a:p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model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5" name="연결선: 꺾임 44">
              <a:extLst>
                <a:ext uri="{FF2B5EF4-FFF2-40B4-BE49-F238E27FC236}">
                  <a16:creationId xmlns:a16="http://schemas.microsoft.com/office/drawing/2014/main" id="{6E44A475-6B39-3255-4FB2-9C7A6234D4C1}"/>
                </a:ext>
              </a:extLst>
            </p:cNvPr>
            <p:cNvCxnSpPr>
              <a:cxnSpLocks/>
              <a:stCxn id="16" idx="2"/>
              <a:endCxn id="14" idx="0"/>
            </p:cNvCxnSpPr>
            <p:nvPr/>
          </p:nvCxnSpPr>
          <p:spPr>
            <a:xfrm rot="5400000">
              <a:off x="5300744" y="2022606"/>
              <a:ext cx="357389" cy="848420"/>
            </a:xfrm>
            <a:prstGeom prst="bentConnector3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연결선: 꺾임 45">
              <a:extLst>
                <a:ext uri="{FF2B5EF4-FFF2-40B4-BE49-F238E27FC236}">
                  <a16:creationId xmlns:a16="http://schemas.microsoft.com/office/drawing/2014/main" id="{247D2C22-1F05-A165-01B5-9E871737C479}"/>
                </a:ext>
              </a:extLst>
            </p:cNvPr>
            <p:cNvCxnSpPr>
              <a:cxnSpLocks/>
              <a:stCxn id="16" idx="2"/>
              <a:endCxn id="19" idx="0"/>
            </p:cNvCxnSpPr>
            <p:nvPr/>
          </p:nvCxnSpPr>
          <p:spPr>
            <a:xfrm rot="16200000" flipH="1">
              <a:off x="6108363" y="2063406"/>
              <a:ext cx="357389" cy="766819"/>
            </a:xfrm>
            <a:prstGeom prst="bentConnector3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78B85BA-00FC-1864-EA45-C988EC893009}"/>
                </a:ext>
              </a:extLst>
            </p:cNvPr>
            <p:cNvSpPr txBox="1"/>
            <p:nvPr/>
          </p:nvSpPr>
          <p:spPr>
            <a:xfrm>
              <a:off x="1434796" y="2343374"/>
              <a:ext cx="9422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cores 0-63</a:t>
              </a:r>
              <a:endParaRPr lang="ko-KR" alt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5AE3A337-9660-5981-ADE6-66958F8B7F8B}"/>
                </a:ext>
              </a:extLst>
            </p:cNvPr>
            <p:cNvCxnSpPr>
              <a:cxnSpLocks/>
            </p:cNvCxnSpPr>
            <p:nvPr/>
          </p:nvCxnSpPr>
          <p:spPr>
            <a:xfrm>
              <a:off x="3166984" y="1742696"/>
              <a:ext cx="2301643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DCA38E3-71BE-BC68-388A-D31A5425115D}"/>
                </a:ext>
              </a:extLst>
            </p:cNvPr>
            <p:cNvSpPr/>
            <p:nvPr/>
          </p:nvSpPr>
          <p:spPr>
            <a:xfrm>
              <a:off x="5649982" y="3274536"/>
              <a:ext cx="1548057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A93C67A-1DF2-26C9-9C27-05CDBFD0E078}"/>
                </a:ext>
              </a:extLst>
            </p:cNvPr>
            <p:cNvSpPr txBox="1"/>
            <p:nvPr/>
          </p:nvSpPr>
          <p:spPr>
            <a:xfrm>
              <a:off x="5611791" y="3299680"/>
              <a:ext cx="16643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Page Descripts., </a:t>
              </a:r>
              <a:r>
                <a:rPr lang="en-US" altLang="ko-KR" sz="12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Xarrays</a:t>
              </a:r>
              <a:endParaRPr lang="ko-KR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C9C87B0-0515-69DB-45ED-B60AFBF4E538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4676714" cy="15446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슬라이드 번호 개체 틀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71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5" grpId="0"/>
      <p:bldP spid="6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D1E02D59-56F0-4A93-9884-37EA374AB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579" y="1870573"/>
            <a:ext cx="739410" cy="2704418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E4EF5D4A-AB4E-4DAB-9601-2BF8E4F08FD9}"/>
              </a:ext>
            </a:extLst>
          </p:cNvPr>
          <p:cNvGrpSpPr/>
          <p:nvPr/>
        </p:nvGrpSpPr>
        <p:grpSpPr>
          <a:xfrm>
            <a:off x="3249861" y="1944627"/>
            <a:ext cx="6865851" cy="4370844"/>
            <a:chOff x="-10626334" y="764704"/>
            <a:chExt cx="9044064" cy="5578211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A40AFC43-5C19-4AEC-B2EA-B051A1D45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626334" y="764704"/>
              <a:ext cx="9044064" cy="5578211"/>
            </a:xfrm>
            <a:prstGeom prst="rect">
              <a:avLst/>
            </a:prstGeom>
          </p:spPr>
        </p:pic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2605CB9-3585-4765-ADC1-FE0AE795707B}"/>
                </a:ext>
              </a:extLst>
            </p:cNvPr>
            <p:cNvCxnSpPr>
              <a:cxnSpLocks/>
            </p:cNvCxnSpPr>
            <p:nvPr/>
          </p:nvCxnSpPr>
          <p:spPr>
            <a:xfrm>
              <a:off x="-5934148" y="1719131"/>
              <a:ext cx="0" cy="3206496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B909010-5F87-454E-A372-7A7799076F7A}"/>
                </a:ext>
              </a:extLst>
            </p:cNvPr>
            <p:cNvSpPr/>
            <p:nvPr/>
          </p:nvSpPr>
          <p:spPr>
            <a:xfrm>
              <a:off x="-5926106" y="1597112"/>
              <a:ext cx="2576352" cy="37137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8691B0A8-60C9-40BC-A4E8-EA81EAFF29C0}"/>
                </a:ext>
              </a:extLst>
            </p:cNvPr>
            <p:cNvSpPr/>
            <p:nvPr/>
          </p:nvSpPr>
          <p:spPr>
            <a:xfrm>
              <a:off x="-8983575" y="5310813"/>
              <a:ext cx="5557169" cy="3318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680E146-87B7-BB19-83E5-408B8D8F6DAB}"/>
              </a:ext>
            </a:extLst>
          </p:cNvPr>
          <p:cNvSpPr txBox="1"/>
          <p:nvPr/>
        </p:nvSpPr>
        <p:spPr>
          <a:xfrm rot="16200000" flipH="1">
            <a:off x="2904420" y="3561618"/>
            <a:ext cx="1539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latin typeface="Calibri" panose="020F0502020204030204" pitchFamily="34" charset="0"/>
                <a:cs typeface="Calibri" panose="020F0502020204030204" pitchFamily="34" charset="0"/>
              </a:rPr>
              <a:t>Latency (ms)</a:t>
            </a:r>
            <a:endParaRPr lang="ko-KR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제목 1">
            <a:extLst>
              <a:ext uri="{FF2B5EF4-FFF2-40B4-BE49-F238E27FC236}">
                <a16:creationId xmlns:a16="http://schemas.microsoft.com/office/drawing/2014/main" id="{8C86B71C-C7ED-7423-8D2C-11376CB2D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2" y="205038"/>
            <a:ext cx="12555841" cy="559666"/>
          </a:xfrm>
        </p:spPr>
        <p:txBody>
          <a:bodyPr>
            <a:noAutofit/>
          </a:bodyPr>
          <a:lstStyle/>
          <a:p>
            <a:r>
              <a:rPr lang="en-US" altLang="ko-KR" sz="3100">
                <a:latin typeface="Calibri" panose="020F0502020204030204" pitchFamily="34" charset="0"/>
                <a:cs typeface="Calibri" panose="020F0502020204030204" pitchFamily="34" charset="0"/>
              </a:rPr>
              <a:t>Experiment 1: Evaluating Tail-Latency Reduction for Database Application</a:t>
            </a:r>
            <a:endParaRPr lang="ko-KR" altLang="en-US" sz="3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66FA99-145F-1FAF-BBD7-B59F1F03AF9D}"/>
              </a:ext>
            </a:extLst>
          </p:cNvPr>
          <p:cNvSpPr txBox="1"/>
          <p:nvPr/>
        </p:nvSpPr>
        <p:spPr>
          <a:xfrm>
            <a:off x="211892" y="835636"/>
            <a:ext cx="96781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Short (IS) </a:t>
            </a: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workload on</a:t>
            </a:r>
            <a:r>
              <a:rPr lang="en-US" altLang="ko-KR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Neo4j</a:t>
            </a:r>
            <a:endParaRPr lang="en-US" altLang="ko-KR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Workload</a:t>
            </a:r>
            <a:r>
              <a:rPr lang="en-US" altLang="ko-KR" sz="2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ko-KR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400K ops with 200 threads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12800" lvl="1" indent="-3556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DDR : CXL = 64 GiB : 128 GiB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A21992F-81D7-434F-512A-58DD2ED3E310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7C242C4-4A62-441B-9399-66211B97C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991" y="1646294"/>
            <a:ext cx="984475" cy="360075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E1B654A-D2D3-4710-8F08-9331DDDE6A4A}"/>
              </a:ext>
            </a:extLst>
          </p:cNvPr>
          <p:cNvSpPr/>
          <p:nvPr/>
        </p:nvSpPr>
        <p:spPr>
          <a:xfrm>
            <a:off x="6198265" y="3134044"/>
            <a:ext cx="544476" cy="2047941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06B9B35-D63A-4EA5-B573-694451EC6A66}"/>
              </a:ext>
            </a:extLst>
          </p:cNvPr>
          <p:cNvCxnSpPr>
            <a:cxnSpLocks/>
          </p:cNvCxnSpPr>
          <p:nvPr/>
        </p:nvCxnSpPr>
        <p:spPr>
          <a:xfrm flipV="1">
            <a:off x="6723669" y="1997747"/>
            <a:ext cx="689969" cy="114808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62E8593-6D8C-432B-9E13-1FD636EACA32}"/>
              </a:ext>
            </a:extLst>
          </p:cNvPr>
          <p:cNvCxnSpPr>
            <a:cxnSpLocks/>
          </p:cNvCxnSpPr>
          <p:nvPr/>
        </p:nvCxnSpPr>
        <p:spPr>
          <a:xfrm>
            <a:off x="6747078" y="5181985"/>
            <a:ext cx="689969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893A48EF-15B6-404F-9912-6D4072EB6CC9}"/>
              </a:ext>
            </a:extLst>
          </p:cNvPr>
          <p:cNvSpPr txBox="1"/>
          <p:nvPr/>
        </p:nvSpPr>
        <p:spPr>
          <a:xfrm>
            <a:off x="8340548" y="3823537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p99.99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7C83D32-CFC6-4548-927D-565CAF42A639}"/>
              </a:ext>
            </a:extLst>
          </p:cNvPr>
          <p:cNvSpPr txBox="1"/>
          <p:nvPr/>
        </p:nvSpPr>
        <p:spPr>
          <a:xfrm>
            <a:off x="8460429" y="4820581"/>
            <a:ext cx="1182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p75-p99 tail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오른쪽 중괄호 15">
            <a:extLst>
              <a:ext uri="{FF2B5EF4-FFF2-40B4-BE49-F238E27FC236}">
                <a16:creationId xmlns:a16="http://schemas.microsoft.com/office/drawing/2014/main" id="{B54DD12C-2224-4445-805D-8362C439311B}"/>
              </a:ext>
            </a:extLst>
          </p:cNvPr>
          <p:cNvSpPr/>
          <p:nvPr/>
        </p:nvSpPr>
        <p:spPr>
          <a:xfrm>
            <a:off x="8370408" y="4882958"/>
            <a:ext cx="53572" cy="2812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4A10C70-B193-4BEE-AFF6-A37186A77F27}"/>
              </a:ext>
            </a:extLst>
          </p:cNvPr>
          <p:cNvSpPr txBox="1"/>
          <p:nvPr/>
        </p:nvSpPr>
        <p:spPr>
          <a:xfrm>
            <a:off x="8338966" y="4051814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p99.9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54D5B05-AAF0-4EA0-A27D-DB967A171FA0}"/>
              </a:ext>
            </a:extLst>
          </p:cNvPr>
          <p:cNvSpPr txBox="1"/>
          <p:nvPr/>
        </p:nvSpPr>
        <p:spPr>
          <a:xfrm>
            <a:off x="6901750" y="2375867"/>
            <a:ext cx="760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p99.99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C20BBEE-EB19-40AD-B208-A5124A84C891}"/>
              </a:ext>
            </a:extLst>
          </p:cNvPr>
          <p:cNvSpPr txBox="1"/>
          <p:nvPr/>
        </p:nvSpPr>
        <p:spPr>
          <a:xfrm>
            <a:off x="6983458" y="3870549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p99.9</a:t>
            </a:r>
            <a:endParaRPr lang="ko-KR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0A75099B-A332-4EF0-92B0-B696F35509BF}"/>
              </a:ext>
            </a:extLst>
          </p:cNvPr>
          <p:cNvSpPr/>
          <p:nvPr/>
        </p:nvSpPr>
        <p:spPr>
          <a:xfrm>
            <a:off x="7892171" y="2639198"/>
            <a:ext cx="191155" cy="131277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1036A39-1FFB-44E8-A2E2-E13BF0C6F059}"/>
              </a:ext>
            </a:extLst>
          </p:cNvPr>
          <p:cNvCxnSpPr>
            <a:cxnSpLocks/>
          </p:cNvCxnSpPr>
          <p:nvPr/>
        </p:nvCxnSpPr>
        <p:spPr>
          <a:xfrm>
            <a:off x="7694818" y="2587825"/>
            <a:ext cx="506583" cy="1452001"/>
          </a:xfrm>
          <a:prstGeom prst="line">
            <a:avLst/>
          </a:prstGeom>
          <a:ln w="63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ED5E2F2-81AB-458C-975F-AD331E3FF4F7}"/>
              </a:ext>
            </a:extLst>
          </p:cNvPr>
          <p:cNvCxnSpPr>
            <a:cxnSpLocks/>
          </p:cNvCxnSpPr>
          <p:nvPr/>
        </p:nvCxnSpPr>
        <p:spPr>
          <a:xfrm>
            <a:off x="7687760" y="4020041"/>
            <a:ext cx="513641" cy="189062"/>
          </a:xfrm>
          <a:prstGeom prst="line">
            <a:avLst/>
          </a:prstGeom>
          <a:ln w="63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01A8980-B2DE-4F43-A2D7-3605D072C726}"/>
              </a:ext>
            </a:extLst>
          </p:cNvPr>
          <p:cNvSpPr txBox="1"/>
          <p:nvPr/>
        </p:nvSpPr>
        <p:spPr>
          <a:xfrm>
            <a:off x="8083326" y="2711840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82% </a:t>
            </a:r>
            <a:r>
              <a:rPr lang="ko-KR" altLang="en-US" sz="20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▼</a:t>
            </a:r>
            <a:endParaRPr lang="ko-KR" altLang="en-US" sz="2000" b="1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C6F6BD-91BB-4C9E-90A0-9DF0991C61A1}"/>
              </a:ext>
            </a:extLst>
          </p:cNvPr>
          <p:cNvSpPr txBox="1"/>
          <p:nvPr/>
        </p:nvSpPr>
        <p:spPr>
          <a:xfrm>
            <a:off x="2390318" y="5807673"/>
            <a:ext cx="7871282" cy="4616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8000">
                <a:schemeClr val="accent4">
                  <a:lumMod val="20000"/>
                  <a:lumOff val="80000"/>
                </a:schemeClr>
              </a:gs>
              <a:gs pos="57000">
                <a:schemeClr val="accent4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9050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b="1" i="1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Parallel NMP inside CXL-DRAM reduces tail latency by 82%</a:t>
            </a:r>
            <a:endParaRPr lang="ko-KR" altLang="en-US" sz="2400" b="1" i="1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95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7" grpId="0"/>
      <p:bldP spid="128" grpId="0"/>
      <p:bldP spid="16" grpId="0" animBg="1"/>
      <p:bldP spid="129" grpId="0"/>
      <p:bldP spid="130" grpId="0"/>
      <p:bldP spid="131" grpId="0"/>
      <p:bldP spid="17" grpId="0" animBg="1"/>
      <p:bldP spid="86" grpId="0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>
            <a:extLst>
              <a:ext uri="{FF2B5EF4-FFF2-40B4-BE49-F238E27FC236}">
                <a16:creationId xmlns:a16="http://schemas.microsoft.com/office/drawing/2014/main" id="{8C86B71C-C7ED-7423-8D2C-11376CB2D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92" y="205038"/>
            <a:ext cx="11141529" cy="559666"/>
          </a:xfrm>
        </p:spPr>
        <p:txBody>
          <a:bodyPr>
            <a:noAutofit/>
          </a:bodyPr>
          <a:lstStyle/>
          <a:p>
            <a:r>
              <a:rPr lang="en-US" altLang="ko-KR" sz="3200">
                <a:latin typeface="Calibri" panose="020F0502020204030204" pitchFamily="34" charset="0"/>
                <a:cs typeface="Calibri" panose="020F0502020204030204" pitchFamily="34" charset="0"/>
              </a:rPr>
              <a:t>Experiment 2: Real Overhead Measurement Using FPGA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66FA99-145F-1FAF-BBD7-B59F1F03AF9D}"/>
              </a:ext>
            </a:extLst>
          </p:cNvPr>
          <p:cNvSpPr txBox="1"/>
          <p:nvPr/>
        </p:nvSpPr>
        <p:spPr>
          <a:xfrm>
            <a:off x="281461" y="822692"/>
            <a:ext cx="6922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 </a:t>
            </a:r>
            <a:r>
              <a:rPr lang="en-US" altLang="ko-KR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Agilex</a:t>
            </a: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 I-series FPGA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AF449892-4332-FDA0-4001-0F26EDF99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11" b="97947" l="2474" r="96615">
                        <a14:foregroundMark x1="26172" y1="8798" x2="13802" y2="8504"/>
                        <a14:foregroundMark x1="13802" y1="8504" x2="7804" y2="13272"/>
                        <a14:foregroundMark x1="6752" y1="19393" x2="9896" y2="26100"/>
                        <a14:foregroundMark x1="5599" y1="33431" x2="8203" y2="33431"/>
                        <a14:foregroundMark x1="5990" y1="51320" x2="9896" y2="52199"/>
                        <a14:foregroundMark x1="2604" y1="49853" x2="2604" y2="49853"/>
                        <a14:foregroundMark x1="3125" y1="33724" x2="5990" y2="33724"/>
                        <a14:foregroundMark x1="8203" y1="90616" x2="11458" y2="76246"/>
                        <a14:foregroundMark x1="28516" y1="89150" x2="33724" y2="78006"/>
                        <a14:foregroundMark x1="47266" y1="95894" x2="49349" y2="82991"/>
                        <a14:foregroundMark x1="38672" y1="98240" x2="39714" y2="91496"/>
                        <a14:foregroundMark x1="33724" y1="94428" x2="34896" y2="88856"/>
                        <a14:foregroundMark x1="29427" y1="97361" x2="31120" y2="87097"/>
                        <a14:foregroundMark x1="23177" y1="97654" x2="25391" y2="92375"/>
                        <a14:foregroundMark x1="50781" y1="97654" x2="52734" y2="90909"/>
                        <a14:foregroundMark x1="56380" y1="93548" x2="55599" y2="84164"/>
                        <a14:foregroundMark x1="56380" y1="96774" x2="56901" y2="78886"/>
                        <a14:foregroundMark x1="96615" y1="84751" x2="95964" y2="8211"/>
                        <a14:backgroundMark x1="5599" y1="13783" x2="5990" y2="19648"/>
                        <a14:backgroundMark x1="3125" y1="32845" x2="3125" y2="328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2567" y="2193246"/>
            <a:ext cx="3253968" cy="1444796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3CB31DD1-8B72-11F1-8223-8B967D0BD34E}"/>
              </a:ext>
            </a:extLst>
          </p:cNvPr>
          <p:cNvSpPr/>
          <p:nvPr/>
        </p:nvSpPr>
        <p:spPr>
          <a:xfrm>
            <a:off x="2683608" y="1686090"/>
            <a:ext cx="2931886" cy="385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x 8 GiB DDR4-2666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8E38B39-7E60-A0BF-20FE-9C7D6C66DC88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4149551" y="2071188"/>
            <a:ext cx="0" cy="2335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05681A6-682C-B21D-1D41-5A407DDC9BDD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1965414" y="2914660"/>
            <a:ext cx="668663" cy="9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15D127E2-5D2F-0CE9-15CD-EB51FD25029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08" y="2594507"/>
            <a:ext cx="640306" cy="64030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E436DC5-D1EC-D3A7-2B06-CF04E371060F}"/>
              </a:ext>
            </a:extLst>
          </p:cNvPr>
          <p:cNvSpPr txBox="1"/>
          <p:nvPr/>
        </p:nvSpPr>
        <p:spPr>
          <a:xfrm>
            <a:off x="407469" y="2208408"/>
            <a:ext cx="176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 Xeon 6538Y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928B44D-07B7-6455-770B-F097348DFC02}"/>
              </a:ext>
            </a:extLst>
          </p:cNvPr>
          <p:cNvCxnSpPr>
            <a:cxnSpLocks/>
          </p:cNvCxnSpPr>
          <p:nvPr/>
        </p:nvCxnSpPr>
        <p:spPr>
          <a:xfrm flipV="1">
            <a:off x="1977754" y="4355274"/>
            <a:ext cx="163570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E7A06E9-3CBA-3EAB-FDAC-74500503F603}"/>
              </a:ext>
            </a:extLst>
          </p:cNvPr>
          <p:cNvSpPr/>
          <p:nvPr/>
        </p:nvSpPr>
        <p:spPr>
          <a:xfrm>
            <a:off x="330633" y="4020014"/>
            <a:ext cx="16872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❶ 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MMIO </a:t>
            </a:r>
            <a:r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t>write </a:t>
            </a:r>
          </a:p>
          <a:p>
            <a:r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send info)</a:t>
            </a:r>
            <a:endParaRPr lang="ko-KR" altLang="en-US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79424892-21D3-1200-C3EC-27C9F592F932}"/>
              </a:ext>
            </a:extLst>
          </p:cNvPr>
          <p:cNvCxnSpPr>
            <a:cxnSpLocks/>
          </p:cNvCxnSpPr>
          <p:nvPr/>
        </p:nvCxnSpPr>
        <p:spPr>
          <a:xfrm>
            <a:off x="2293257" y="1574580"/>
            <a:ext cx="0" cy="439734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AA86BD0-EDD0-159C-F19B-0AAF27FE71EF}"/>
              </a:ext>
            </a:extLst>
          </p:cNvPr>
          <p:cNvSpPr/>
          <p:nvPr/>
        </p:nvSpPr>
        <p:spPr>
          <a:xfrm>
            <a:off x="4307373" y="3957922"/>
            <a:ext cx="16103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❷ 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Fetch info</a:t>
            </a:r>
            <a:endParaRPr lang="ko-KR" altLang="en-US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366EDEF-0CB7-EDAA-54E6-080E01081A63}"/>
              </a:ext>
            </a:extLst>
          </p:cNvPr>
          <p:cNvSpPr/>
          <p:nvPr/>
        </p:nvSpPr>
        <p:spPr>
          <a:xfrm>
            <a:off x="3614056" y="4047665"/>
            <a:ext cx="365455" cy="19242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</a:t>
            </a:r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2B8B47B-88C2-1C08-41B9-DDCD5372D111}"/>
              </a:ext>
            </a:extLst>
          </p:cNvPr>
          <p:cNvSpPr/>
          <p:nvPr/>
        </p:nvSpPr>
        <p:spPr>
          <a:xfrm rot="16200000">
            <a:off x="3042554" y="4825124"/>
            <a:ext cx="14830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Shared buffer</a:t>
            </a:r>
            <a:endParaRPr lang="ko-KR" altLang="en-US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EF668793-08A5-CA17-D146-B799AA90F63C}"/>
              </a:ext>
            </a:extLst>
          </p:cNvPr>
          <p:cNvCxnSpPr>
            <a:cxnSpLocks/>
          </p:cNvCxnSpPr>
          <p:nvPr/>
        </p:nvCxnSpPr>
        <p:spPr>
          <a:xfrm>
            <a:off x="3888925" y="4416311"/>
            <a:ext cx="644208" cy="224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087D35F-9ACE-24CE-6619-69EA96FF6770}"/>
              </a:ext>
            </a:extLst>
          </p:cNvPr>
          <p:cNvSpPr/>
          <p:nvPr/>
        </p:nvSpPr>
        <p:spPr>
          <a:xfrm>
            <a:off x="4533727" y="4554174"/>
            <a:ext cx="1242807" cy="7665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accelerator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7FECD80-267A-D7F4-578E-002BEBDEEB56}"/>
              </a:ext>
            </a:extLst>
          </p:cNvPr>
          <p:cNvSpPr/>
          <p:nvPr/>
        </p:nvSpPr>
        <p:spPr>
          <a:xfrm>
            <a:off x="4307373" y="5451891"/>
            <a:ext cx="1769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❸ </a:t>
            </a:r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Xarray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walk</a:t>
            </a:r>
          </a:p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and return </a:t>
            </a:r>
            <a:endParaRPr lang="ko-KR" altLang="en-US" b="0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FEEFE1C-A301-0AF8-A15F-5DC64EE7FD0C}"/>
              </a:ext>
            </a:extLst>
          </p:cNvPr>
          <p:cNvCxnSpPr>
            <a:cxnSpLocks/>
          </p:cNvCxnSpPr>
          <p:nvPr/>
        </p:nvCxnSpPr>
        <p:spPr>
          <a:xfrm flipH="1">
            <a:off x="3934902" y="5275356"/>
            <a:ext cx="605731" cy="287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5800C01-6444-D583-1427-16F31097F226}"/>
              </a:ext>
            </a:extLst>
          </p:cNvPr>
          <p:cNvCxnSpPr>
            <a:cxnSpLocks/>
            <a:endCxn id="86" idx="3"/>
          </p:cNvCxnSpPr>
          <p:nvPr/>
        </p:nvCxnSpPr>
        <p:spPr>
          <a:xfrm flipH="1">
            <a:off x="1965414" y="5707090"/>
            <a:ext cx="1648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8FCA3D6-5981-CB54-93B3-29CB1A545C25}"/>
              </a:ext>
            </a:extLst>
          </p:cNvPr>
          <p:cNvSpPr txBox="1"/>
          <p:nvPr/>
        </p:nvSpPr>
        <p:spPr>
          <a:xfrm>
            <a:off x="330634" y="5383924"/>
            <a:ext cx="16347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❹ 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Host poll for </a:t>
            </a:r>
          </a:p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completion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3ED5D2E-7729-81C8-F7BC-2A441817A1F5}"/>
              </a:ext>
            </a:extLst>
          </p:cNvPr>
          <p:cNvGrpSpPr/>
          <p:nvPr/>
        </p:nvGrpSpPr>
        <p:grpSpPr>
          <a:xfrm>
            <a:off x="5762259" y="2449263"/>
            <a:ext cx="6429741" cy="2828996"/>
            <a:chOff x="5762259" y="2449263"/>
            <a:chExt cx="6429741" cy="2828996"/>
          </a:xfrm>
        </p:grpSpPr>
        <p:graphicFrame>
          <p:nvGraphicFramePr>
            <p:cNvPr id="31" name="차트 30">
              <a:extLst>
                <a:ext uri="{FF2B5EF4-FFF2-40B4-BE49-F238E27FC236}">
                  <a16:creationId xmlns:a16="http://schemas.microsoft.com/office/drawing/2014/main" id="{38EEAEF6-028F-4600-B41E-CB31C700379C}"/>
                </a:ext>
              </a:extLst>
            </p:cNvPr>
            <p:cNvGraphicFramePr/>
            <p:nvPr>
              <p:extLst/>
            </p:nvPr>
          </p:nvGraphicFramePr>
          <p:xfrm>
            <a:off x="5762259" y="2613131"/>
            <a:ext cx="6394397" cy="266512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A20265C-E086-AD10-4046-18CF525353A6}"/>
                </a:ext>
              </a:extLst>
            </p:cNvPr>
            <p:cNvSpPr txBox="1"/>
            <p:nvPr/>
          </p:nvSpPr>
          <p:spPr>
            <a:xfrm flipH="1">
              <a:off x="7645773" y="4389347"/>
              <a:ext cx="42355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Overhead breakdown (us) of </a:t>
              </a:r>
              <a:r>
                <a:rPr lang="en-US" altLang="ko-KR" sz="16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kswapd</a:t>
              </a:r>
              <a:endParaRPr lang="ko-KR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BD5BE35-71AD-D271-DBAB-9E4CFEB690BF}"/>
                </a:ext>
              </a:extLst>
            </p:cNvPr>
            <p:cNvSpPr txBox="1"/>
            <p:nvPr/>
          </p:nvSpPr>
          <p:spPr>
            <a:xfrm flipH="1">
              <a:off x="6075603" y="3141854"/>
              <a:ext cx="8674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>
                  <a:latin typeface="Calibri" panose="020F0502020204030204" pitchFamily="34" charset="0"/>
                  <a:cs typeface="Calibri" panose="020F0502020204030204" pitchFamily="34" charset="0"/>
                </a:rPr>
                <a:t>Base</a:t>
              </a:r>
              <a:endParaRPr lang="ko-KR" altLang="en-US" sz="16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9BE09E-3F08-EFDD-C82C-34BF660EEEBD}"/>
                </a:ext>
              </a:extLst>
            </p:cNvPr>
            <p:cNvSpPr txBox="1"/>
            <p:nvPr/>
          </p:nvSpPr>
          <p:spPr>
            <a:xfrm flipH="1">
              <a:off x="6075603" y="3709111"/>
              <a:ext cx="8674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ko-KR" alt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화살표: 왼쪽 87">
              <a:extLst>
                <a:ext uri="{FF2B5EF4-FFF2-40B4-BE49-F238E27FC236}">
                  <a16:creationId xmlns:a16="http://schemas.microsoft.com/office/drawing/2014/main" id="{7782C4F6-3079-3C4C-160D-358AA3E90341}"/>
                </a:ext>
              </a:extLst>
            </p:cNvPr>
            <p:cNvSpPr/>
            <p:nvPr/>
          </p:nvSpPr>
          <p:spPr>
            <a:xfrm>
              <a:off x="9739087" y="3689285"/>
              <a:ext cx="1691022" cy="214751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8F2541FC-72AB-7447-96A4-B9C6E57DD1E7}"/>
                </a:ext>
              </a:extLst>
            </p:cNvPr>
            <p:cNvSpPr/>
            <p:nvPr/>
          </p:nvSpPr>
          <p:spPr>
            <a:xfrm>
              <a:off x="11257089" y="3550957"/>
              <a:ext cx="934911" cy="4501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0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30%</a:t>
              </a: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2AD0711B-9D50-69BD-F971-DF20C763DEA0}"/>
                </a:ext>
              </a:extLst>
            </p:cNvPr>
            <p:cNvSpPr/>
            <p:nvPr/>
          </p:nvSpPr>
          <p:spPr>
            <a:xfrm>
              <a:off x="10044049" y="2449263"/>
              <a:ext cx="7697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❶</a:t>
              </a: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-</a:t>
              </a:r>
              <a:r>
                <a:rPr lang="ko-KR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❷</a:t>
              </a:r>
              <a:endParaRPr lang="ko-KR" altLang="en-US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977584A-C9F7-EA9B-1AD0-84B0C343E45C}"/>
                </a:ext>
              </a:extLst>
            </p:cNvPr>
            <p:cNvSpPr txBox="1"/>
            <p:nvPr/>
          </p:nvSpPr>
          <p:spPr>
            <a:xfrm>
              <a:off x="8058608" y="2449263"/>
              <a:ext cx="523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❸</a:t>
              </a:r>
              <a:endParaRPr lang="ko-KR" alt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4187719-2B42-D6E0-2B69-83A06A508227}"/>
                </a:ext>
              </a:extLst>
            </p:cNvPr>
            <p:cNvSpPr txBox="1"/>
            <p:nvPr/>
          </p:nvSpPr>
          <p:spPr>
            <a:xfrm>
              <a:off x="11091781" y="2449263"/>
              <a:ext cx="523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❹</a:t>
              </a:r>
              <a:endParaRPr lang="ko-KR" altLang="en-US" dirty="0"/>
            </a:p>
          </p:txBody>
        </p:sp>
      </p:grp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1F1B787-D1AC-C6B3-B883-6810AEF51579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E6893-5C94-4720-879D-7D7C2FD2CD5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24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96D9B-EB15-7E8C-F7C2-46E17C5E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7" y="190954"/>
            <a:ext cx="10515600" cy="636361"/>
          </a:xfrm>
        </p:spPr>
        <p:txBody>
          <a:bodyPr>
            <a:noAutofit/>
          </a:bodyPr>
          <a:lstStyle/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830520" y="6386811"/>
            <a:ext cx="2739364" cy="334664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F05D7F-2CF8-4A2A-8897-1DCF1DBB516A}"/>
              </a:ext>
            </a:extLst>
          </p:cNvPr>
          <p:cNvSpPr/>
          <p:nvPr/>
        </p:nvSpPr>
        <p:spPr>
          <a:xfrm>
            <a:off x="236317" y="1074481"/>
            <a:ext cx="11882398" cy="5944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Introduced the metadata overhead problem in the CXL DRAM systems.</a:t>
            </a:r>
            <a:endParaRPr lang="en-US" altLang="ko-KR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55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ko-KR" altLang="en-US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MAC,</a:t>
            </a:r>
            <a:r>
              <a:rPr lang="ko-KR" altLang="en-US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ko-KR" altLang="en-US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HW/SW</a:t>
            </a:r>
            <a:r>
              <a:rPr lang="ko-KR" altLang="en-US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co-designed near-memory metadata acceleration architecture.</a:t>
            </a:r>
          </a:p>
          <a:p>
            <a:pPr marL="812800" lvl="1" indent="-355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Substantially reduced latency spikes.</a:t>
            </a:r>
          </a:p>
          <a:p>
            <a:pPr marL="1270000" lvl="2" indent="-355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cs typeface="Calibri" panose="020F0502020204030204" pitchFamily="34" charset="0"/>
              </a:rPr>
              <a:t>NMP-based parallel metadata processing (</a:t>
            </a:r>
            <a:r>
              <a:rPr lang="ko-KR" altLang="en-US" sz="2400">
                <a:latin typeface="Calibri" panose="020F0502020204030204" pitchFamily="34" charset="0"/>
                <a:cs typeface="Calibri" panose="020F0502020204030204" pitchFamily="34" charset="0"/>
              </a:rPr>
              <a:t>▼ </a:t>
            </a:r>
            <a:r>
              <a:rPr lang="en-US" altLang="ko-KR" sz="2400">
                <a:latin typeface="Calibri" panose="020F0502020204030204" pitchFamily="34" charset="0"/>
                <a:cs typeface="Calibri" panose="020F0502020204030204" pitchFamily="34" charset="0"/>
              </a:rPr>
              <a:t>number of foreground reclamations)</a:t>
            </a:r>
          </a:p>
          <a:p>
            <a:pPr marL="1270000" lvl="2" indent="-355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cs typeface="Calibri" panose="020F0502020204030204" pitchFamily="34" charset="0"/>
              </a:rPr>
              <a:t>Light-weight consistency optimizations (</a:t>
            </a:r>
            <a:r>
              <a:rPr lang="ko-KR" altLang="en-US" sz="2400">
                <a:latin typeface="Calibri" panose="020F0502020204030204" pitchFamily="34" charset="0"/>
                <a:cs typeface="Calibri" panose="020F0502020204030204" pitchFamily="34" charset="0"/>
              </a:rPr>
              <a:t>▼ </a:t>
            </a:r>
            <a:r>
              <a:rPr lang="en-US" altLang="ko-KR" sz="2400">
                <a:latin typeface="Calibri" panose="020F0502020204030204" pitchFamily="34" charset="0"/>
                <a:cs typeface="Calibri" panose="020F0502020204030204" pitchFamily="34" charset="0"/>
              </a:rPr>
              <a:t>consistency overhead)</a:t>
            </a:r>
            <a:endParaRPr lang="en-US" altLang="ko-KR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Evaluated on a two-NUMA-node emulation platform and an FPGA prototype.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the p99.99 latency by up to 98% across four data-intensive applications.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a 30% reduction in page reclamation overhead using an FPGA prototype.</a:t>
            </a:r>
          </a:p>
          <a:p>
            <a:pPr marL="355600" indent="-3556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9725745-B8C1-4DD0-8921-F1355B63BB08}"/>
              </a:ext>
            </a:extLst>
          </p:cNvPr>
          <p:cNvCxnSpPr>
            <a:cxnSpLocks/>
          </p:cNvCxnSpPr>
          <p:nvPr/>
        </p:nvCxnSpPr>
        <p:spPr>
          <a:xfrm>
            <a:off x="174066" y="749258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130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830520" y="6386811"/>
            <a:ext cx="2739364" cy="334664"/>
          </a:xfrm>
        </p:spPr>
        <p:txBody>
          <a:bodyPr/>
          <a:lstStyle/>
          <a:p>
            <a:fld id="{8B6E6893-5C94-4720-879D-7D7C2FD2CD57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37B9577C-FA5F-4A40-A34F-AC1B424E4381}"/>
              </a:ext>
            </a:extLst>
          </p:cNvPr>
          <p:cNvSpPr txBox="1">
            <a:spLocks/>
          </p:cNvSpPr>
          <p:nvPr/>
        </p:nvSpPr>
        <p:spPr>
          <a:xfrm>
            <a:off x="225806" y="136525"/>
            <a:ext cx="10515600" cy="6363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524F8CE-85D7-4394-8305-1AE1201553AD}"/>
              </a:ext>
            </a:extLst>
          </p:cNvPr>
          <p:cNvCxnSpPr>
            <a:cxnSpLocks/>
          </p:cNvCxnSpPr>
          <p:nvPr/>
        </p:nvCxnSpPr>
        <p:spPr>
          <a:xfrm>
            <a:off x="163555" y="694829"/>
            <a:ext cx="11668529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제목 1">
            <a:extLst>
              <a:ext uri="{FF2B5EF4-FFF2-40B4-BE49-F238E27FC236}">
                <a16:creationId xmlns:a16="http://schemas.microsoft.com/office/drawing/2014/main" id="{505AE623-8F33-4303-9860-1A9D2077ECB2}"/>
              </a:ext>
            </a:extLst>
          </p:cNvPr>
          <p:cNvSpPr txBox="1">
            <a:spLocks/>
          </p:cNvSpPr>
          <p:nvPr/>
        </p:nvSpPr>
        <p:spPr>
          <a:xfrm>
            <a:off x="5801976" y="2982515"/>
            <a:ext cx="1287756" cy="6363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>
                <a:latin typeface="Calibri" panose="020F0502020204030204" pitchFamily="34" charset="0"/>
                <a:cs typeface="Calibri" panose="020F0502020204030204" pitchFamily="34" charset="0"/>
              </a:rPr>
              <a:t>Q/A</a:t>
            </a:r>
            <a:endParaRPr lang="ko-KR" alt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37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30775</TotalTime>
  <Words>1711</Words>
  <Application>Microsoft Office PowerPoint</Application>
  <PresentationFormat>와이드스크린</PresentationFormat>
  <Paragraphs>480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-apple-system</vt:lpstr>
      <vt:lpstr>Yu Gothic</vt:lpstr>
      <vt:lpstr>나눔고딕</vt:lpstr>
      <vt:lpstr>맑은 고딕</vt:lpstr>
      <vt:lpstr>Arial</vt:lpstr>
      <vt:lpstr>Calibri</vt:lpstr>
      <vt:lpstr>Cambria</vt:lpstr>
      <vt:lpstr>Cambria Math</vt:lpstr>
      <vt:lpstr>Office 테마</vt:lpstr>
      <vt:lpstr>PowerPoint 프레젠테이션</vt:lpstr>
      <vt:lpstr>Rising Memory Demands and Memory-Expansion Challenges</vt:lpstr>
      <vt:lpstr>Alternative: Memory Expansion with CXL DRAM</vt:lpstr>
      <vt:lpstr>Observations: Excessive Metadata and Latency Spikes</vt:lpstr>
      <vt:lpstr>Outline</vt:lpstr>
      <vt:lpstr>How Does Latency Spikes Occur Under Memory Pressure?</vt:lpstr>
      <vt:lpstr>How Does Latency Spikes Occur Under Memory Pressure? (Cont.)</vt:lpstr>
      <vt:lpstr>Application Latency Spikes Due to Foreground Reclamation</vt:lpstr>
      <vt:lpstr>Requirement for Fast Memory Reclamation and Opportunities</vt:lpstr>
      <vt:lpstr>PowerPoint 프레젠테이션</vt:lpstr>
      <vt:lpstr>MAC: Metadata Acceleration inside the CXL DRAM</vt:lpstr>
      <vt:lpstr>Challenge1: How the accelerator process metadata?</vt:lpstr>
      <vt:lpstr>Challenge2: Cache Coherency Overhead</vt:lpstr>
      <vt:lpstr>Challenge2: Cache Coherency Overhead</vt:lpstr>
      <vt:lpstr>Challenge2: Cache Coherency Overhead (Cont.)</vt:lpstr>
      <vt:lpstr>PowerPoint 프레젠테이션</vt:lpstr>
      <vt:lpstr>Experimental Setup</vt:lpstr>
      <vt:lpstr>Experiment 1: Evaluating Tail-Latency Reduction for Database Application</vt:lpstr>
      <vt:lpstr>Experiment 2: Real Overhead Measurement Using FPGA</vt:lpstr>
      <vt:lpstr>Conclusions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dusol</dc:creator>
  <cp:lastModifiedBy>gagdu</cp:lastModifiedBy>
  <cp:revision>1627</cp:revision>
  <cp:lastPrinted>2026-06-09T05:47:14Z</cp:lastPrinted>
  <dcterms:created xsi:type="dcterms:W3CDTF">2026-01-20T02:54:01Z</dcterms:created>
  <dcterms:modified xsi:type="dcterms:W3CDTF">2026-07-26T05:38:04Z</dcterms:modified>
</cp:coreProperties>
</file>